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195998" y="3194998"/>
            <a:ext cx="7092002" cy="7092002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02335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91160" y="364490"/>
              <a:ext cx="5619750" cy="5621020"/>
            </a:xfrm>
            <a:custGeom>
              <a:avLst/>
              <a:gdLst/>
              <a:ahLst/>
              <a:cxnLst/>
              <a:rect r="r" b="b" t="t" l="l"/>
              <a:pathLst>
                <a:path h="5621020" w="561975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2"/>
              <a:stretch>
                <a:fillRect l="-11" t="0" r="-11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195998" y="0"/>
            <a:ext cx="7092002" cy="7092002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6350000"/>
                  </a:moveTo>
                  <a:cubicBezTo>
                    <a:pt x="4928870" y="6350000"/>
                    <a:pt x="6350000" y="4928870"/>
                    <a:pt x="6350000" y="3175000"/>
                  </a:cubicBezTo>
                  <a:lnTo>
                    <a:pt x="6350000" y="0"/>
                  </a:lnTo>
                  <a:lnTo>
                    <a:pt x="3175000" y="0"/>
                  </a:lnTo>
                  <a:cubicBezTo>
                    <a:pt x="1421130" y="0"/>
                    <a:pt x="0" y="1421130"/>
                    <a:pt x="0" y="3175000"/>
                  </a:cubicBezTo>
                  <a:cubicBezTo>
                    <a:pt x="0" y="4928870"/>
                    <a:pt x="1421130" y="6350000"/>
                    <a:pt x="3175000" y="6350000"/>
                  </a:cubicBezTo>
                  <a:close/>
                </a:path>
              </a:pathLst>
            </a:custGeom>
            <a:solidFill>
              <a:srgbClr val="02335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53169" y="339062"/>
              <a:ext cx="5643663" cy="5618537"/>
            </a:xfrm>
            <a:custGeom>
              <a:avLst/>
              <a:gdLst/>
              <a:ahLst/>
              <a:cxnLst/>
              <a:rect r="r" b="b" t="t" l="l"/>
              <a:pathLst>
                <a:path h="5618537" w="5643663">
                  <a:moveTo>
                    <a:pt x="2821831" y="28"/>
                  </a:moveTo>
                  <a:cubicBezTo>
                    <a:pt x="1815193" y="-4474"/>
                    <a:pt x="883090" y="529978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9"/>
                    <a:pt x="1815193" y="5623010"/>
                    <a:pt x="2821831" y="5618508"/>
                  </a:cubicBezTo>
                  <a:cubicBezTo>
                    <a:pt x="3828469" y="5623010"/>
                    <a:pt x="4760572" y="5088559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8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3"/>
              <a:stretch>
                <a:fillRect l="-27" t="0" r="-2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83623" y="7660026"/>
            <a:ext cx="9862793" cy="2409543"/>
            <a:chOff x="0" y="0"/>
            <a:chExt cx="842416" cy="2058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2416" cy="205808"/>
            </a:xfrm>
            <a:custGeom>
              <a:avLst/>
              <a:gdLst/>
              <a:ahLst/>
              <a:cxnLst/>
              <a:rect r="r" b="b" t="t" l="l"/>
              <a:pathLst>
                <a:path h="205808" w="842416">
                  <a:moveTo>
                    <a:pt x="15331" y="0"/>
                  </a:moveTo>
                  <a:lnTo>
                    <a:pt x="827085" y="0"/>
                  </a:lnTo>
                  <a:cubicBezTo>
                    <a:pt x="835552" y="0"/>
                    <a:pt x="842416" y="6864"/>
                    <a:pt x="842416" y="15331"/>
                  </a:cubicBezTo>
                  <a:lnTo>
                    <a:pt x="842416" y="190476"/>
                  </a:lnTo>
                  <a:cubicBezTo>
                    <a:pt x="842416" y="194542"/>
                    <a:pt x="840801" y="198442"/>
                    <a:pt x="837926" y="201317"/>
                  </a:cubicBezTo>
                  <a:cubicBezTo>
                    <a:pt x="835050" y="204192"/>
                    <a:pt x="831151" y="205808"/>
                    <a:pt x="827085" y="205808"/>
                  </a:cubicBezTo>
                  <a:lnTo>
                    <a:pt x="15331" y="205808"/>
                  </a:lnTo>
                  <a:cubicBezTo>
                    <a:pt x="11265" y="205808"/>
                    <a:pt x="7366" y="204192"/>
                    <a:pt x="4490" y="201317"/>
                  </a:cubicBezTo>
                  <a:cubicBezTo>
                    <a:pt x="1615" y="198442"/>
                    <a:pt x="0" y="194542"/>
                    <a:pt x="0" y="190476"/>
                  </a:cubicBezTo>
                  <a:lnTo>
                    <a:pt x="0" y="15331"/>
                  </a:lnTo>
                  <a:cubicBezTo>
                    <a:pt x="0" y="11265"/>
                    <a:pt x="1615" y="7366"/>
                    <a:pt x="4490" y="4490"/>
                  </a:cubicBezTo>
                  <a:cubicBezTo>
                    <a:pt x="7366" y="1615"/>
                    <a:pt x="11265" y="0"/>
                    <a:pt x="15331" y="0"/>
                  </a:cubicBezTo>
                  <a:close/>
                </a:path>
              </a:pathLst>
            </a:custGeom>
            <a:ln w="38100" cap="rnd">
              <a:solidFill>
                <a:srgbClr val="ACE4F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42416" cy="243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76818" y="1000125"/>
            <a:ext cx="9737481" cy="765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6"/>
              </a:lnSpc>
            </a:pPr>
            <a:r>
              <a:rPr lang="en-US" sz="8775" b="true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Semantic Keyword</a:t>
            </a:r>
          </a:p>
          <a:p>
            <a:pPr algn="l">
              <a:lnSpc>
                <a:spcPts val="9916"/>
              </a:lnSpc>
            </a:pPr>
            <a:r>
              <a:rPr lang="en-US" sz="8775" b="true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Extraction and</a:t>
            </a:r>
          </a:p>
          <a:p>
            <a:pPr algn="l">
              <a:lnSpc>
                <a:spcPts val="9916"/>
              </a:lnSpc>
            </a:pPr>
            <a:r>
              <a:rPr lang="en-US" sz="8775" b="true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Corpus Indexing</a:t>
            </a:r>
          </a:p>
          <a:p>
            <a:pPr algn="l">
              <a:lnSpc>
                <a:spcPts val="9916"/>
              </a:lnSpc>
            </a:pPr>
            <a:r>
              <a:rPr lang="en-US" sz="8775" b="true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Framework</a:t>
            </a:r>
          </a:p>
          <a:p>
            <a:pPr algn="l" marL="0" indent="0" lvl="0">
              <a:lnSpc>
                <a:spcPts val="991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58517" y="38362"/>
            <a:ext cx="5501001" cy="99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31"/>
              </a:lnSpc>
            </a:pPr>
            <a:r>
              <a:rPr lang="en-US" sz="6399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09970" y="7844558"/>
            <a:ext cx="9370423" cy="1619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6"/>
              </a:lnSpc>
            </a:pPr>
            <a:r>
              <a:rPr lang="en-US" sz="2235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Team : 5</a:t>
            </a:r>
          </a:p>
          <a:p>
            <a:pPr algn="l" marL="0" indent="0" lvl="0">
              <a:lnSpc>
                <a:spcPts val="2526"/>
              </a:lnSpc>
            </a:pPr>
            <a:r>
              <a:rPr lang="en-US" sz="2235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Member 1 : T Ashish Reddy (2510080030)</a:t>
            </a:r>
          </a:p>
          <a:p>
            <a:pPr algn="l" marL="0" indent="0" lvl="0">
              <a:lnSpc>
                <a:spcPts val="2526"/>
              </a:lnSpc>
            </a:pPr>
            <a:r>
              <a:rPr lang="en-US" sz="2235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Member 2: Sai Hemesh Reddy(2510080003)</a:t>
            </a:r>
          </a:p>
          <a:p>
            <a:pPr algn="l" marL="0" indent="0" lvl="0">
              <a:lnSpc>
                <a:spcPts val="2526"/>
              </a:lnSpc>
            </a:pPr>
            <a:r>
              <a:rPr lang="en-US" sz="2235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Member 3: Dhanush Reddy(2510080018)</a:t>
            </a:r>
          </a:p>
          <a:p>
            <a:pPr algn="l" marL="0" indent="0" lvl="0">
              <a:lnSpc>
                <a:spcPts val="2526"/>
              </a:lnSpc>
            </a:pPr>
            <a:r>
              <a:rPr lang="en-US" sz="2235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Member 4: Karthik Bhardwaj(2510080042)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68344" y="3428706"/>
            <a:ext cx="6381907" cy="7327868"/>
          </a:xfrm>
          <a:custGeom>
            <a:avLst/>
            <a:gdLst/>
            <a:ahLst/>
            <a:cxnLst/>
            <a:rect r="r" b="b" t="t" l="l"/>
            <a:pathLst>
              <a:path h="7327868" w="6381907">
                <a:moveTo>
                  <a:pt x="6381907" y="0"/>
                </a:moveTo>
                <a:lnTo>
                  <a:pt x="0" y="0"/>
                </a:lnTo>
                <a:lnTo>
                  <a:pt x="0" y="7327868"/>
                </a:lnTo>
                <a:lnTo>
                  <a:pt x="6381907" y="7327868"/>
                </a:lnTo>
                <a:lnTo>
                  <a:pt x="63819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06842" y="3428706"/>
            <a:ext cx="1478305" cy="1518806"/>
          </a:xfrm>
          <a:custGeom>
            <a:avLst/>
            <a:gdLst/>
            <a:ahLst/>
            <a:cxnLst/>
            <a:rect r="r" b="b" t="t" l="l"/>
            <a:pathLst>
              <a:path h="1518806" w="1478305">
                <a:moveTo>
                  <a:pt x="0" y="0"/>
                </a:moveTo>
                <a:lnTo>
                  <a:pt x="1478304" y="0"/>
                </a:lnTo>
                <a:lnTo>
                  <a:pt x="1478304" y="1518807"/>
                </a:lnTo>
                <a:lnTo>
                  <a:pt x="0" y="15188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88626" y="3409656"/>
            <a:ext cx="11206476" cy="1983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Organizations store vast volumes of documents, making quick and accurate information retrieval increasingly difficult. As document repositories grow, locating the right information becomes a major bottleneck for productivity and decision-making.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06842" y="1488629"/>
            <a:ext cx="11329412" cy="132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35"/>
              </a:lnSpc>
            </a:pPr>
            <a:r>
              <a:rPr lang="en-US" b="true" sz="8527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88626" y="6371656"/>
            <a:ext cx="11206476" cy="1983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Existing search systems return too many irrelevant results, requiring extensive manual review and analysis. Searching through and understanding large document collections is time-consuming and inefficient, creating significant pain points for users who need fast, precise answers.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706842" y="6579845"/>
            <a:ext cx="1478305" cy="1518806"/>
          </a:xfrm>
          <a:custGeom>
            <a:avLst/>
            <a:gdLst/>
            <a:ahLst/>
            <a:cxnLst/>
            <a:rect r="r" b="b" t="t" l="l"/>
            <a:pathLst>
              <a:path h="1518806" w="1478305">
                <a:moveTo>
                  <a:pt x="0" y="0"/>
                </a:moveTo>
                <a:lnTo>
                  <a:pt x="1478304" y="0"/>
                </a:lnTo>
                <a:lnTo>
                  <a:pt x="1478304" y="1518806"/>
                </a:lnTo>
                <a:lnTo>
                  <a:pt x="0" y="1518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3664" y="3186159"/>
            <a:ext cx="11174547" cy="120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02"/>
              </a:lnSpc>
            </a:pPr>
            <a:r>
              <a:rPr lang="en-US" sz="2745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Store and manage large document collections effectively; automatically extract important keywords and build an efficient searchable index to enable fast, accurate document retrieval.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12383566" y="-458725"/>
            <a:ext cx="6381907" cy="7327868"/>
          </a:xfrm>
          <a:custGeom>
            <a:avLst/>
            <a:gdLst/>
            <a:ahLst/>
            <a:cxnLst/>
            <a:rect r="r" b="b" t="t" l="l"/>
            <a:pathLst>
              <a:path h="7327868" w="6381907">
                <a:moveTo>
                  <a:pt x="0" y="7327868"/>
                </a:moveTo>
                <a:lnTo>
                  <a:pt x="6381907" y="7327868"/>
                </a:lnTo>
                <a:lnTo>
                  <a:pt x="6381907" y="0"/>
                </a:lnTo>
                <a:lnTo>
                  <a:pt x="0" y="0"/>
                </a:lnTo>
                <a:lnTo>
                  <a:pt x="0" y="73278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31742" y="3205209"/>
            <a:ext cx="890180" cy="754225"/>
          </a:xfrm>
          <a:custGeom>
            <a:avLst/>
            <a:gdLst/>
            <a:ahLst/>
            <a:cxnLst/>
            <a:rect r="r" b="b" t="t" l="l"/>
            <a:pathLst>
              <a:path h="754225" w="890180">
                <a:moveTo>
                  <a:pt x="0" y="0"/>
                </a:moveTo>
                <a:lnTo>
                  <a:pt x="890180" y="0"/>
                </a:lnTo>
                <a:lnTo>
                  <a:pt x="890180" y="754226"/>
                </a:lnTo>
                <a:lnTo>
                  <a:pt x="0" y="7542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31742" y="1435311"/>
            <a:ext cx="9996467" cy="132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35"/>
              </a:lnSpc>
            </a:pPr>
            <a:r>
              <a:rPr lang="en-US" b="true" sz="8527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73664" y="5124450"/>
            <a:ext cx="11174547" cy="120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02"/>
              </a:lnSpc>
            </a:pPr>
            <a:r>
              <a:rPr lang="en-US" sz="2745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Retrieve the most relevant documents per user query with highlighted matching keywords and phrases; group similar documents for easier exploration and navigation.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831742" y="5143500"/>
            <a:ext cx="890180" cy="754225"/>
          </a:xfrm>
          <a:custGeom>
            <a:avLst/>
            <a:gdLst/>
            <a:ahLst/>
            <a:cxnLst/>
            <a:rect r="r" b="b" t="t" l="l"/>
            <a:pathLst>
              <a:path h="754225" w="890180">
                <a:moveTo>
                  <a:pt x="0" y="0"/>
                </a:moveTo>
                <a:lnTo>
                  <a:pt x="890180" y="0"/>
                </a:lnTo>
                <a:lnTo>
                  <a:pt x="890180" y="754225"/>
                </a:lnTo>
                <a:lnTo>
                  <a:pt x="0" y="754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73664" y="7062741"/>
            <a:ext cx="11174547" cy="159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02"/>
              </a:lnSpc>
            </a:pPr>
            <a:r>
              <a:rPr lang="en-US" sz="2745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Provide document analytics including frequently occurring keywords, related topics, and categories; significantly reduce time and effort required for searching and analyzing large document repositories.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31742" y="7081791"/>
            <a:ext cx="890180" cy="754225"/>
          </a:xfrm>
          <a:custGeom>
            <a:avLst/>
            <a:gdLst/>
            <a:ahLst/>
            <a:cxnLst/>
            <a:rect r="r" b="b" t="t" l="l"/>
            <a:pathLst>
              <a:path h="754225" w="890180">
                <a:moveTo>
                  <a:pt x="0" y="0"/>
                </a:moveTo>
                <a:lnTo>
                  <a:pt x="890180" y="0"/>
                </a:lnTo>
                <a:lnTo>
                  <a:pt x="890180" y="754225"/>
                </a:lnTo>
                <a:lnTo>
                  <a:pt x="0" y="754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68344" y="3428706"/>
            <a:ext cx="6381907" cy="7327868"/>
          </a:xfrm>
          <a:custGeom>
            <a:avLst/>
            <a:gdLst/>
            <a:ahLst/>
            <a:cxnLst/>
            <a:rect r="r" b="b" t="t" l="l"/>
            <a:pathLst>
              <a:path h="7327868" w="6381907">
                <a:moveTo>
                  <a:pt x="6381907" y="0"/>
                </a:moveTo>
                <a:lnTo>
                  <a:pt x="0" y="0"/>
                </a:lnTo>
                <a:lnTo>
                  <a:pt x="0" y="7327868"/>
                </a:lnTo>
                <a:lnTo>
                  <a:pt x="6381907" y="7327868"/>
                </a:lnTo>
                <a:lnTo>
                  <a:pt x="63819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06842" y="3782881"/>
            <a:ext cx="6369483" cy="355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Primary Stack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Language: Java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Framework: Spring Boot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Database: PostgreSQL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Search Engine: Apache Lucene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Algorithms: KMP, Rabin-Karp, Z-Algorithm, Suffix Array, LCP Array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Frontend: HTML, CSS, JavaScript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Version Control: Git &amp; GitHub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06842" y="1488629"/>
            <a:ext cx="9996467" cy="132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35"/>
              </a:lnSpc>
            </a:pPr>
            <a:r>
              <a:rPr lang="en-US" b="true" sz="8527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18567" y="3782881"/>
            <a:ext cx="6369483" cy="3948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Alternative Stack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Frontend: React.js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Backend: FastAPI (Python)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Database: PostgreSQL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Search Engine: Elasticsearch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NLP: spaCy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Charts: Chart.js</a:t>
            </a:r>
          </a:p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• Both stacks support the project's functional and performance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3664" y="3186159"/>
            <a:ext cx="11174547" cy="120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Fully functional document search platform developed, enabling users to upload, store, index, and search large document repositories with ease and reliability.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12383566" y="-458725"/>
            <a:ext cx="6381907" cy="7327868"/>
          </a:xfrm>
          <a:custGeom>
            <a:avLst/>
            <a:gdLst/>
            <a:ahLst/>
            <a:cxnLst/>
            <a:rect r="r" b="b" t="t" l="l"/>
            <a:pathLst>
              <a:path h="7327868" w="6381907">
                <a:moveTo>
                  <a:pt x="0" y="7327868"/>
                </a:moveTo>
                <a:lnTo>
                  <a:pt x="6381907" y="7327868"/>
                </a:lnTo>
                <a:lnTo>
                  <a:pt x="6381907" y="0"/>
                </a:lnTo>
                <a:lnTo>
                  <a:pt x="0" y="0"/>
                </a:lnTo>
                <a:lnTo>
                  <a:pt x="0" y="73278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31742" y="3205209"/>
            <a:ext cx="890180" cy="754225"/>
          </a:xfrm>
          <a:custGeom>
            <a:avLst/>
            <a:gdLst/>
            <a:ahLst/>
            <a:cxnLst/>
            <a:rect r="r" b="b" t="t" l="l"/>
            <a:pathLst>
              <a:path h="754225" w="890180">
                <a:moveTo>
                  <a:pt x="0" y="0"/>
                </a:moveTo>
                <a:lnTo>
                  <a:pt x="890180" y="0"/>
                </a:lnTo>
                <a:lnTo>
                  <a:pt x="890180" y="754226"/>
                </a:lnTo>
                <a:lnTo>
                  <a:pt x="0" y="7542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31742" y="1444836"/>
            <a:ext cx="9996467" cy="118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26"/>
              </a:lnSpc>
            </a:pPr>
            <a:r>
              <a:rPr lang="en-US" b="true" sz="7634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Outcomes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73664" y="5124450"/>
            <a:ext cx="11174547" cy="120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Quick and accurate document search capabilities with reduced search times compared to existing systems, minimizing manual review and analysis effort.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831742" y="5143500"/>
            <a:ext cx="890180" cy="754225"/>
          </a:xfrm>
          <a:custGeom>
            <a:avLst/>
            <a:gdLst/>
            <a:ahLst/>
            <a:cxnLst/>
            <a:rect r="r" b="b" t="t" l="l"/>
            <a:pathLst>
              <a:path h="754225" w="890180">
                <a:moveTo>
                  <a:pt x="0" y="0"/>
                </a:moveTo>
                <a:lnTo>
                  <a:pt x="890180" y="0"/>
                </a:lnTo>
                <a:lnTo>
                  <a:pt x="890180" y="754225"/>
                </a:lnTo>
                <a:lnTo>
                  <a:pt x="0" y="754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73664" y="7062741"/>
            <a:ext cx="11174547" cy="1207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04"/>
              </a:lnSpc>
            </a:pPr>
            <a:r>
              <a:rPr lang="en-US" sz="2747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Well-organized and efficiently indexed document repository with keyword highlighting, document grouping, and analytics for improved information retrieval.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31742" y="7081791"/>
            <a:ext cx="890180" cy="754225"/>
          </a:xfrm>
          <a:custGeom>
            <a:avLst/>
            <a:gdLst/>
            <a:ahLst/>
            <a:cxnLst/>
            <a:rect r="r" b="b" t="t" l="l"/>
            <a:pathLst>
              <a:path h="754225" w="890180">
                <a:moveTo>
                  <a:pt x="0" y="0"/>
                </a:moveTo>
                <a:lnTo>
                  <a:pt x="890180" y="0"/>
                </a:lnTo>
                <a:lnTo>
                  <a:pt x="890180" y="754225"/>
                </a:lnTo>
                <a:lnTo>
                  <a:pt x="0" y="754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72264" y="3792406"/>
            <a:ext cx="7602256" cy="208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60"/>
              </a:lnSpc>
            </a:pPr>
            <a:r>
              <a:rPr lang="en-US" sz="2443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Document Indexing: Automatically extracts important keywords from uploaded documents and builds a structured, searchable index. Uses advanced algorithms including KMP, Rabin-Karp, and Suffix Arrays to ensure fast and accurate indexing of large document repositories.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12383566" y="-458725"/>
            <a:ext cx="6381907" cy="7327868"/>
          </a:xfrm>
          <a:custGeom>
            <a:avLst/>
            <a:gdLst/>
            <a:ahLst/>
            <a:cxnLst/>
            <a:rect r="r" b="b" t="t" l="l"/>
            <a:pathLst>
              <a:path h="7327868" w="6381907">
                <a:moveTo>
                  <a:pt x="0" y="7327868"/>
                </a:moveTo>
                <a:lnTo>
                  <a:pt x="6381907" y="7327868"/>
                </a:lnTo>
                <a:lnTo>
                  <a:pt x="6381907" y="0"/>
                </a:lnTo>
                <a:lnTo>
                  <a:pt x="0" y="0"/>
                </a:lnTo>
                <a:lnTo>
                  <a:pt x="0" y="73278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1522836" y="2949918"/>
            <a:ext cx="7838451" cy="7838451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6350000"/>
                  </a:moveTo>
                  <a:cubicBezTo>
                    <a:pt x="4928870" y="6350000"/>
                    <a:pt x="6350000" y="4928870"/>
                    <a:pt x="6350000" y="3175000"/>
                  </a:cubicBezTo>
                  <a:lnTo>
                    <a:pt x="6350000" y="0"/>
                  </a:lnTo>
                  <a:lnTo>
                    <a:pt x="3175000" y="0"/>
                  </a:lnTo>
                  <a:cubicBezTo>
                    <a:pt x="1421130" y="0"/>
                    <a:pt x="0" y="1421130"/>
                    <a:pt x="0" y="3175000"/>
                  </a:cubicBezTo>
                  <a:cubicBezTo>
                    <a:pt x="0" y="4928870"/>
                    <a:pt x="1421130" y="6350000"/>
                    <a:pt x="3175000" y="6350000"/>
                  </a:cubicBezTo>
                  <a:close/>
                </a:path>
              </a:pathLst>
            </a:custGeom>
            <a:solidFill>
              <a:srgbClr val="02335D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53169" y="339062"/>
              <a:ext cx="5643663" cy="5618537"/>
            </a:xfrm>
            <a:custGeom>
              <a:avLst/>
              <a:gdLst/>
              <a:ahLst/>
              <a:cxnLst/>
              <a:rect r="r" b="b" t="t" l="l"/>
              <a:pathLst>
                <a:path h="5618537" w="5643663">
                  <a:moveTo>
                    <a:pt x="2821831" y="28"/>
                  </a:moveTo>
                  <a:cubicBezTo>
                    <a:pt x="1815193" y="-4474"/>
                    <a:pt x="883090" y="529978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9"/>
                    <a:pt x="1815193" y="5623010"/>
                    <a:pt x="2821831" y="5618508"/>
                  </a:cubicBezTo>
                  <a:cubicBezTo>
                    <a:pt x="3828469" y="5623010"/>
                    <a:pt x="4760572" y="5088559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8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4"/>
              <a:stretch>
                <a:fillRect l="-27" t="0" r="-2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831742" y="1435311"/>
            <a:ext cx="9996467" cy="132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35"/>
              </a:lnSpc>
            </a:pPr>
            <a:r>
              <a:rPr lang="en-US" b="true" sz="8527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Modules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27081" y="6535431"/>
            <a:ext cx="7547439" cy="208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60"/>
              </a:lnSpc>
            </a:pPr>
            <a:r>
              <a:rPr lang="en-US" sz="2443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Search &amp; Retrieval: Enables keyword-based document search and displays the most relevant results per user query. Highlights matching keywords and phrases within documents, significantly reducing the time and effort required to locate critical information.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29975" y="4300173"/>
            <a:ext cx="1412304" cy="132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35"/>
              </a:lnSpc>
            </a:pPr>
            <a:r>
              <a:rPr lang="en-US" b="true" sz="8527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1.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29975" y="7043198"/>
            <a:ext cx="1412304" cy="132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35"/>
              </a:lnSpc>
            </a:pPr>
            <a:r>
              <a:rPr lang="en-US" b="true" sz="8527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2.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18282" y="176527"/>
            <a:ext cx="8412188" cy="8412188"/>
          </a:xfrm>
          <a:custGeom>
            <a:avLst/>
            <a:gdLst/>
            <a:ahLst/>
            <a:cxnLst/>
            <a:rect r="r" b="b" t="t" l="l"/>
            <a:pathLst>
              <a:path h="8412188" w="8412188">
                <a:moveTo>
                  <a:pt x="0" y="0"/>
                </a:moveTo>
                <a:lnTo>
                  <a:pt x="8412188" y="0"/>
                </a:lnTo>
                <a:lnTo>
                  <a:pt x="8412188" y="8412187"/>
                </a:lnTo>
                <a:lnTo>
                  <a:pt x="0" y="8412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732920" y="3357609"/>
            <a:ext cx="5379664" cy="5379664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02335D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25223" y="364462"/>
              <a:ext cx="5646214" cy="5621077"/>
            </a:xfrm>
            <a:custGeom>
              <a:avLst/>
              <a:gdLst/>
              <a:ahLst/>
              <a:cxnLst/>
              <a:rect r="r" b="b" t="t" l="l"/>
              <a:pathLst>
                <a:path h="5621077" w="5646214">
                  <a:moveTo>
                    <a:pt x="2823107" y="28"/>
                  </a:moveTo>
                  <a:cubicBezTo>
                    <a:pt x="1816014" y="-4476"/>
                    <a:pt x="883489" y="530217"/>
                    <a:pt x="378638" y="1401642"/>
                  </a:cubicBezTo>
                  <a:cubicBezTo>
                    <a:pt x="-126213" y="2273067"/>
                    <a:pt x="-126213" y="3348009"/>
                    <a:pt x="378638" y="4219434"/>
                  </a:cubicBezTo>
                  <a:cubicBezTo>
                    <a:pt x="883489" y="5090859"/>
                    <a:pt x="1816014" y="5625552"/>
                    <a:pt x="2823107" y="5621048"/>
                  </a:cubicBezTo>
                  <a:cubicBezTo>
                    <a:pt x="3830200" y="5625552"/>
                    <a:pt x="4762725" y="5090859"/>
                    <a:pt x="5267576" y="4219434"/>
                  </a:cubicBezTo>
                  <a:cubicBezTo>
                    <a:pt x="5772427" y="3348009"/>
                    <a:pt x="5772427" y="2273067"/>
                    <a:pt x="5267576" y="1401642"/>
                  </a:cubicBezTo>
                  <a:cubicBezTo>
                    <a:pt x="4762725" y="530217"/>
                    <a:pt x="3830200" y="-4476"/>
                    <a:pt x="2823107" y="28"/>
                  </a:cubicBezTo>
                  <a:close/>
                </a:path>
              </a:pathLst>
            </a:custGeom>
            <a:blipFill>
              <a:blip r:embed="rId3"/>
              <a:stretch>
                <a:fillRect l="-27" t="0" r="-2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831742" y="3809400"/>
            <a:ext cx="1246784" cy="1167443"/>
          </a:xfrm>
          <a:custGeom>
            <a:avLst/>
            <a:gdLst/>
            <a:ahLst/>
            <a:cxnLst/>
            <a:rect r="r" b="b" t="t" l="l"/>
            <a:pathLst>
              <a:path h="1167443" w="1246784">
                <a:moveTo>
                  <a:pt x="0" y="0"/>
                </a:moveTo>
                <a:lnTo>
                  <a:pt x="1246783" y="0"/>
                </a:lnTo>
                <a:lnTo>
                  <a:pt x="1246783" y="1167443"/>
                </a:lnTo>
                <a:lnTo>
                  <a:pt x="0" y="11674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75640" y="3348084"/>
            <a:ext cx="6708672" cy="208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28"/>
              </a:lnSpc>
            </a:pPr>
            <a:r>
              <a:rPr lang="en-US" sz="2414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Phase 1: Requirements Gathering &amp; Analysis</a:t>
            </a:r>
          </a:p>
          <a:p>
            <a:pPr algn="just" marL="0" indent="0" lvl="0">
              <a:lnSpc>
                <a:spcPts val="2728"/>
              </a:lnSpc>
            </a:pPr>
            <a:r>
              <a:rPr lang="en-US" sz="2414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Identify functional and non-functional requirements, analyze user needs, define system scope, and document technical specifications for the Document Search and Retrieval System.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1742" y="1435311"/>
            <a:ext cx="9996467" cy="132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35"/>
              </a:lnSpc>
            </a:pPr>
            <a:r>
              <a:rPr lang="en-US" b="true" sz="8527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Plan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75640" y="6291034"/>
            <a:ext cx="6708672" cy="208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28"/>
              </a:lnSpc>
            </a:pPr>
            <a:r>
              <a:rPr lang="en-US" sz="2414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Phase 2: System &amp; Database Design</a:t>
            </a:r>
          </a:p>
          <a:p>
            <a:pPr algn="just" marL="0" indent="0" lvl="0">
              <a:lnSpc>
                <a:spcPts val="2728"/>
              </a:lnSpc>
            </a:pPr>
            <a:r>
              <a:rPr lang="en-US" sz="2414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Design the overall system architecture, define database schema using PostgreSQL, plan the indexing structure with Apache Lucene, and create UI/UX wireframes for the platform.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831742" y="6664888"/>
            <a:ext cx="1246784" cy="1167443"/>
          </a:xfrm>
          <a:custGeom>
            <a:avLst/>
            <a:gdLst/>
            <a:ahLst/>
            <a:cxnLst/>
            <a:rect r="r" b="b" t="t" l="l"/>
            <a:pathLst>
              <a:path h="1167443" w="1246784">
                <a:moveTo>
                  <a:pt x="0" y="0"/>
                </a:moveTo>
                <a:lnTo>
                  <a:pt x="1246783" y="0"/>
                </a:lnTo>
                <a:lnTo>
                  <a:pt x="1246783" y="1167443"/>
                </a:lnTo>
                <a:lnTo>
                  <a:pt x="0" y="11674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2383566" y="-458725"/>
            <a:ext cx="6381907" cy="7327868"/>
          </a:xfrm>
          <a:custGeom>
            <a:avLst/>
            <a:gdLst/>
            <a:ahLst/>
            <a:cxnLst/>
            <a:rect r="r" b="b" t="t" l="l"/>
            <a:pathLst>
              <a:path h="7327868" w="6381907">
                <a:moveTo>
                  <a:pt x="0" y="7327868"/>
                </a:moveTo>
                <a:lnTo>
                  <a:pt x="6381907" y="7327868"/>
                </a:lnTo>
                <a:lnTo>
                  <a:pt x="6381907" y="0"/>
                </a:lnTo>
                <a:lnTo>
                  <a:pt x="0" y="0"/>
                </a:lnTo>
                <a:lnTo>
                  <a:pt x="0" y="73278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732920" y="3357609"/>
            <a:ext cx="5379664" cy="5379664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02335D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25223" y="364462"/>
              <a:ext cx="5646214" cy="5621077"/>
            </a:xfrm>
            <a:custGeom>
              <a:avLst/>
              <a:gdLst/>
              <a:ahLst/>
              <a:cxnLst/>
              <a:rect r="r" b="b" t="t" l="l"/>
              <a:pathLst>
                <a:path h="5621077" w="5646214">
                  <a:moveTo>
                    <a:pt x="2823107" y="28"/>
                  </a:moveTo>
                  <a:cubicBezTo>
                    <a:pt x="1816014" y="-4476"/>
                    <a:pt x="883489" y="530217"/>
                    <a:pt x="378638" y="1401642"/>
                  </a:cubicBezTo>
                  <a:cubicBezTo>
                    <a:pt x="-126213" y="2273067"/>
                    <a:pt x="-126213" y="3348009"/>
                    <a:pt x="378638" y="4219434"/>
                  </a:cubicBezTo>
                  <a:cubicBezTo>
                    <a:pt x="883489" y="5090859"/>
                    <a:pt x="1816014" y="5625552"/>
                    <a:pt x="2823107" y="5621048"/>
                  </a:cubicBezTo>
                  <a:cubicBezTo>
                    <a:pt x="3830200" y="5625552"/>
                    <a:pt x="4762725" y="5090859"/>
                    <a:pt x="5267576" y="4219434"/>
                  </a:cubicBezTo>
                  <a:cubicBezTo>
                    <a:pt x="5772427" y="3348009"/>
                    <a:pt x="5772427" y="2273067"/>
                    <a:pt x="5267576" y="1401642"/>
                  </a:cubicBezTo>
                  <a:cubicBezTo>
                    <a:pt x="4762725" y="530217"/>
                    <a:pt x="3830200" y="-4476"/>
                    <a:pt x="2823107" y="28"/>
                  </a:cubicBezTo>
                  <a:close/>
                </a:path>
              </a:pathLst>
            </a:custGeom>
            <a:blipFill>
              <a:blip r:embed="rId4"/>
              <a:stretch>
                <a:fillRect l="-27" t="0" r="-2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876132" y="3818856"/>
            <a:ext cx="1166388" cy="1161000"/>
          </a:xfrm>
          <a:custGeom>
            <a:avLst/>
            <a:gdLst/>
            <a:ahLst/>
            <a:cxnLst/>
            <a:rect r="r" b="b" t="t" l="l"/>
            <a:pathLst>
              <a:path h="1161000" w="1166388">
                <a:moveTo>
                  <a:pt x="0" y="0"/>
                </a:moveTo>
                <a:lnTo>
                  <a:pt x="1166388" y="0"/>
                </a:lnTo>
                <a:lnTo>
                  <a:pt x="1166388" y="1161000"/>
                </a:lnTo>
                <a:lnTo>
                  <a:pt x="0" y="1161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75640" y="3348084"/>
            <a:ext cx="6708672" cy="204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2069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Phase 4: Implementation of Indexing &amp; Search Algorithms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2069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Develop and integrate core search algorithms including KMP, Rabin-Karp, Z-Algorithm, Suffix Array, and LCP Array. Build the document indexing engine using Apache Lucene for fast and accurate keyword-based retrieval.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1742" y="1444836"/>
            <a:ext cx="9996467" cy="96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11"/>
              </a:lnSpc>
            </a:pPr>
            <a:r>
              <a:rPr lang="en-US" b="true" sz="6204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Plan (Phase 4–6)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75640" y="6291034"/>
            <a:ext cx="6708672" cy="2915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38"/>
              </a:lnSpc>
            </a:pPr>
            <a:r>
              <a:rPr lang="en-US" sz="2069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Phase 5: Frontend &amp; Backend Integration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2069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Connect the Spring Boot backend with the HTML/CSS/JavaScript frontend. Implement search UI, results display with keyword highlighting, and analytics dashboard. Phase 6: Testing, Debugging &amp; Deployment</a:t>
            </a:r>
          </a:p>
          <a:p>
            <a:pPr algn="just" marL="0" indent="0" lvl="0">
              <a:lnSpc>
                <a:spcPts val="2338"/>
              </a:lnSpc>
            </a:pPr>
            <a:r>
              <a:rPr lang="en-US" sz="2069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Conduct unit, integration, and performance testing. Resolve bugs and optimize system performance. Deploy the fully functional Document Search and Retrieval System.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99298" y="6474556"/>
            <a:ext cx="1259377" cy="1614455"/>
          </a:xfrm>
          <a:custGeom>
            <a:avLst/>
            <a:gdLst/>
            <a:ahLst/>
            <a:cxnLst/>
            <a:rect r="r" b="b" t="t" l="l"/>
            <a:pathLst>
              <a:path h="1614455" w="1259377">
                <a:moveTo>
                  <a:pt x="0" y="0"/>
                </a:moveTo>
                <a:lnTo>
                  <a:pt x="1259377" y="0"/>
                </a:lnTo>
                <a:lnTo>
                  <a:pt x="1259377" y="1614456"/>
                </a:lnTo>
                <a:lnTo>
                  <a:pt x="0" y="16144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31742" y="3588660"/>
            <a:ext cx="13742778" cy="4631560"/>
            <a:chOff x="0" y="0"/>
            <a:chExt cx="1094449" cy="3688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4449" cy="368849"/>
            </a:xfrm>
            <a:custGeom>
              <a:avLst/>
              <a:gdLst/>
              <a:ahLst/>
              <a:cxnLst/>
              <a:rect r="r" b="b" t="t" l="l"/>
              <a:pathLst>
                <a:path h="368849" w="1094449">
                  <a:moveTo>
                    <a:pt x="11003" y="0"/>
                  </a:moveTo>
                  <a:lnTo>
                    <a:pt x="1083446" y="0"/>
                  </a:lnTo>
                  <a:cubicBezTo>
                    <a:pt x="1086364" y="0"/>
                    <a:pt x="1089163" y="1159"/>
                    <a:pt x="1091226" y="3223"/>
                  </a:cubicBezTo>
                  <a:cubicBezTo>
                    <a:pt x="1093290" y="5286"/>
                    <a:pt x="1094449" y="8085"/>
                    <a:pt x="1094449" y="11003"/>
                  </a:cubicBezTo>
                  <a:lnTo>
                    <a:pt x="1094449" y="357846"/>
                  </a:lnTo>
                  <a:cubicBezTo>
                    <a:pt x="1094449" y="363923"/>
                    <a:pt x="1089523" y="368849"/>
                    <a:pt x="1083446" y="368849"/>
                  </a:cubicBezTo>
                  <a:lnTo>
                    <a:pt x="11003" y="368849"/>
                  </a:lnTo>
                  <a:cubicBezTo>
                    <a:pt x="8085" y="368849"/>
                    <a:pt x="5286" y="367689"/>
                    <a:pt x="3223" y="365626"/>
                  </a:cubicBezTo>
                  <a:cubicBezTo>
                    <a:pt x="1159" y="363563"/>
                    <a:pt x="0" y="360764"/>
                    <a:pt x="0" y="357846"/>
                  </a:cubicBezTo>
                  <a:lnTo>
                    <a:pt x="0" y="11003"/>
                  </a:lnTo>
                  <a:cubicBezTo>
                    <a:pt x="0" y="4926"/>
                    <a:pt x="4926" y="0"/>
                    <a:pt x="11003" y="0"/>
                  </a:cubicBezTo>
                  <a:close/>
                </a:path>
              </a:pathLst>
            </a:custGeom>
            <a:ln w="85725" cap="rnd">
              <a:solidFill>
                <a:srgbClr val="02335D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4449" cy="406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89315" y="4136721"/>
            <a:ext cx="12027632" cy="350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33"/>
              </a:lnSpc>
            </a:pPr>
            <a:r>
              <a:rPr lang="en-US" sz="2241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The Document Search and Retrieval System aims to address the growing challenge of efficiently locating and analyzing information within large document repositories. By leveraging a robust technology stack — including Java, Spring Boot, Apache Lucene, and advanced string-matching algorithms such as KMP, Rabin-Karp, and Z-Algorithm — the system will deliver fast, accurate, and relevant search results.</a:t>
            </a:r>
          </a:p>
          <a:p>
            <a:pPr algn="just" marL="0" indent="0" lvl="0">
              <a:lnSpc>
                <a:spcPts val="2533"/>
              </a:lnSpc>
            </a:pPr>
            <a:r>
              <a:rPr lang="en-US" sz="2241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Key outcomes include automated keyword extraction, efficient document indexing, intelligent clustering, and an analytics dashboard to surface insights. The platform will significantly reduce search time and manual effort for users.</a:t>
            </a:r>
          </a:p>
          <a:p>
            <a:pPr algn="just" marL="0" indent="0" lvl="0">
              <a:lnSpc>
                <a:spcPts val="2533"/>
              </a:lnSpc>
            </a:pPr>
            <a:r>
              <a:rPr lang="en-US" sz="2241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Next Steps: Complete development phases, integrate frontend and backend components, conduct thorough testing, and deploy the fully functional platform by August 2026.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12383566" y="-458725"/>
            <a:ext cx="6381907" cy="7327868"/>
          </a:xfrm>
          <a:custGeom>
            <a:avLst/>
            <a:gdLst/>
            <a:ahLst/>
            <a:cxnLst/>
            <a:rect r="r" b="b" t="t" l="l"/>
            <a:pathLst>
              <a:path h="7327868" w="6381907">
                <a:moveTo>
                  <a:pt x="0" y="7327868"/>
                </a:moveTo>
                <a:lnTo>
                  <a:pt x="6381907" y="7327868"/>
                </a:lnTo>
                <a:lnTo>
                  <a:pt x="6381907" y="0"/>
                </a:lnTo>
                <a:lnTo>
                  <a:pt x="0" y="0"/>
                </a:lnTo>
                <a:lnTo>
                  <a:pt x="0" y="73278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1742" y="1435311"/>
            <a:ext cx="9996467" cy="1327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35"/>
              </a:lnSpc>
            </a:pPr>
            <a:r>
              <a:rPr lang="en-US" b="true" sz="8527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8692" y="1711003"/>
            <a:ext cx="12530617" cy="6989735"/>
          </a:xfrm>
          <a:custGeom>
            <a:avLst/>
            <a:gdLst/>
            <a:ahLst/>
            <a:cxnLst/>
            <a:rect r="r" b="b" t="t" l="l"/>
            <a:pathLst>
              <a:path h="6989735" w="12530617">
                <a:moveTo>
                  <a:pt x="0" y="0"/>
                </a:moveTo>
                <a:lnTo>
                  <a:pt x="12530616" y="0"/>
                </a:lnTo>
                <a:lnTo>
                  <a:pt x="12530616" y="6989734"/>
                </a:lnTo>
                <a:lnTo>
                  <a:pt x="0" y="698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273861" y="1664392"/>
            <a:ext cx="7112877" cy="7112877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715000" y="6350000"/>
                  </a:moveTo>
                  <a:lnTo>
                    <a:pt x="635000" y="6350000"/>
                  </a:lnTo>
                  <a:cubicBezTo>
                    <a:pt x="284480" y="6350000"/>
                    <a:pt x="0" y="6065520"/>
                    <a:pt x="0" y="5715000"/>
                  </a:cubicBez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5715000"/>
                  </a:lnTo>
                  <a:cubicBezTo>
                    <a:pt x="6350000" y="6065520"/>
                    <a:pt x="6065520" y="6350000"/>
                    <a:pt x="57150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5715000" y="19050"/>
                  </a:moveTo>
                  <a:cubicBezTo>
                    <a:pt x="6054090" y="19050"/>
                    <a:pt x="6330950" y="295910"/>
                    <a:pt x="6330950" y="635000"/>
                  </a:cubicBezTo>
                  <a:lnTo>
                    <a:pt x="6330950" y="5715000"/>
                  </a:lnTo>
                  <a:cubicBezTo>
                    <a:pt x="6330950" y="6054090"/>
                    <a:pt x="6054090" y="6330950"/>
                    <a:pt x="5715000" y="6330950"/>
                  </a:cubicBezTo>
                  <a:lnTo>
                    <a:pt x="635000" y="6330950"/>
                  </a:lnTo>
                  <a:cubicBezTo>
                    <a:pt x="295910" y="6330950"/>
                    <a:pt x="19050" y="6054090"/>
                    <a:pt x="19050" y="5715000"/>
                  </a:cubicBezTo>
                  <a:lnTo>
                    <a:pt x="19050" y="635000"/>
                  </a:lnTo>
                  <a:cubicBezTo>
                    <a:pt x="19050" y="295910"/>
                    <a:pt x="295910" y="19050"/>
                    <a:pt x="635000" y="19050"/>
                  </a:cubicBezTo>
                  <a:lnTo>
                    <a:pt x="5715000" y="19050"/>
                  </a:lnTo>
                  <a:moveTo>
                    <a:pt x="5715000" y="0"/>
                  </a:moveTo>
                  <a:lnTo>
                    <a:pt x="635000" y="0"/>
                  </a:lnTo>
                  <a:cubicBezTo>
                    <a:pt x="284480" y="0"/>
                    <a:pt x="0" y="284480"/>
                    <a:pt x="0" y="635000"/>
                  </a:cubicBezTo>
                  <a:lnTo>
                    <a:pt x="0" y="5715000"/>
                  </a:lnTo>
                  <a:cubicBezTo>
                    <a:pt x="0" y="6065520"/>
                    <a:pt x="284480" y="6350000"/>
                    <a:pt x="635000" y="6350000"/>
                  </a:cubicBezTo>
                  <a:lnTo>
                    <a:pt x="5715000" y="6350000"/>
                  </a:lnTo>
                  <a:cubicBezTo>
                    <a:pt x="6065520" y="6350000"/>
                    <a:pt x="6350000" y="6065520"/>
                    <a:pt x="6350000" y="5715000"/>
                  </a:cubicBezTo>
                  <a:lnTo>
                    <a:pt x="6350000" y="635000"/>
                  </a:lnTo>
                  <a:cubicBezTo>
                    <a:pt x="6350000" y="284480"/>
                    <a:pt x="6065520" y="0"/>
                    <a:pt x="5715000" y="0"/>
                  </a:cubicBezTo>
                  <a:lnTo>
                    <a:pt x="5715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AutoShape 5" id="5"/>
          <p:cNvSpPr/>
          <p:nvPr/>
        </p:nvSpPr>
        <p:spPr>
          <a:xfrm>
            <a:off x="1351101" y="8767745"/>
            <a:ext cx="786909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866761" y="4255524"/>
            <a:ext cx="7999490" cy="125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90"/>
              </a:lnSpc>
              <a:spcBef>
                <a:spcPct val="0"/>
              </a:spcBef>
            </a:pPr>
            <a:r>
              <a:rPr lang="en-US" sz="10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WORK FLOW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C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23694" y="-836814"/>
            <a:ext cx="19566325" cy="13182812"/>
          </a:xfrm>
          <a:custGeom>
            <a:avLst/>
            <a:gdLst/>
            <a:ahLst/>
            <a:cxnLst/>
            <a:rect r="r" b="b" t="t" l="l"/>
            <a:pathLst>
              <a:path h="13182812" w="19566325">
                <a:moveTo>
                  <a:pt x="0" y="0"/>
                </a:moveTo>
                <a:lnTo>
                  <a:pt x="19566326" y="0"/>
                </a:lnTo>
                <a:lnTo>
                  <a:pt x="19566326" y="13182812"/>
                </a:lnTo>
                <a:lnTo>
                  <a:pt x="0" y="13182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1195998" y="3194998"/>
            <a:ext cx="7092002" cy="7092002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02335D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91160" y="364490"/>
              <a:ext cx="5619750" cy="5621020"/>
            </a:xfrm>
            <a:custGeom>
              <a:avLst/>
              <a:gdLst/>
              <a:ahLst/>
              <a:cxnLst/>
              <a:rect r="r" b="b" t="t" l="l"/>
              <a:pathLst>
                <a:path h="5621020" w="561975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3"/>
              <a:stretch>
                <a:fillRect l="-11" t="0" r="-11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195998" y="0"/>
            <a:ext cx="7092002" cy="7092002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6350000"/>
                  </a:moveTo>
                  <a:cubicBezTo>
                    <a:pt x="4928870" y="6350000"/>
                    <a:pt x="6350000" y="4928870"/>
                    <a:pt x="6350000" y="3175000"/>
                  </a:cubicBezTo>
                  <a:lnTo>
                    <a:pt x="6350000" y="0"/>
                  </a:lnTo>
                  <a:lnTo>
                    <a:pt x="3175000" y="0"/>
                  </a:lnTo>
                  <a:cubicBezTo>
                    <a:pt x="1421130" y="0"/>
                    <a:pt x="0" y="1421130"/>
                    <a:pt x="0" y="3175000"/>
                  </a:cubicBezTo>
                  <a:cubicBezTo>
                    <a:pt x="0" y="4928870"/>
                    <a:pt x="1421130" y="6350000"/>
                    <a:pt x="3175000" y="6350000"/>
                  </a:cubicBezTo>
                  <a:close/>
                </a:path>
              </a:pathLst>
            </a:custGeom>
            <a:solidFill>
              <a:srgbClr val="02335D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53169" y="339062"/>
              <a:ext cx="5643663" cy="5618537"/>
            </a:xfrm>
            <a:custGeom>
              <a:avLst/>
              <a:gdLst/>
              <a:ahLst/>
              <a:cxnLst/>
              <a:rect r="r" b="b" t="t" l="l"/>
              <a:pathLst>
                <a:path h="5618537" w="5643663">
                  <a:moveTo>
                    <a:pt x="2821831" y="28"/>
                  </a:moveTo>
                  <a:cubicBezTo>
                    <a:pt x="1815193" y="-4474"/>
                    <a:pt x="883090" y="529978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9"/>
                    <a:pt x="1815193" y="5623010"/>
                    <a:pt x="2821831" y="5618508"/>
                  </a:cubicBezTo>
                  <a:cubicBezTo>
                    <a:pt x="3828469" y="5623010"/>
                    <a:pt x="4760572" y="5088559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8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4"/>
              <a:stretch>
                <a:fillRect l="-27" t="0" r="-27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14364" y="5984321"/>
            <a:ext cx="8806720" cy="1030940"/>
            <a:chOff x="0" y="0"/>
            <a:chExt cx="776176" cy="908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6176" cy="90861"/>
            </a:xfrm>
            <a:custGeom>
              <a:avLst/>
              <a:gdLst/>
              <a:ahLst/>
              <a:cxnLst/>
              <a:rect r="r" b="b" t="t" l="l"/>
              <a:pathLst>
                <a:path h="90861" w="776176">
                  <a:moveTo>
                    <a:pt x="17170" y="0"/>
                  </a:moveTo>
                  <a:lnTo>
                    <a:pt x="759006" y="0"/>
                  </a:lnTo>
                  <a:cubicBezTo>
                    <a:pt x="763560" y="0"/>
                    <a:pt x="767927" y="1809"/>
                    <a:pt x="771147" y="5029"/>
                  </a:cubicBezTo>
                  <a:cubicBezTo>
                    <a:pt x="774367" y="8249"/>
                    <a:pt x="776176" y="12616"/>
                    <a:pt x="776176" y="17170"/>
                  </a:cubicBezTo>
                  <a:lnTo>
                    <a:pt x="776176" y="73692"/>
                  </a:lnTo>
                  <a:cubicBezTo>
                    <a:pt x="776176" y="83174"/>
                    <a:pt x="768489" y="90861"/>
                    <a:pt x="759006" y="90861"/>
                  </a:cubicBezTo>
                  <a:lnTo>
                    <a:pt x="17170" y="90861"/>
                  </a:lnTo>
                  <a:cubicBezTo>
                    <a:pt x="7687" y="90861"/>
                    <a:pt x="0" y="83174"/>
                    <a:pt x="0" y="73692"/>
                  </a:cubicBezTo>
                  <a:lnTo>
                    <a:pt x="0" y="17170"/>
                  </a:lnTo>
                  <a:cubicBezTo>
                    <a:pt x="0" y="7687"/>
                    <a:pt x="7687" y="0"/>
                    <a:pt x="17170" y="0"/>
                  </a:cubicBezTo>
                  <a:close/>
                </a:path>
              </a:pathLst>
            </a:custGeom>
            <a:ln w="38100" cap="rnd">
              <a:solidFill>
                <a:srgbClr val="02335D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76176" cy="1289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58517" y="3507901"/>
            <a:ext cx="9737481" cy="2062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20"/>
              </a:lnSpc>
            </a:pPr>
            <a:r>
              <a:rPr lang="en-US" b="true" sz="13292">
                <a:solidFill>
                  <a:srgbClr val="ACE4FE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95400" y="6242120"/>
            <a:ext cx="7728138" cy="38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9"/>
              </a:lnSpc>
            </a:pPr>
            <a:r>
              <a:rPr lang="en-US" sz="2504">
                <a:solidFill>
                  <a:srgbClr val="ACE4FE"/>
                </a:solidFill>
                <a:latin typeface="Poppins"/>
                <a:ea typeface="Poppins"/>
                <a:cs typeface="Poppins"/>
                <a:sym typeface="Poppins"/>
              </a:rPr>
              <a:t> | Document Search and Retrieval System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DAHRY5ZRbGI</dc:identifier>
  <dcterms:modified xsi:type="dcterms:W3CDTF">2011-08-01T06:04:30Z</dcterms:modified>
  <cp:revision>1</cp:revision>
  <dc:title>Document Search and Retrieval System Overview</dc:title>
</cp:coreProperties>
</file>