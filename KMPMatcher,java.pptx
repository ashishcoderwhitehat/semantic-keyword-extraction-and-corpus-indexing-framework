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ato Bold" charset="1" panose="020F0502020204030203"/>
      <p:regular r:id="rId13"/>
    </p:embeddedFont>
    <p:embeddedFont>
      <p:font typeface="Lato" charset="1" panose="020F050202020403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19.png" Type="http://schemas.openxmlformats.org/officeDocument/2006/relationships/image"/><Relationship Id="rId19" Target="../media/image20.png" Type="http://schemas.openxmlformats.org/officeDocument/2006/relationships/image"/><Relationship Id="rId2" Target="../media/image3.png" Type="http://schemas.openxmlformats.org/officeDocument/2006/relationships/image"/><Relationship Id="rId20" Target="../media/image21.png" Type="http://schemas.openxmlformats.org/officeDocument/2006/relationships/image"/><Relationship Id="rId21" Target="../media/image22.png" Type="http://schemas.openxmlformats.org/officeDocument/2006/relationships/image"/><Relationship Id="rId22" Target="../media/image2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12" Target="../media/image34.pn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pn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png" Type="http://schemas.openxmlformats.org/officeDocument/2006/relationships/image"/><Relationship Id="rId19" Target="../media/image41.png" Type="http://schemas.openxmlformats.org/officeDocument/2006/relationships/image"/><Relationship Id="rId2" Target="../media/image24.png" Type="http://schemas.openxmlformats.org/officeDocument/2006/relationships/image"/><Relationship Id="rId20" Target="../media/image42.png" Type="http://schemas.openxmlformats.org/officeDocument/2006/relationships/image"/><Relationship Id="rId21" Target="../media/image43.png" Type="http://schemas.openxmlformats.org/officeDocument/2006/relationships/image"/><Relationship Id="rId22" Target="../media/image44.png" Type="http://schemas.openxmlformats.org/officeDocument/2006/relationships/image"/><Relationship Id="rId23" Target="../media/image45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Relationship Id="rId6" Target="../media/image50.png" Type="http://schemas.openxmlformats.org/officeDocument/2006/relationships/image"/><Relationship Id="rId7" Target="../media/image51.pn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png" Type="http://schemas.openxmlformats.org/officeDocument/2006/relationships/image"/><Relationship Id="rId13" Target="../media/image64.png" Type="http://schemas.openxmlformats.org/officeDocument/2006/relationships/image"/><Relationship Id="rId14" Target="../media/image65.png" Type="http://schemas.openxmlformats.org/officeDocument/2006/relationships/image"/><Relationship Id="rId15" Target="../media/image66.png" Type="http://schemas.openxmlformats.org/officeDocument/2006/relationships/image"/><Relationship Id="rId16" Target="../media/image67.png" Type="http://schemas.openxmlformats.org/officeDocument/2006/relationships/image"/><Relationship Id="rId17" Target="../media/image68.png" Type="http://schemas.openxmlformats.org/officeDocument/2006/relationships/image"/><Relationship Id="rId18" Target="../media/image69.png" Type="http://schemas.openxmlformats.org/officeDocument/2006/relationships/image"/><Relationship Id="rId19" Target="../media/image70.png" Type="http://schemas.openxmlformats.org/officeDocument/2006/relationships/image"/><Relationship Id="rId2" Target="../media/image53.png" Type="http://schemas.openxmlformats.org/officeDocument/2006/relationships/image"/><Relationship Id="rId20" Target="../media/image71.png" Type="http://schemas.openxmlformats.org/officeDocument/2006/relationships/image"/><Relationship Id="rId21" Target="../media/image72.png" Type="http://schemas.openxmlformats.org/officeDocument/2006/relationships/image"/><Relationship Id="rId22" Target="../media/image73.png" Type="http://schemas.openxmlformats.org/officeDocument/2006/relationships/image"/><Relationship Id="rId23" Target="../media/image74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11" Target="../media/image93.png" Type="http://schemas.openxmlformats.org/officeDocument/2006/relationships/image"/><Relationship Id="rId12" Target="../media/image94.png" Type="http://schemas.openxmlformats.org/officeDocument/2006/relationships/image"/><Relationship Id="rId13" Target="../media/image95.png" Type="http://schemas.openxmlformats.org/officeDocument/2006/relationships/image"/><Relationship Id="rId14" Target="../media/image96.png" Type="http://schemas.openxmlformats.org/officeDocument/2006/relationships/image"/><Relationship Id="rId15" Target="../media/image97.png" Type="http://schemas.openxmlformats.org/officeDocument/2006/relationships/image"/><Relationship Id="rId2" Target="../media/image84.png" Type="http://schemas.openxmlformats.org/officeDocument/2006/relationships/image"/><Relationship Id="rId3" Target="../media/image85.png" Type="http://schemas.openxmlformats.org/officeDocument/2006/relationships/image"/><Relationship Id="rId4" Target="../media/image86.png" Type="http://schemas.openxmlformats.org/officeDocument/2006/relationships/image"/><Relationship Id="rId5" Target="../media/image87.png" Type="http://schemas.openxmlformats.org/officeDocument/2006/relationships/image"/><Relationship Id="rId6" Target="../media/image88.png" Type="http://schemas.openxmlformats.org/officeDocument/2006/relationships/image"/><Relationship Id="rId7" Target="../media/image89.png" Type="http://schemas.openxmlformats.org/officeDocument/2006/relationships/image"/><Relationship Id="rId8" Target="../media/image90.png" Type="http://schemas.openxmlformats.org/officeDocument/2006/relationships/image"/><Relationship Id="rId9" Target="../media/image9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8640" y="1598252"/>
            <a:ext cx="9272016" cy="4624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2"/>
              </a:lnSpc>
            </a:pPr>
            <a:r>
              <a:rPr lang="en-US" sz="8409" spc="-168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Semantic Keyword Extraction and Corpus </a:t>
            </a:r>
            <a:r>
              <a:rPr lang="en-US" sz="8409" spc="-168" b="true">
                <a:solidFill>
                  <a:srgbClr val="006EFF"/>
                </a:solidFill>
                <a:latin typeface="Lato Bold"/>
                <a:ea typeface="Lato Bold"/>
                <a:cs typeface="Lato Bold"/>
                <a:sym typeface="Lato Bold"/>
              </a:rPr>
              <a:t>Indexing </a:t>
            </a:r>
            <a:r>
              <a:rPr lang="en-US" sz="8409" spc="-168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Framework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640" y="6385222"/>
            <a:ext cx="7278624" cy="10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317">
                <a:solidFill>
                  <a:srgbClr val="006EFF"/>
                </a:solidFill>
                <a:latin typeface="Lato"/>
                <a:ea typeface="Lato"/>
                <a:cs typeface="Lato"/>
                <a:sym typeface="Lato"/>
              </a:rPr>
              <a:t>A High-Performance Java-Based Document Search &amp; Indexing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8133399"/>
            <a:ext cx="1542230" cy="229572"/>
          </a:xfrm>
          <a:custGeom>
            <a:avLst/>
            <a:gdLst/>
            <a:ahLst/>
            <a:cxnLst/>
            <a:rect r="r" b="b" t="t" l="l"/>
            <a:pathLst>
              <a:path h="229572" w="1542230">
                <a:moveTo>
                  <a:pt x="0" y="0"/>
                </a:moveTo>
                <a:lnTo>
                  <a:pt x="1542230" y="0"/>
                </a:lnTo>
                <a:lnTo>
                  <a:pt x="154223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928" y="603821"/>
            <a:ext cx="6894576" cy="16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1"/>
              </a:lnSpc>
            </a:pPr>
            <a:r>
              <a:rPr lang="en-US" sz="6351" spc="-127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Problem Statement &amp; Motivation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6928" y="2514188"/>
            <a:ext cx="6656832" cy="859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1"/>
              </a:lnSpc>
            </a:pPr>
            <a:r>
              <a:rPr lang="en-US" sz="246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Linear scanning cannot keep up with today’s large document collections or user expectations.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9264" y="3682745"/>
            <a:ext cx="1097280" cy="4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true">
                <a:solidFill>
                  <a:srgbClr val="378FFF"/>
                </a:solidFill>
                <a:latin typeface="Lato Bold"/>
                <a:ea typeface="Lato Bold"/>
                <a:cs typeface="Lato Bold"/>
                <a:sym typeface="Lato Bold"/>
              </a:rPr>
              <a:t>SLOW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9264" y="4221387"/>
            <a:ext cx="3950208" cy="69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Traditional text search is Q(n) and scales poorly as data grows.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264" y="5184647"/>
            <a:ext cx="1463040" cy="4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true">
                <a:solidFill>
                  <a:srgbClr val="378FFF"/>
                </a:solidFill>
                <a:latin typeface="Lato Bold"/>
                <a:ea typeface="Lato Bold"/>
                <a:cs typeface="Lato Bold"/>
                <a:sym typeface="Lato Bold"/>
              </a:rPr>
              <a:t>LIMITED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9264" y="5723289"/>
            <a:ext cx="4352544" cy="69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Exact-match only misses context and user intent.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264" y="6717410"/>
            <a:ext cx="1444752" cy="4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true">
                <a:solidFill>
                  <a:srgbClr val="378FFF"/>
                </a:solidFill>
                <a:latin typeface="Lato Bold"/>
                <a:ea typeface="Lato Bold"/>
                <a:cs typeface="Lato Bold"/>
                <a:sym typeface="Lato Bold"/>
              </a:rPr>
              <a:t>NEEDED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264" y="7256052"/>
            <a:ext cx="4480560" cy="69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Instant, semantic-aware results across millions of documents.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9264" y="8250173"/>
            <a:ext cx="1883664" cy="4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true">
                <a:solidFill>
                  <a:srgbClr val="378FFF"/>
                </a:solidFill>
                <a:latin typeface="Lato Bold"/>
                <a:ea typeface="Lato Bold"/>
                <a:cs typeface="Lato Bold"/>
                <a:sym typeface="Lato Bold"/>
              </a:rPr>
              <a:t>SOLUTION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264" y="8788815"/>
            <a:ext cx="5303520" cy="695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Build an inverted index engine with semantic expansion and efficient pattern matching.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831464" y="426348"/>
            <a:ext cx="10029962" cy="9434305"/>
          </a:xfrm>
          <a:custGeom>
            <a:avLst/>
            <a:gdLst/>
            <a:ahLst/>
            <a:cxnLst/>
            <a:rect r="r" b="b" t="t" l="l"/>
            <a:pathLst>
              <a:path h="9434305" w="10029962">
                <a:moveTo>
                  <a:pt x="0" y="0"/>
                </a:moveTo>
                <a:lnTo>
                  <a:pt x="10029962" y="0"/>
                </a:lnTo>
                <a:lnTo>
                  <a:pt x="10029962" y="9434304"/>
                </a:lnTo>
                <a:lnTo>
                  <a:pt x="0" y="943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052560" y="1019019"/>
            <a:ext cx="3072384" cy="39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b="true" sz="2223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TRADITIONAL SEARCH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75520" y="1485174"/>
            <a:ext cx="1426464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142" b="true">
                <a:solidFill>
                  <a:srgbClr val="378FFF"/>
                </a:solidFill>
                <a:latin typeface="Lato Bold"/>
                <a:ea typeface="Lato Bold"/>
                <a:cs typeface="Lato Bold"/>
                <a:sym typeface="Lato Bold"/>
              </a:rPr>
              <a:t>Linear Scan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351818" y="2142670"/>
            <a:ext cx="2843828" cy="644987"/>
          </a:xfrm>
          <a:custGeom>
            <a:avLst/>
            <a:gdLst/>
            <a:ahLst/>
            <a:cxnLst/>
            <a:rect r="r" b="b" t="t" l="l"/>
            <a:pathLst>
              <a:path h="644987" w="2843828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094976" y="2326983"/>
            <a:ext cx="1426464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Search Query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664354" y="2776725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570574" y="3421712"/>
            <a:ext cx="2406316" cy="874559"/>
          </a:xfrm>
          <a:custGeom>
            <a:avLst/>
            <a:gdLst/>
            <a:ahLst/>
            <a:cxnLst/>
            <a:rect r="r" b="b" t="t" l="l"/>
            <a:pathLst>
              <a:path h="874559" w="2406316">
                <a:moveTo>
                  <a:pt x="0" y="0"/>
                </a:moveTo>
                <a:lnTo>
                  <a:pt x="2406316" y="0"/>
                </a:lnTo>
                <a:lnTo>
                  <a:pt x="240631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70574" y="4066699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570574" y="4919394"/>
            <a:ext cx="2406316" cy="655919"/>
          </a:xfrm>
          <a:custGeom>
            <a:avLst/>
            <a:gdLst/>
            <a:ahLst/>
            <a:cxnLst/>
            <a:rect r="r" b="b" t="t" l="l"/>
            <a:pathLst>
              <a:path h="655919" w="2406316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04704" y="5113208"/>
            <a:ext cx="1207008" cy="2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8"/>
              </a:lnSpc>
            </a:pPr>
            <a:r>
              <a:rPr lang="en-US" sz="1706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Document 3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664354" y="5564382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570574" y="6209369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149840" y="6517539"/>
            <a:ext cx="1261872" cy="29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174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Document N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664354" y="6854356"/>
            <a:ext cx="229694" cy="863627"/>
          </a:xfrm>
          <a:custGeom>
            <a:avLst/>
            <a:gdLst/>
            <a:ahLst/>
            <a:cxnLst/>
            <a:rect r="r" b="b" t="t" l="l"/>
            <a:pathLst>
              <a:path h="863627" w="229694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44000" y="3640352"/>
            <a:ext cx="437512" cy="3224936"/>
          </a:xfrm>
          <a:custGeom>
            <a:avLst/>
            <a:gdLst/>
            <a:ahLst/>
            <a:cxnLst/>
            <a:rect r="r" b="b" t="t" l="l"/>
            <a:pathLst>
              <a:path h="3224936" w="437512">
                <a:moveTo>
                  <a:pt x="0" y="0"/>
                </a:moveTo>
                <a:lnTo>
                  <a:pt x="437512" y="0"/>
                </a:lnTo>
                <a:lnTo>
                  <a:pt x="43751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144000" y="7707051"/>
            <a:ext cx="3051646" cy="874559"/>
          </a:xfrm>
          <a:custGeom>
            <a:avLst/>
            <a:gdLst/>
            <a:ahLst/>
            <a:cxnLst/>
            <a:rect r="r" b="b" t="t" l="l"/>
            <a:pathLst>
              <a:path h="874559" w="3051646">
                <a:moveTo>
                  <a:pt x="0" y="0"/>
                </a:moveTo>
                <a:lnTo>
                  <a:pt x="3051646" y="0"/>
                </a:lnTo>
                <a:lnTo>
                  <a:pt x="305164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9985248" y="7924836"/>
            <a:ext cx="1591056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142" b="true">
                <a:solidFill>
                  <a:srgbClr val="FF914D"/>
                </a:solidFill>
                <a:latin typeface="Lato Bold"/>
                <a:ea typeface="Lato Bold"/>
                <a:cs typeface="Lato Bold"/>
                <a:sym typeface="Lato Bold"/>
              </a:rPr>
              <a:t>Slow Results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2622220" y="634055"/>
            <a:ext cx="229694" cy="8800250"/>
          </a:xfrm>
          <a:custGeom>
            <a:avLst/>
            <a:gdLst/>
            <a:ahLst/>
            <a:cxnLst/>
            <a:rect r="r" b="b" t="t" l="l"/>
            <a:pathLst>
              <a:path h="8800250" w="229694">
                <a:moveTo>
                  <a:pt x="0" y="0"/>
                </a:moveTo>
                <a:lnTo>
                  <a:pt x="229694" y="0"/>
                </a:lnTo>
                <a:lnTo>
                  <a:pt x="229694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935456" y="1028869"/>
            <a:ext cx="2450592" cy="38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8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INDEXED SEARCH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82928" y="1485174"/>
            <a:ext cx="1773936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142" b="true">
                <a:solidFill>
                  <a:srgbClr val="378FFF"/>
                </a:solidFill>
                <a:latin typeface="Lato Bold"/>
                <a:ea typeface="Lato Bold"/>
                <a:cs typeface="Lato Bold"/>
                <a:sym typeface="Lato Bold"/>
              </a:rPr>
              <a:t>Inverted Index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923818" y="2142670"/>
            <a:ext cx="2406316" cy="644987"/>
          </a:xfrm>
          <a:custGeom>
            <a:avLst/>
            <a:gdLst/>
            <a:ahLst/>
            <a:cxnLst/>
            <a:rect r="r" b="b" t="t" l="l"/>
            <a:pathLst>
              <a:path h="644987" w="2406316">
                <a:moveTo>
                  <a:pt x="0" y="0"/>
                </a:moveTo>
                <a:lnTo>
                  <a:pt x="2406316" y="0"/>
                </a:lnTo>
                <a:lnTo>
                  <a:pt x="240631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447520" y="2326983"/>
            <a:ext cx="1426464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Search Query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5017598" y="2776725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716000" y="3640352"/>
            <a:ext cx="3051646" cy="863627"/>
          </a:xfrm>
          <a:custGeom>
            <a:avLst/>
            <a:gdLst/>
            <a:ahLst/>
            <a:cxnLst/>
            <a:rect r="r" b="b" t="t" l="l"/>
            <a:pathLst>
              <a:path h="863627" w="3051646">
                <a:moveTo>
                  <a:pt x="0" y="0"/>
                </a:moveTo>
                <a:lnTo>
                  <a:pt x="3051646" y="0"/>
                </a:lnTo>
                <a:lnTo>
                  <a:pt x="305164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3953744" y="3880320"/>
            <a:ext cx="2450592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Inverted Index Lookup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3497244" y="4285339"/>
            <a:ext cx="2614134" cy="1082267"/>
          </a:xfrm>
          <a:custGeom>
            <a:avLst/>
            <a:gdLst/>
            <a:ahLst/>
            <a:cxnLst/>
            <a:rect r="r" b="b" t="t" l="l"/>
            <a:pathLst>
              <a:path h="1082267" w="2614134">
                <a:moveTo>
                  <a:pt x="0" y="0"/>
                </a:moveTo>
                <a:lnTo>
                  <a:pt x="2614134" y="0"/>
                </a:lnTo>
                <a:lnTo>
                  <a:pt x="261413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3059732" y="5138034"/>
            <a:ext cx="1312536" cy="655919"/>
          </a:xfrm>
          <a:custGeom>
            <a:avLst/>
            <a:gdLst/>
            <a:ahLst/>
            <a:cxnLst/>
            <a:rect r="r" b="b" t="t" l="l"/>
            <a:pathLst>
              <a:path h="655919" w="1312536">
                <a:moveTo>
                  <a:pt x="0" y="0"/>
                </a:moveTo>
                <a:lnTo>
                  <a:pt x="1312536" y="0"/>
                </a:lnTo>
                <a:lnTo>
                  <a:pt x="1312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142574" y="5138034"/>
            <a:ext cx="1323474" cy="655919"/>
          </a:xfrm>
          <a:custGeom>
            <a:avLst/>
            <a:gdLst/>
            <a:ahLst/>
            <a:cxnLst/>
            <a:rect r="r" b="b" t="t" l="l"/>
            <a:pathLst>
              <a:path h="655919" w="1323474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455110" y="5138034"/>
            <a:ext cx="1312536" cy="655919"/>
          </a:xfrm>
          <a:custGeom>
            <a:avLst/>
            <a:gdLst/>
            <a:ahLst/>
            <a:cxnLst/>
            <a:rect r="r" b="b" t="t" l="l"/>
            <a:pathLst>
              <a:path h="655919" w="1312536">
                <a:moveTo>
                  <a:pt x="0" y="0"/>
                </a:moveTo>
                <a:lnTo>
                  <a:pt x="1312536" y="0"/>
                </a:lnTo>
                <a:lnTo>
                  <a:pt x="1312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923818" y="6428009"/>
            <a:ext cx="2406316" cy="863627"/>
          </a:xfrm>
          <a:custGeom>
            <a:avLst/>
            <a:gdLst/>
            <a:ahLst/>
            <a:cxnLst/>
            <a:rect r="r" b="b" t="t" l="l"/>
            <a:pathLst>
              <a:path h="863627" w="2406316">
                <a:moveTo>
                  <a:pt x="0" y="0"/>
                </a:moveTo>
                <a:lnTo>
                  <a:pt x="2406316" y="0"/>
                </a:lnTo>
                <a:lnTo>
                  <a:pt x="240631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0204704" y="3755324"/>
            <a:ext cx="1207008" cy="2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8"/>
              </a:lnSpc>
            </a:pPr>
            <a:r>
              <a:rPr lang="en-US" sz="1706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Document 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04704" y="4423979"/>
            <a:ext cx="1207008" cy="289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8"/>
              </a:lnSpc>
            </a:pPr>
            <a:r>
              <a:rPr lang="en-US" sz="1706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Document 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18320" y="8847426"/>
            <a:ext cx="2633472" cy="39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223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O(n) time complexity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331952" y="5330787"/>
            <a:ext cx="658368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 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520672" y="5330787"/>
            <a:ext cx="658368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 B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727680" y="5330787"/>
            <a:ext cx="658368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Doc 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484096" y="6688671"/>
            <a:ext cx="1389888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Rank &amp; Filter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410944" y="7945410"/>
            <a:ext cx="1499616" cy="35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142" b="true">
                <a:solidFill>
                  <a:srgbClr val="7ED957"/>
                </a:solidFill>
                <a:latin typeface="Lato Bold"/>
                <a:ea typeface="Lato Bold"/>
                <a:cs typeface="Lato Bold"/>
                <a:sym typeface="Lato Bold"/>
              </a:rPr>
              <a:t>Fast Results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807440" y="8877850"/>
            <a:ext cx="2706624" cy="38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sz="2248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Sub-second response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0352" y="663687"/>
            <a:ext cx="6583680" cy="1621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3"/>
              </a:lnSpc>
            </a:pPr>
            <a:r>
              <a:rPr lang="en-US" sz="5730" spc="-114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Proposed Solution &amp; 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0352" y="2499353"/>
            <a:ext cx="6364224" cy="80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modular Java framework for high-performance semantic search and indexing.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0352" y="3890491"/>
            <a:ext cx="2779776" cy="42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b="true" sz="2494" spc="-49">
                <a:solidFill>
                  <a:srgbClr val="006EFF"/>
                </a:solidFill>
                <a:latin typeface="Lato Bold"/>
                <a:ea typeface="Lato Bold"/>
                <a:cs typeface="Lato Bold"/>
                <a:sym typeface="Lato Bold"/>
              </a:rPr>
              <a:t>CORE WORKFLOW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4128" y="4697219"/>
            <a:ext cx="1810512" cy="29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Load raw text files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4128" y="5472775"/>
            <a:ext cx="4443984" cy="29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66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Preprocessing &amp; clean text (remove stop words)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4128" y="6229982"/>
            <a:ext cx="4169664" cy="29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Extract key terms &amp; compute frequencies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4128" y="6976707"/>
            <a:ext cx="3291840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Map keywords to inverted index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4128" y="7748232"/>
            <a:ext cx="3401568" cy="31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Semantically expand user queries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393952" y="1497682"/>
            <a:ext cx="2843828" cy="1934962"/>
          </a:xfrm>
          <a:custGeom>
            <a:avLst/>
            <a:gdLst/>
            <a:ahLst/>
            <a:cxnLst/>
            <a:rect r="r" b="b" t="t" l="l"/>
            <a:pathLst>
              <a:path h="1934962" w="2843828">
                <a:moveTo>
                  <a:pt x="0" y="0"/>
                </a:moveTo>
                <a:lnTo>
                  <a:pt x="2843828" y="0"/>
                </a:lnTo>
                <a:lnTo>
                  <a:pt x="284382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101584" y="1855411"/>
            <a:ext cx="1645920" cy="26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b="true" sz="1561" spc="-31">
                <a:solidFill>
                  <a:srgbClr val="006EFF"/>
                </a:solidFill>
                <a:latin typeface="Lato Bold"/>
                <a:ea typeface="Lato Bold"/>
                <a:cs typeface="Lato Bold"/>
                <a:sym typeface="Lato Bold"/>
              </a:rPr>
              <a:t>INHERITED INDEX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55280" y="2277451"/>
            <a:ext cx="1920240" cy="8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57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Hash-based inverted indexing for instant term lookup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445598" y="1497682"/>
            <a:ext cx="2843828" cy="1934962"/>
          </a:xfrm>
          <a:custGeom>
            <a:avLst/>
            <a:gdLst/>
            <a:ahLst/>
            <a:cxnLst/>
            <a:rect r="r" b="b" t="t" l="l"/>
            <a:pathLst>
              <a:path h="1934962" w="2843828">
                <a:moveTo>
                  <a:pt x="0" y="0"/>
                </a:moveTo>
                <a:lnTo>
                  <a:pt x="2843828" y="0"/>
                </a:lnTo>
                <a:lnTo>
                  <a:pt x="284382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808208" y="1855411"/>
            <a:ext cx="2157984" cy="26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b="true" sz="1561" spc="-31">
                <a:solidFill>
                  <a:srgbClr val="006EFF"/>
                </a:solidFill>
                <a:latin typeface="Lato Bold"/>
                <a:ea typeface="Lato Bold"/>
                <a:cs typeface="Lato Bold"/>
                <a:sym typeface="Lato Bold"/>
              </a:rPr>
              <a:t>SEMANTIC EXPANSION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81360" y="2277451"/>
            <a:ext cx="2011680" cy="8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57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Expands queries with synonyms and related concepts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497244" y="1497682"/>
            <a:ext cx="2832890" cy="1934962"/>
          </a:xfrm>
          <a:custGeom>
            <a:avLst/>
            <a:gdLst/>
            <a:ahLst/>
            <a:cxnLst/>
            <a:rect r="r" b="b" t="t" l="l"/>
            <a:pathLst>
              <a:path h="1934962" w="2832890">
                <a:moveTo>
                  <a:pt x="0" y="0"/>
                </a:moveTo>
                <a:lnTo>
                  <a:pt x="2832890" y="0"/>
                </a:lnTo>
                <a:lnTo>
                  <a:pt x="283289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935456" y="1855411"/>
            <a:ext cx="1938528" cy="26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5"/>
              </a:lnSpc>
            </a:pPr>
            <a:r>
              <a:rPr lang="en-US" b="true" sz="1561" spc="-31">
                <a:solidFill>
                  <a:srgbClr val="006EFF"/>
                </a:solidFill>
                <a:latin typeface="Lato Bold"/>
                <a:ea typeface="Lato Bold"/>
                <a:cs typeface="Lato Bold"/>
                <a:sym typeface="Lato Bold"/>
              </a:rPr>
              <a:t>PATTERN MATCHING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25728" y="2277451"/>
            <a:ext cx="2194560" cy="817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57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Knuth-Morris-Pratt algorithm for linear-time pattern matching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8706488" y="3214004"/>
            <a:ext cx="6322048" cy="1289974"/>
          </a:xfrm>
          <a:custGeom>
            <a:avLst/>
            <a:gdLst/>
            <a:ahLst/>
            <a:cxnLst/>
            <a:rect r="r" b="b" t="t" l="l"/>
            <a:pathLst>
              <a:path h="1289974" w="6322048">
                <a:moveTo>
                  <a:pt x="0" y="0"/>
                </a:moveTo>
                <a:lnTo>
                  <a:pt x="6322048" y="0"/>
                </a:lnTo>
                <a:lnTo>
                  <a:pt x="632204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873598" y="4493047"/>
            <a:ext cx="1750048" cy="2153601"/>
          </a:xfrm>
          <a:custGeom>
            <a:avLst/>
            <a:gdLst/>
            <a:ahLst/>
            <a:cxnLst/>
            <a:rect r="r" b="b" t="t" l="l"/>
            <a:pathLst>
              <a:path h="2153601" w="1750048">
                <a:moveTo>
                  <a:pt x="0" y="0"/>
                </a:moveTo>
                <a:lnTo>
                  <a:pt x="1750048" y="0"/>
                </a:lnTo>
                <a:lnTo>
                  <a:pt x="175004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311110" y="4711687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217920" y="5736345"/>
            <a:ext cx="1024128" cy="48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true" sz="1388" spc="-27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DOCUMENT INGESTION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7393952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831464" y="4493047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8268976" y="4711687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046720" y="5736345"/>
            <a:ext cx="1389888" cy="48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true" sz="1388" spc="-27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PREPROCESSING &amp; CLEANING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570574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789330" y="4493047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445598" y="4711687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0040112" y="5776616"/>
            <a:ext cx="1426464" cy="412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8"/>
              </a:lnSpc>
            </a:pPr>
            <a:r>
              <a:rPr lang="en-US" b="true" sz="1227" spc="-24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TERM EXTRACTION &amp; FREQUENCY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1528440" y="535667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965952" y="4493047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403464" y="4711687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216384" y="5746252"/>
            <a:ext cx="1335024" cy="464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31"/>
              </a:lnSpc>
            </a:pPr>
            <a:r>
              <a:rPr lang="en-US" b="true" sz="1308" spc="-26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INVERTED INDEX CONSTRUCTION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3716000" y="5356674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923818" y="4493047"/>
            <a:ext cx="1979742" cy="2153601"/>
          </a:xfrm>
          <a:custGeom>
            <a:avLst/>
            <a:gdLst/>
            <a:ahLst/>
            <a:cxnLst/>
            <a:rect r="r" b="b" t="t" l="l"/>
            <a:pathLst>
              <a:path h="2153601" w="1979742">
                <a:moveTo>
                  <a:pt x="0" y="0"/>
                </a:moveTo>
                <a:lnTo>
                  <a:pt x="1979742" y="0"/>
                </a:lnTo>
                <a:lnTo>
                  <a:pt x="197974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580086" y="4711687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4191488" y="5736345"/>
            <a:ext cx="1499616" cy="48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true" sz="1388" spc="-27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SEMANTIC QUERY EXPANSION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5673866" y="5356674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6100440" y="4493047"/>
            <a:ext cx="1760986" cy="2153601"/>
          </a:xfrm>
          <a:custGeom>
            <a:avLst/>
            <a:gdLst/>
            <a:ahLst/>
            <a:cxnLst/>
            <a:rect r="r" b="b" t="t" l="l"/>
            <a:pathLst>
              <a:path h="2153601" w="1760986">
                <a:moveTo>
                  <a:pt x="0" y="0"/>
                </a:moveTo>
                <a:lnTo>
                  <a:pt x="1760986" y="0"/>
                </a:lnTo>
                <a:lnTo>
                  <a:pt x="176098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537952" y="4711687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6386048" y="5736345"/>
            <a:ext cx="1170432" cy="48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b="true" sz="1388" spc="-27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KMP PATTERN MATCHING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48640" y="4657301"/>
            <a:ext cx="182880" cy="43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4" spc="-5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48640" y="5387678"/>
            <a:ext cx="182880" cy="43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4" spc="-5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48640" y="6148916"/>
            <a:ext cx="182880" cy="43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4" spc="-5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48640" y="6910154"/>
            <a:ext cx="182880" cy="43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4" spc="-5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48640" y="7671392"/>
            <a:ext cx="182880" cy="43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4" spc="-5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48640" y="8463491"/>
            <a:ext cx="182880" cy="43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b="true" sz="2554" spc="-5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6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24128" y="8534270"/>
            <a:ext cx="4005072" cy="29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4"/>
              </a:lnSpc>
            </a:pPr>
            <a:r>
              <a:rPr lang="en-US" sz="178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KMP exact pattern occurrence counting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113264" y="7576740"/>
            <a:ext cx="2670048" cy="29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b="true" sz="1690" spc="-33">
                <a:solidFill>
                  <a:srgbClr val="FF914D"/>
                </a:solidFill>
                <a:latin typeface="Lato Bold"/>
                <a:ea typeface="Lato Bold"/>
                <a:cs typeface="Lato Bold"/>
                <a:sym typeface="Lato Bold"/>
              </a:rPr>
              <a:t>FAST &amp; RELEVANT RESULTS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058400" y="8010373"/>
            <a:ext cx="2779776" cy="585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6"/>
              </a:lnSpc>
            </a:pPr>
            <a:r>
              <a:rPr lang="en-US" sz="169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Ranked documents with exact match occurrences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466364"/>
            <a:ext cx="13551408" cy="929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9"/>
              </a:lnSpc>
            </a:pPr>
            <a:r>
              <a:rPr lang="en-US" sz="6157" spc="-123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Key Java Components &amp; Class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1840490"/>
            <a:ext cx="2304288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54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Document,java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62272" y="1795802"/>
            <a:ext cx="1645920" cy="75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Stores text</a:t>
            </a:r>
          </a:p>
          <a:p>
            <a:pPr algn="l">
              <a:lnSpc>
                <a:spcPts val="3035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and metadata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956440" y="1497682"/>
            <a:ext cx="6114230" cy="1508614"/>
          </a:xfrm>
          <a:custGeom>
            <a:avLst/>
            <a:gdLst/>
            <a:ahLst/>
            <a:cxnLst/>
            <a:rect r="r" b="b" t="t" l="l"/>
            <a:pathLst>
              <a:path h="1508614" w="6114230">
                <a:moveTo>
                  <a:pt x="0" y="0"/>
                </a:moveTo>
                <a:lnTo>
                  <a:pt x="6114230" y="0"/>
                </a:lnTo>
                <a:lnTo>
                  <a:pt x="6114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2320" y="1762509"/>
            <a:ext cx="5084064" cy="85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606" spc="160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class</a:t>
            </a:r>
            <a:r>
              <a:rPr lang="en-US" sz="1606" spc="16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Document </a:t>
            </a:r>
            <a:r>
              <a:rPr lang="en-US" sz="1606" spc="160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{</a:t>
            </a:r>
          </a:p>
          <a:p>
            <a:pPr algn="l">
              <a:lnSpc>
                <a:spcPts val="2249"/>
              </a:lnSpc>
            </a:pPr>
            <a:r>
              <a:rPr lang="en-US" sz="1606" spc="160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String</a:t>
            </a:r>
            <a:r>
              <a:rPr lang="en-US" sz="1606" spc="16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id; String text; Map</a:t>
            </a:r>
            <a:r>
              <a:rPr lang="en-US" sz="1606" spc="160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String,String</a:t>
            </a:r>
            <a:r>
              <a:rPr lang="en-US" sz="1606" spc="16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meta; </a:t>
            </a:r>
          </a:p>
          <a:p>
            <a:pPr algn="l">
              <a:lnSpc>
                <a:spcPts val="2249"/>
              </a:lnSpc>
            </a:pPr>
            <a:r>
              <a:rPr lang="en-US" sz="1606" spc="16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8368" y="3188087"/>
            <a:ext cx="3328416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54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TextPreprocessor,java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62272" y="3205121"/>
            <a:ext cx="2267712" cy="75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Removes noise and stop words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956440" y="2776725"/>
            <a:ext cx="6114230" cy="1519546"/>
          </a:xfrm>
          <a:custGeom>
            <a:avLst/>
            <a:gdLst/>
            <a:ahLst/>
            <a:cxnLst/>
            <a:rect r="r" b="b" t="t" l="l"/>
            <a:pathLst>
              <a:path h="1519546" w="6114230">
                <a:moveTo>
                  <a:pt x="0" y="0"/>
                </a:moveTo>
                <a:lnTo>
                  <a:pt x="6114230" y="0"/>
                </a:lnTo>
                <a:lnTo>
                  <a:pt x="6114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132320" y="3082061"/>
            <a:ext cx="4754880" cy="10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class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TextPreprocessor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{</a:t>
            </a:r>
          </a:p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Set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String&gt; stopWords =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new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HashSet&lt;(),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List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&lt;String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clean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(String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input); 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8368" y="4628267"/>
            <a:ext cx="3474720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54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KeywordExtractor,java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62272" y="4614440"/>
            <a:ext cx="2267712" cy="75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Ranges keywords by frequency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956440" y="4285339"/>
            <a:ext cx="6114230" cy="1508614"/>
          </a:xfrm>
          <a:custGeom>
            <a:avLst/>
            <a:gdLst/>
            <a:ahLst/>
            <a:cxnLst/>
            <a:rect r="r" b="b" t="t" l="l"/>
            <a:pathLst>
              <a:path h="1508614" w="6114230">
                <a:moveTo>
                  <a:pt x="0" y="0"/>
                </a:moveTo>
                <a:lnTo>
                  <a:pt x="6114230" y="0"/>
                </a:lnTo>
                <a:lnTo>
                  <a:pt x="6114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132320" y="4542815"/>
            <a:ext cx="5120640" cy="10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class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KeywordExtractor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{</a:t>
            </a:r>
          </a:p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Map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String, Integer &gt;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freq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=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new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HashMap&lt;();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List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&lt;Map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Entry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&lt;String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Integer &gt; topK(int k); 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}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8368" y="6037586"/>
            <a:ext cx="2834640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54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InvertedIndex,java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62272" y="6034046"/>
            <a:ext cx="2194560" cy="75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Maps keywords to document ID lists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956440" y="5783021"/>
            <a:ext cx="6114230" cy="1508614"/>
          </a:xfrm>
          <a:custGeom>
            <a:avLst/>
            <a:gdLst/>
            <a:ahLst/>
            <a:cxnLst/>
            <a:rect r="r" b="b" t="t" l="l"/>
            <a:pathLst>
              <a:path h="1508614" w="6114230">
                <a:moveTo>
                  <a:pt x="0" y="0"/>
                </a:moveTo>
                <a:lnTo>
                  <a:pt x="6114230" y="0"/>
                </a:lnTo>
                <a:lnTo>
                  <a:pt x="6114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32320" y="5952134"/>
            <a:ext cx="5266944" cy="10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class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InvertedIndex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{</a:t>
            </a:r>
          </a:p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Map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&lt;String, List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&lt;Integer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&gt;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index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;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List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&lt;Integer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get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(String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term)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// O(1) lookup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8368" y="7425569"/>
            <a:ext cx="2606857" cy="3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6"/>
              </a:lnSpc>
            </a:pPr>
            <a:r>
              <a:rPr lang="en-US" sz="2497" spc="-49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KMPMatcher,java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62272" y="7412504"/>
            <a:ext cx="2048256" cy="75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Implements KMP string matching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956440" y="7062064"/>
            <a:ext cx="6114230" cy="1519546"/>
          </a:xfrm>
          <a:custGeom>
            <a:avLst/>
            <a:gdLst/>
            <a:ahLst/>
            <a:cxnLst/>
            <a:rect r="r" b="b" t="t" l="l"/>
            <a:pathLst>
              <a:path h="1519546" w="6114230">
                <a:moveTo>
                  <a:pt x="0" y="0"/>
                </a:moveTo>
                <a:lnTo>
                  <a:pt x="6114230" y="0"/>
                </a:lnTo>
                <a:lnTo>
                  <a:pt x="6114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132320" y="7392314"/>
            <a:ext cx="5120640" cy="10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class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KMMatcher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{</a:t>
            </a:r>
          </a:p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int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[] build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PS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pattern); 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List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&lt;Integer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search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(String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text,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pattern); 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8368" y="8753354"/>
            <a:ext cx="3511296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54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SemanticExpander,java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62272" y="8760101"/>
            <a:ext cx="2322576" cy="754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02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Expands queries via synonym linking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956440" y="8570678"/>
            <a:ext cx="6114230" cy="1508614"/>
          </a:xfrm>
          <a:custGeom>
            <a:avLst/>
            <a:gdLst/>
            <a:ahLst/>
            <a:cxnLst/>
            <a:rect r="r" b="b" t="t" l="l"/>
            <a:pathLst>
              <a:path h="1508614" w="6114230">
                <a:moveTo>
                  <a:pt x="0" y="0"/>
                </a:moveTo>
                <a:lnTo>
                  <a:pt x="6114230" y="0"/>
                </a:lnTo>
                <a:lnTo>
                  <a:pt x="6114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132320" y="8781059"/>
            <a:ext cx="3950208" cy="10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class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SemanticExpander 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{</a:t>
            </a:r>
          </a:p>
          <a:p>
            <a:pPr algn="l">
              <a:lnSpc>
                <a:spcPts val="2208"/>
              </a:lnSpc>
            </a:pP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Map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String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Set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&gt;&gt; synonyms; 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Set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&lt;String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expand</a:t>
            </a:r>
            <a:r>
              <a:rPr lang="en-US" sz="1577" spc="157" b="true">
                <a:solidFill>
                  <a:srgbClr val="3776FF"/>
                </a:solidFill>
                <a:latin typeface="Lato Bold"/>
                <a:ea typeface="Lato Bold"/>
                <a:cs typeface="Lato Bold"/>
                <a:sym typeface="Lato Bold"/>
              </a:rPr>
              <a:t>(String</a:t>
            </a: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query); </a:t>
            </a:r>
          </a:p>
          <a:p>
            <a:pPr algn="l">
              <a:lnSpc>
                <a:spcPts val="2208"/>
              </a:lnSpc>
            </a:pPr>
            <a:r>
              <a:rPr lang="en-US" sz="1577" spc="1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464883"/>
            <a:ext cx="13807440" cy="110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Data Structures &amp; Algorithms (DS&amp;A)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3232" y="2328036"/>
            <a:ext cx="3749040" cy="544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38B6FF"/>
                </a:solidFill>
                <a:latin typeface="Lato Bold"/>
                <a:ea typeface="Lato Bold"/>
                <a:cs typeface="Lato Bold"/>
                <a:sym typeface="Lato Bold"/>
              </a:rPr>
              <a:t>DATA STRUCTURES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68896" y="2314070"/>
            <a:ext cx="5852160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 b="true">
                <a:solidFill>
                  <a:srgbClr val="38B6FF"/>
                </a:solidFill>
                <a:latin typeface="Lato Bold"/>
                <a:ea typeface="Lato Bold"/>
                <a:cs typeface="Lato Bold"/>
                <a:sym typeface="Lato Bold"/>
              </a:rPr>
              <a:t>KMP ALGORITHM SPOTLIGHT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68896" y="3046083"/>
            <a:ext cx="9308592" cy="154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Time complexity </a:t>
            </a:r>
            <a:r>
              <a:rPr lang="en-US" sz="2299" b="true">
                <a:solidFill>
                  <a:srgbClr val="FF914D"/>
                </a:solidFill>
                <a:latin typeface="Lato Bold"/>
                <a:ea typeface="Lato Bold"/>
                <a:cs typeface="Lato Bold"/>
                <a:sym typeface="Lato Bold"/>
              </a:rPr>
              <a:t>O(n + m)</a:t>
            </a: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where n=text length, m=pattern length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Uses Longest Prefix Suffix (LPS) array to skip unnecessary comparisons</a:t>
            </a:r>
          </a:p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Avoids backtracking, improving performance over naive search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956440" y="4919394"/>
            <a:ext cx="10686230" cy="4941258"/>
          </a:xfrm>
          <a:custGeom>
            <a:avLst/>
            <a:gdLst/>
            <a:ahLst/>
            <a:cxnLst/>
            <a:rect r="r" b="b" t="t" l="l"/>
            <a:pathLst>
              <a:path h="4941258" w="10686230">
                <a:moveTo>
                  <a:pt x="0" y="0"/>
                </a:moveTo>
                <a:lnTo>
                  <a:pt x="10686230" y="0"/>
                </a:lnTo>
                <a:lnTo>
                  <a:pt x="10686230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516368" y="5303555"/>
            <a:ext cx="3803904" cy="39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 b="true">
                <a:solidFill>
                  <a:srgbClr val="38B6FF"/>
                </a:solidFill>
                <a:latin typeface="Lato Bold"/>
                <a:ea typeface="Lato Bold"/>
                <a:cs typeface="Lato Bold"/>
                <a:sym typeface="Lato Bold"/>
              </a:rPr>
              <a:t>LPS ARRAY CONSTRUCTION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16368" y="5929971"/>
            <a:ext cx="896112" cy="36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4"/>
              </a:lnSpc>
            </a:pPr>
            <a:r>
              <a:rPr lang="en-US" sz="2146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Pattern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925244" y="5783021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08086" y="5783021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79024" y="5920662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01866" y="5783021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539728" y="5920662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184708" y="5783021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78488" y="5783021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61330" y="5783021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925244" y="6428009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008086" y="6428009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479024" y="6712761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101866" y="6428009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539728" y="6712761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184708" y="6428009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278488" y="6428009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361330" y="6428009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393952" y="7280704"/>
            <a:ext cx="10029962" cy="229572"/>
          </a:xfrm>
          <a:custGeom>
            <a:avLst/>
            <a:gdLst/>
            <a:ahLst/>
            <a:cxnLst/>
            <a:rect r="r" b="b" t="t" l="l"/>
            <a:pathLst>
              <a:path h="229572" w="10029962">
                <a:moveTo>
                  <a:pt x="0" y="0"/>
                </a:moveTo>
                <a:lnTo>
                  <a:pt x="10029962" y="0"/>
                </a:lnTo>
                <a:lnTo>
                  <a:pt x="10029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516368" y="7710713"/>
            <a:ext cx="3584448" cy="39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223" b="true">
                <a:solidFill>
                  <a:srgbClr val="38B6FF"/>
                </a:solidFill>
                <a:latin typeface="Lato Bold"/>
                <a:ea typeface="Lato Bold"/>
                <a:cs typeface="Lato Bold"/>
                <a:sym typeface="Lato Bold"/>
              </a:rPr>
              <a:t>KMP MATCHING PROCESS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393952" y="8133399"/>
            <a:ext cx="1750048" cy="1300906"/>
          </a:xfrm>
          <a:custGeom>
            <a:avLst/>
            <a:gdLst/>
            <a:ahLst/>
            <a:cxnLst/>
            <a:rect r="r" b="b" t="t" l="l"/>
            <a:pathLst>
              <a:path h="1300906" w="1750048">
                <a:moveTo>
                  <a:pt x="0" y="0"/>
                </a:moveTo>
                <a:lnTo>
                  <a:pt x="1750048" y="0"/>
                </a:lnTo>
                <a:lnTo>
                  <a:pt x="175004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7754112" y="8479544"/>
            <a:ext cx="1060704" cy="63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Compare characters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9144000" y="8570678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570574" y="8133399"/>
            <a:ext cx="2187560" cy="1300906"/>
          </a:xfrm>
          <a:custGeom>
            <a:avLst/>
            <a:gdLst/>
            <a:ahLst/>
            <a:cxnLst/>
            <a:rect r="r" b="b" t="t" l="l"/>
            <a:pathLst>
              <a:path h="1300906" w="2187560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912096" y="8499044"/>
            <a:ext cx="1536192" cy="60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174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On mismatch, use LPS to shift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747196" y="857067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184708" y="8133399"/>
            <a:ext cx="2187560" cy="1300906"/>
          </a:xfrm>
          <a:custGeom>
            <a:avLst/>
            <a:gdLst/>
            <a:ahLst/>
            <a:cxnLst/>
            <a:rect r="r" b="b" t="t" l="l"/>
            <a:pathLst>
              <a:path h="1300906" w="2187560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2417552" y="8478615"/>
            <a:ext cx="1828800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Skip unnecessary comparisons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4361330" y="8570678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017598" y="8133399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5416784" y="8478615"/>
            <a:ext cx="1536192" cy="64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9"/>
              </a:lnSpc>
            </a:pPr>
            <a:r>
              <a:rPr lang="en-US" sz="1857" b="true">
                <a:solidFill>
                  <a:srgbClr val="FF914D"/>
                </a:solidFill>
                <a:latin typeface="Lato Bold"/>
                <a:ea typeface="Lato Bold"/>
                <a:cs typeface="Lato Bold"/>
                <a:sym typeface="Lato Bold"/>
              </a:rPr>
              <a:t>Continue until match or end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3232" y="3120384"/>
            <a:ext cx="5230368" cy="227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HashMap&lt;String, List/Document&gt;&gt;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 inverted index (fast lookup)</a:t>
            </a:r>
          </a:p>
          <a:p>
            <a:pPr algn="l">
              <a:lnSpc>
                <a:spcPts val="3679"/>
              </a:lnSpc>
            </a:pP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HashSet&lt;String&gt;</a:t>
            </a:r>
          </a:p>
          <a:p>
            <a:pPr algn="l">
              <a:lnSpc>
                <a:spcPts val="367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 stop word checks (O(1) membership)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00032" y="5920662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18720" y="5920662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697712" y="5920662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776704" y="5920662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16368" y="6712436"/>
            <a:ext cx="475488" cy="38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24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LPS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00032" y="6712761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618720" y="6712761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697712" y="6712761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76704" y="6712761"/>
            <a:ext cx="18288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3504" y="426475"/>
            <a:ext cx="11667744" cy="1050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1"/>
              </a:lnSpc>
            </a:pPr>
            <a:r>
              <a:rPr lang="en-US" sz="6072" spc="-121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Expected Output &amp; Demonstration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4364182" cy="1508614"/>
          </a:xfrm>
          <a:custGeom>
            <a:avLst/>
            <a:gdLst/>
            <a:ahLst/>
            <a:cxnLst/>
            <a:rect r="r" b="b" t="t" l="l"/>
            <a:pathLst>
              <a:path h="1508614" w="4364182">
                <a:moveTo>
                  <a:pt x="0" y="0"/>
                </a:moveTo>
                <a:lnTo>
                  <a:pt x="4364182" y="0"/>
                </a:lnTo>
                <a:lnTo>
                  <a:pt x="436418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395728" y="2237916"/>
            <a:ext cx="822960" cy="38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Query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779818" y="256901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73598" y="1924030"/>
            <a:ext cx="5239206" cy="1508614"/>
          </a:xfrm>
          <a:custGeom>
            <a:avLst/>
            <a:gdLst/>
            <a:ahLst/>
            <a:cxnLst/>
            <a:rect r="r" b="b" t="t" l="l"/>
            <a:pathLst>
              <a:path h="1508614" w="5239206">
                <a:moveTo>
                  <a:pt x="0" y="0"/>
                </a:moveTo>
                <a:lnTo>
                  <a:pt x="5239206" y="0"/>
                </a:lnTo>
                <a:lnTo>
                  <a:pt x="5239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15200" y="2242408"/>
            <a:ext cx="2450592" cy="37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6"/>
              </a:lnSpc>
            </a:pPr>
            <a:r>
              <a:rPr lang="en-US" sz="219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Semantic Expansion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83680" y="2728489"/>
            <a:ext cx="3877056" cy="43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4" b="true">
                <a:solidFill>
                  <a:srgbClr val="FF9A2B"/>
                </a:solidFill>
                <a:latin typeface="Lato Bold"/>
                <a:ea typeface="Lato Bold"/>
                <a:cs typeface="Lato Bold"/>
                <a:sym typeface="Lato Bold"/>
              </a:rPr>
              <a:t>[vehicle, automobile, car]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883110" y="2569017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84708" y="1924030"/>
            <a:ext cx="5020450" cy="1508614"/>
          </a:xfrm>
          <a:custGeom>
            <a:avLst/>
            <a:gdLst/>
            <a:ahLst/>
            <a:cxnLst/>
            <a:rect r="r" b="b" t="t" l="l"/>
            <a:pathLst>
              <a:path h="1508614" w="5020450">
                <a:moveTo>
                  <a:pt x="0" y="0"/>
                </a:moveTo>
                <a:lnTo>
                  <a:pt x="5020450" y="0"/>
                </a:lnTo>
                <a:lnTo>
                  <a:pt x="5020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240512" y="2247225"/>
            <a:ext cx="2798064" cy="36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4"/>
              </a:lnSpc>
            </a:pPr>
            <a:r>
              <a:rPr lang="en-US" sz="2146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Indexed Search 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73584" y="2733203"/>
            <a:ext cx="3950208" cy="42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2"/>
              </a:lnSpc>
            </a:pPr>
            <a:r>
              <a:rPr lang="en-US" sz="2494" b="true">
                <a:solidFill>
                  <a:srgbClr val="7ED957"/>
                </a:solidFill>
                <a:latin typeface="Lato Bold"/>
                <a:ea typeface="Lato Bold"/>
                <a:cs typeface="Lato Bold"/>
                <a:sym typeface="Lato Bold"/>
              </a:rPr>
              <a:t>higher recall, precise results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26574" y="3640352"/>
            <a:ext cx="17434852" cy="6012593"/>
          </a:xfrm>
          <a:custGeom>
            <a:avLst/>
            <a:gdLst/>
            <a:ahLst/>
            <a:cxnLst/>
            <a:rect r="r" b="b" t="t" l="l"/>
            <a:pathLst>
              <a:path h="6012593" w="17434852">
                <a:moveTo>
                  <a:pt x="0" y="0"/>
                </a:moveTo>
                <a:lnTo>
                  <a:pt x="17434852" y="0"/>
                </a:lnTo>
                <a:lnTo>
                  <a:pt x="1743485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71600" y="4793741"/>
            <a:ext cx="3145536" cy="478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>
                <a:solidFill>
                  <a:srgbClr val="38B6FF"/>
                </a:solidFill>
                <a:latin typeface="Lato"/>
                <a:ea typeface="Lato"/>
                <a:cs typeface="Lato"/>
                <a:sym typeface="Lato"/>
              </a:rPr>
              <a:t>SEARCI RESULTS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01598" y="5564382"/>
            <a:ext cx="11112804" cy="229572"/>
          </a:xfrm>
          <a:custGeom>
            <a:avLst/>
            <a:gdLst/>
            <a:ahLst/>
            <a:cxnLst/>
            <a:rect r="r" b="b" t="t" l="l"/>
            <a:pathLst>
              <a:path h="229572" w="11112804">
                <a:moveTo>
                  <a:pt x="0" y="0"/>
                </a:moveTo>
                <a:lnTo>
                  <a:pt x="11112804" y="0"/>
                </a:lnTo>
                <a:lnTo>
                  <a:pt x="11112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803904" y="6783771"/>
            <a:ext cx="3803904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FF9A2B"/>
                </a:solidFill>
                <a:latin typeface="Lato"/>
                <a:ea typeface="Lato"/>
                <a:cs typeface="Lato"/>
                <a:sym typeface="Lato"/>
              </a:rPr>
              <a:t>'automobile'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01598" y="8570678"/>
            <a:ext cx="10894048" cy="218640"/>
          </a:xfrm>
          <a:custGeom>
            <a:avLst/>
            <a:gdLst/>
            <a:ahLst/>
            <a:cxnLst/>
            <a:rect r="r" b="b" t="t" l="l"/>
            <a:pathLst>
              <a:path h="218640" w="10894048">
                <a:moveTo>
                  <a:pt x="0" y="0"/>
                </a:moveTo>
                <a:lnTo>
                  <a:pt x="10894048" y="0"/>
                </a:lnTo>
                <a:lnTo>
                  <a:pt x="1089404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560320" y="2728489"/>
            <a:ext cx="512064" cy="43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5"/>
              </a:lnSpc>
            </a:pPr>
            <a:r>
              <a:rPr lang="en-US" sz="2554" b="true">
                <a:solidFill>
                  <a:srgbClr val="FF9A2B"/>
                </a:solidFill>
                <a:latin typeface="Lato Bold"/>
                <a:ea typeface="Lato Bold"/>
                <a:cs typeface="Lato Bold"/>
                <a:sym typeface="Lato Bold"/>
              </a:rPr>
              <a:t>car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1600" y="6056181"/>
            <a:ext cx="2048256" cy="52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Matches for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03904" y="6032820"/>
            <a:ext cx="3803904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FF9A2B"/>
                </a:solidFill>
                <a:latin typeface="Lato"/>
                <a:ea typeface="Lato"/>
                <a:cs typeface="Lato"/>
                <a:sym typeface="Lato"/>
              </a:rPr>
              <a:t>'vehicle'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97696" y="6070659"/>
            <a:ext cx="365760" cy="50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-&gt;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10928" y="6032820"/>
            <a:ext cx="1975104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7ED957"/>
                </a:solidFill>
                <a:latin typeface="Lato"/>
                <a:ea typeface="Lato"/>
                <a:cs typeface="Lato"/>
                <a:sym typeface="Lato"/>
              </a:rPr>
              <a:t>Doc4.txt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35840" y="6032820"/>
            <a:ext cx="365760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|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84480" y="6032820"/>
            <a:ext cx="2779776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occurrences: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26512" y="6032820"/>
            <a:ext cx="274320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>
                <a:solidFill>
                  <a:srgbClr val="7ED957"/>
                </a:solidFill>
                <a:latin typeface="Lato"/>
                <a:ea typeface="Lato"/>
                <a:cs typeface="Lato"/>
                <a:sym typeface="Lato"/>
              </a:rPr>
              <a:t>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1600" y="6807132"/>
            <a:ext cx="2048256" cy="52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Matches for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97696" y="6821610"/>
            <a:ext cx="365760" cy="50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-&gt;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10928" y="6783771"/>
            <a:ext cx="1975104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7ED957"/>
                </a:solidFill>
                <a:latin typeface="Lato"/>
                <a:ea typeface="Lato"/>
                <a:cs typeface="Lato"/>
                <a:sym typeface="Lato"/>
              </a:rPr>
              <a:t>Doc4.txt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35840" y="6783771"/>
            <a:ext cx="365760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|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984480" y="6783771"/>
            <a:ext cx="2779776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occurrences: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526512" y="6783771"/>
            <a:ext cx="274320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>
                <a:solidFill>
                  <a:srgbClr val="7ED957"/>
                </a:solidFill>
                <a:latin typeface="Lato"/>
                <a:ea typeface="Lato"/>
                <a:cs typeface="Lato"/>
                <a:sym typeface="Lato"/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1600" y="7599231"/>
            <a:ext cx="2048256" cy="525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2"/>
              </a:lnSpc>
            </a:pPr>
            <a:r>
              <a:rPr lang="en-US" sz="303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Matches for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803904" y="7575870"/>
            <a:ext cx="2779776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FF9A2B"/>
                </a:solidFill>
                <a:latin typeface="Lato"/>
                <a:ea typeface="Lato"/>
                <a:cs typeface="Lato"/>
                <a:sym typeface="Lato"/>
              </a:rPr>
              <a:t>'car'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97696" y="7613709"/>
            <a:ext cx="365760" cy="505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6"/>
              </a:lnSpc>
            </a:pPr>
            <a:r>
              <a:rPr lang="en-US" sz="299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-&gt;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10928" y="7575870"/>
            <a:ext cx="1975104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7ED957"/>
                </a:solidFill>
                <a:latin typeface="Lato"/>
                <a:ea typeface="Lato"/>
                <a:cs typeface="Lato"/>
                <a:sym typeface="Lato"/>
              </a:rPr>
              <a:t>Doc4.txt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35840" y="7575870"/>
            <a:ext cx="365760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|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984480" y="7575870"/>
            <a:ext cx="2779776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5"/>
              </a:lnSpc>
            </a:pPr>
            <a:r>
              <a:rPr lang="en-US" sz="3232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occurrences: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526512" y="7575870"/>
            <a:ext cx="274320" cy="562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>
                <a:solidFill>
                  <a:srgbClr val="7ED957"/>
                </a:solidFill>
                <a:latin typeface="Lato"/>
                <a:ea typeface="Lato"/>
                <a:cs typeface="Lato"/>
                <a:sym typeface="Lato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086" y="1071335"/>
            <a:ext cx="8072096" cy="4930326"/>
          </a:xfrm>
          <a:custGeom>
            <a:avLst/>
            <a:gdLst/>
            <a:ahLst/>
            <a:cxnLst/>
            <a:rect r="r" b="b" t="t" l="l"/>
            <a:pathLst>
              <a:path h="4930326" w="8072096">
                <a:moveTo>
                  <a:pt x="0" y="0"/>
                </a:moveTo>
                <a:lnTo>
                  <a:pt x="8072096" y="0"/>
                </a:lnTo>
                <a:lnTo>
                  <a:pt x="8072096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5216" y="351726"/>
            <a:ext cx="9985248" cy="1106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499" b="true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Conclusion &amp; Future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85216" y="1894813"/>
            <a:ext cx="3364992" cy="42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494" b="true">
                <a:solidFill>
                  <a:srgbClr val="3890FF"/>
                </a:solidFill>
                <a:latin typeface="Lato Bold"/>
                <a:ea typeface="Lato Bold"/>
                <a:cs typeface="Lato Bold"/>
                <a:sym typeface="Lato Bold"/>
              </a:rPr>
              <a:t>WHAT WE ACHIEVED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5216" y="2462918"/>
            <a:ext cx="3950208" cy="7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21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Delivered high-efficiency search with semantic awareness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5216" y="3522479"/>
            <a:ext cx="5084064" cy="7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21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Built a modular Java framework with robust data structures and algorithms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28816" y="1894813"/>
            <a:ext cx="2194560" cy="421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494" b="true">
                <a:solidFill>
                  <a:srgbClr val="3890FF"/>
                </a:solidFill>
                <a:latin typeface="Lato Bold"/>
                <a:ea typeface="Lato Bold"/>
                <a:cs typeface="Lato Bold"/>
                <a:sym typeface="Lato Bold"/>
              </a:rPr>
              <a:t>WHAT’S NEXT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28816" y="2462918"/>
            <a:ext cx="3163824" cy="7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21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Support multi-format files (PDF, DOCX)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28816" y="3409322"/>
            <a:ext cx="3364992" cy="7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21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Integrate persistent storage (SQLite / MySQL)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28816" y="4355726"/>
            <a:ext cx="3584448" cy="7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1"/>
              </a:lnSpc>
            </a:pPr>
            <a:r>
              <a:rPr lang="en-US" sz="221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Incorporate TF-ID weighting for relevance scoring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64086" y="5564382"/>
            <a:ext cx="2843828" cy="2153601"/>
          </a:xfrm>
          <a:custGeom>
            <a:avLst/>
            <a:gdLst/>
            <a:ahLst/>
            <a:cxnLst/>
            <a:rect r="r" b="b" t="t" l="l"/>
            <a:pathLst>
              <a:path h="2153601" w="2843828">
                <a:moveTo>
                  <a:pt x="0" y="0"/>
                </a:moveTo>
                <a:lnTo>
                  <a:pt x="2843828" y="0"/>
                </a:lnTo>
                <a:lnTo>
                  <a:pt x="284382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48256" y="5782313"/>
            <a:ext cx="694944" cy="796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7"/>
              </a:lnSpc>
            </a:pPr>
            <a:r>
              <a:rPr lang="en-US" sz="4712" b="true">
                <a:solidFill>
                  <a:srgbClr val="3890FF"/>
                </a:solidFill>
                <a:latin typeface="Lato Bold"/>
                <a:ea typeface="Lato Bold"/>
                <a:cs typeface="Lato Bold"/>
                <a:sym typeface="Lato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27632" y="6676359"/>
            <a:ext cx="1517904" cy="7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Foundation Complete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998574" y="5564382"/>
            <a:ext cx="3062584" cy="2153601"/>
          </a:xfrm>
          <a:custGeom>
            <a:avLst/>
            <a:gdLst/>
            <a:ahLst/>
            <a:cxnLst/>
            <a:rect r="r" b="b" t="t" l="l"/>
            <a:pathLst>
              <a:path h="2153601" w="3062584">
                <a:moveTo>
                  <a:pt x="0" y="0"/>
                </a:moveTo>
                <a:lnTo>
                  <a:pt x="3062584" y="0"/>
                </a:lnTo>
                <a:lnTo>
                  <a:pt x="3062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44768" y="5730330"/>
            <a:ext cx="786384" cy="88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5132" b="true">
                <a:solidFill>
                  <a:srgbClr val="3890FF"/>
                </a:solidFill>
                <a:latin typeface="Lato Bold"/>
                <a:ea typeface="Lato Bold"/>
                <a:cs typeface="Lato Bold"/>
                <a:sym typeface="Lato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33872" y="6676359"/>
            <a:ext cx="1408176" cy="7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Storage Integration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351818" y="5564382"/>
            <a:ext cx="3062584" cy="2153601"/>
          </a:xfrm>
          <a:custGeom>
            <a:avLst/>
            <a:gdLst/>
            <a:ahLst/>
            <a:cxnLst/>
            <a:rect r="r" b="b" t="t" l="l"/>
            <a:pathLst>
              <a:path h="2153601" w="3062584">
                <a:moveTo>
                  <a:pt x="0" y="0"/>
                </a:moveTo>
                <a:lnTo>
                  <a:pt x="3062584" y="0"/>
                </a:lnTo>
                <a:lnTo>
                  <a:pt x="3062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515600" y="5730330"/>
            <a:ext cx="786384" cy="88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5132" b="true">
                <a:solidFill>
                  <a:srgbClr val="3890FF"/>
                </a:solidFill>
                <a:latin typeface="Lato Bold"/>
                <a:ea typeface="Lato Bold"/>
                <a:cs typeface="Lato Bold"/>
                <a:sym typeface="Lato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03536" y="6676359"/>
            <a:ext cx="1773936" cy="7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Relevance Enhancement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716000" y="5564382"/>
            <a:ext cx="2832890" cy="2153601"/>
          </a:xfrm>
          <a:custGeom>
            <a:avLst/>
            <a:gdLst/>
            <a:ahLst/>
            <a:cxnLst/>
            <a:rect r="r" b="b" t="t" l="l"/>
            <a:pathLst>
              <a:path h="2153601" w="2832890">
                <a:moveTo>
                  <a:pt x="0" y="0"/>
                </a:moveTo>
                <a:lnTo>
                  <a:pt x="2832890" y="0"/>
                </a:lnTo>
                <a:lnTo>
                  <a:pt x="283289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740128" y="5730330"/>
            <a:ext cx="786384" cy="88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5"/>
              </a:lnSpc>
            </a:pPr>
            <a:r>
              <a:rPr lang="en-US" sz="5132" b="true">
                <a:solidFill>
                  <a:srgbClr val="3890FF"/>
                </a:solidFill>
                <a:latin typeface="Lato Bold"/>
                <a:ea typeface="Lato Bold"/>
                <a:cs typeface="Lato Bold"/>
                <a:sym typeface="Lato Bold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47520" y="6676359"/>
            <a:ext cx="1353312" cy="7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</a:pPr>
            <a:r>
              <a:rPr lang="en-US" sz="22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Expansion &amp; Scale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3696976" y="6428009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050220" y="6428009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403464" y="6428009"/>
            <a:ext cx="1312536" cy="437279"/>
          </a:xfrm>
          <a:custGeom>
            <a:avLst/>
            <a:gdLst/>
            <a:ahLst/>
            <a:cxnLst/>
            <a:rect r="r" b="b" t="t" l="l"/>
            <a:pathLst>
              <a:path h="437279" w="1312536">
                <a:moveTo>
                  <a:pt x="0" y="0"/>
                </a:moveTo>
                <a:lnTo>
                  <a:pt x="1312536" y="0"/>
                </a:lnTo>
                <a:lnTo>
                  <a:pt x="131253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26574" y="7925691"/>
            <a:ext cx="16778584" cy="218640"/>
          </a:xfrm>
          <a:custGeom>
            <a:avLst/>
            <a:gdLst/>
            <a:ahLst/>
            <a:cxnLst/>
            <a:rect r="r" b="b" t="t" l="l"/>
            <a:pathLst>
              <a:path h="218640" w="16778584">
                <a:moveTo>
                  <a:pt x="0" y="0"/>
                </a:moveTo>
                <a:lnTo>
                  <a:pt x="16778584" y="0"/>
                </a:lnTo>
                <a:lnTo>
                  <a:pt x="16778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176622" y="7499343"/>
            <a:ext cx="437512" cy="644987"/>
          </a:xfrm>
          <a:custGeom>
            <a:avLst/>
            <a:gdLst/>
            <a:ahLst/>
            <a:cxnLst/>
            <a:rect r="r" b="b" t="t" l="l"/>
            <a:pathLst>
              <a:path h="644987" w="437512">
                <a:moveTo>
                  <a:pt x="0" y="0"/>
                </a:moveTo>
                <a:lnTo>
                  <a:pt x="437512" y="0"/>
                </a:lnTo>
                <a:lnTo>
                  <a:pt x="43751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77824" y="8161491"/>
            <a:ext cx="3108960" cy="75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19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Semantic indexing engine and core search ready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6311110" y="7499343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413248" y="8161491"/>
            <a:ext cx="2267712" cy="75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7"/>
              </a:lnSpc>
            </a:pPr>
            <a:r>
              <a:rPr lang="en-US" sz="219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Persistent storage and data durability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664354" y="7499343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290304" y="8141342"/>
            <a:ext cx="3200400" cy="7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1"/>
              </a:lnSpc>
            </a:pPr>
            <a:r>
              <a:rPr lang="en-US" sz="221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TF-ID based scoring and ranking improvements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4798842" y="7499343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3807440" y="8161184"/>
            <a:ext cx="2633472" cy="75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3"/>
              </a:lnSpc>
            </a:pPr>
            <a:r>
              <a:rPr lang="en-US" sz="2166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Multi-format support and scalability growth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345936" y="9232749"/>
            <a:ext cx="5157216" cy="67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3"/>
              </a:lnSpc>
            </a:pPr>
            <a:r>
              <a:rPr lang="en-US" sz="3995" b="true">
                <a:solidFill>
                  <a:srgbClr val="F17E1E"/>
                </a:solidFill>
                <a:latin typeface="Lato Bold"/>
                <a:ea typeface="Lato Bold"/>
                <a:cs typeface="Lato Bold"/>
                <a:sym typeface="Lato Bold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DAHVdyvcd4s</dc:identifier>
  <dcterms:modified xsi:type="dcterms:W3CDTF">2011-08-01T06:04:30Z</dcterms:modified>
  <cp:revision>1</cp:revision>
  <dc:title>KMPMatcher,java</dc:title>
</cp:coreProperties>
</file>