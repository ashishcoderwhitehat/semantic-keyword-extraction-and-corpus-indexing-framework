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534" autoAdjust="0"/>
  </p:normalViewPr>
  <p:slideViewPr>
    <p:cSldViewPr snapToGrid="0" snapToObjects="1">
      <p:cViewPr>
        <p:scale>
          <a:sx n="100" d="100"/>
          <a:sy n="100" d="100"/>
        </p:scale>
        <p:origin x="-24" y="-108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6BD3E-4167-4970-8212-0B103185D73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6D17A-8AC6-4B3F-A5E4-4B0AA8597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000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Nowadays we have a large amount of textual data, so searching through documents efficiently is important.</a:t>
            </a:r>
            <a:br>
              <a:rPr lang="en-IN" dirty="0"/>
            </a:br>
            <a:r>
              <a:rPr lang="en-IN" dirty="0"/>
              <a:t>A simple approach would scan documents one by one for every query, which becomes inefficient as the corpus grows.</a:t>
            </a:r>
            <a:br>
              <a:rPr lang="en-IN" dirty="0"/>
            </a:br>
            <a:r>
              <a:rPr lang="en-IN" dirty="0"/>
              <a:t>There are also practical problems like spelling mistakes and vocabulary differences.</a:t>
            </a:r>
            <a:br>
              <a:rPr lang="en-IN" dirty="0"/>
            </a:br>
            <a:r>
              <a:rPr lang="en-IN" dirty="0"/>
              <a:t>For example, a user may search for "car", while the document contains "automobile".</a:t>
            </a:r>
            <a:br>
              <a:rPr lang="en-IN" dirty="0"/>
            </a:br>
            <a:r>
              <a:rPr lang="en-IN" dirty="0"/>
              <a:t>So our system tries to solve these problems using indexing, semantic expansion and fuzzy matching.</a:t>
            </a:r>
          </a:p>
          <a:p>
            <a:endParaRPr lang="en-IN" dirty="0"/>
          </a:p>
          <a:p>
            <a:r>
              <a:rPr lang="en-IN" b="1" dirty="0"/>
              <a:t>Easy example to remember:</a:t>
            </a:r>
          </a:p>
          <a:p>
            <a:r>
              <a:rPr lang="en-IN" b="1" dirty="0"/>
              <a:t>Normal search:</a:t>
            </a:r>
            <a:r>
              <a:rPr lang="en-IN" dirty="0"/>
              <a:t> scan documents → find result.</a:t>
            </a:r>
            <a:br>
              <a:rPr lang="en-IN" dirty="0"/>
            </a:br>
            <a:r>
              <a:rPr lang="en-IN" b="1" dirty="0"/>
              <a:t>Our search:</a:t>
            </a:r>
            <a:r>
              <a:rPr lang="en-IN" dirty="0"/>
              <a:t> index → retrieve candidate documents → apply algorithms → show result.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6D17A-8AC6-4B3F-A5E4-4B0AA8597B6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265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Our first objective is to build an inverted index that maps keywords to the documents containing them.</a:t>
            </a:r>
            <a:br>
              <a:rPr lang="en-IN" dirty="0"/>
            </a:br>
            <a:r>
              <a:rPr lang="en-IN" dirty="0"/>
              <a:t>Second, we use KMP for efficient exact pattern matching.</a:t>
            </a:r>
            <a:br>
              <a:rPr lang="en-IN" dirty="0"/>
            </a:br>
            <a:r>
              <a:rPr lang="en-IN" dirty="0"/>
              <a:t>Third, we use </a:t>
            </a:r>
            <a:r>
              <a:rPr lang="en-IN" dirty="0" err="1"/>
              <a:t>Levenshtein</a:t>
            </a:r>
            <a:r>
              <a:rPr lang="en-IN" dirty="0"/>
              <a:t> edit distance to handle spelling mistakes.</a:t>
            </a:r>
            <a:br>
              <a:rPr lang="en-IN" dirty="0"/>
            </a:br>
            <a:r>
              <a:rPr lang="en-IN" dirty="0"/>
              <a:t>Fourth, we use a Trie for prefix-based suggestions.</a:t>
            </a:r>
            <a:br>
              <a:rPr lang="en-IN" dirty="0"/>
            </a:br>
            <a:r>
              <a:rPr lang="en-IN" dirty="0"/>
              <a:t>Finally, we use semantic expansion to search related terms and provide a simple GUI for the user.</a:t>
            </a:r>
          </a:p>
          <a:p>
            <a:r>
              <a:rPr lang="en-IN" b="1" dirty="0"/>
              <a:t>Literature review</a:t>
            </a:r>
          </a:p>
          <a:p>
            <a:r>
              <a:rPr lang="en-IN" dirty="0"/>
              <a:t>We studied existing approaches such as brute-force searching, database full-text search and enterprise search systems.</a:t>
            </a:r>
            <a:br>
              <a:rPr lang="en-IN" dirty="0"/>
            </a:br>
            <a:r>
              <a:rPr lang="en-IN" dirty="0"/>
              <a:t>These approaches either involve repeated scanning or require heavier infrastructure.</a:t>
            </a:r>
            <a:br>
              <a:rPr lang="en-IN" dirty="0"/>
            </a:br>
            <a:r>
              <a:rPr lang="en-IN" dirty="0"/>
              <a:t>Our project focuses on combining classical DSA algorithms into a lightweight standalone system.</a:t>
            </a:r>
          </a:p>
          <a:p>
            <a:r>
              <a:rPr lang="en-IN" b="1" dirty="0"/>
              <a:t>If they ask "What is your research gap?"</a:t>
            </a:r>
          </a:p>
          <a:p>
            <a:r>
              <a:rPr lang="en-IN" dirty="0"/>
              <a:t>Existing approaches often focus on individual search techniques. Our project combines indexing, exact matching, fuzzy matching, prefix suggestions and semantic expansion into one educational framework.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6D17A-8AC6-4B3F-A5E4-4B0AA8597B6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516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Slide 4 — Proposed System &amp; Architecture</a:t>
            </a:r>
          </a:p>
          <a:p>
            <a:r>
              <a:rPr lang="en-IN" dirty="0"/>
              <a:t>Point to the diagram while speaking.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This is our overall architecture.</a:t>
            </a:r>
            <a:br>
              <a:rPr lang="en-IN" dirty="0"/>
            </a:br>
            <a:r>
              <a:rPr lang="en-IN" dirty="0"/>
              <a:t>First, documents are loaded and </a:t>
            </a:r>
            <a:r>
              <a:rPr lang="en-IN" dirty="0" err="1"/>
              <a:t>preprocessed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The keywords are stored in two structures: an inverted index and a Trie.</a:t>
            </a:r>
            <a:br>
              <a:rPr lang="en-IN" dirty="0"/>
            </a:br>
            <a:r>
              <a:rPr lang="en-IN" dirty="0"/>
              <a:t>When the user enters a query, the Search Engine processes it.</a:t>
            </a:r>
            <a:br>
              <a:rPr lang="en-IN" dirty="0"/>
            </a:br>
            <a:r>
              <a:rPr lang="en-IN" dirty="0"/>
              <a:t>The inverted index helps identify relevant documents, the Trie provides prefix suggestions, semantic expansion adds related terms, KMP performs exact matching, and edit distance handles fuzzy matching.</a:t>
            </a:r>
            <a:br>
              <a:rPr lang="en-IN" dirty="0"/>
            </a:br>
            <a:r>
              <a:rPr lang="en-IN" dirty="0"/>
              <a:t>Finally, the results are displayed through our Java Swing GUI.</a:t>
            </a:r>
          </a:p>
          <a:p>
            <a:r>
              <a:rPr lang="en-IN" b="1" dirty="0"/>
              <a:t>Very important:</a:t>
            </a:r>
          </a:p>
          <a:p>
            <a:r>
              <a:rPr lang="en-IN" dirty="0"/>
              <a:t>If asked </a:t>
            </a:r>
            <a:r>
              <a:rPr lang="en-IN" b="1" dirty="0"/>
              <a:t>"Why two data structures?"</a:t>
            </a:r>
            <a:endParaRPr lang="en-IN" dirty="0"/>
          </a:p>
          <a:p>
            <a:r>
              <a:rPr lang="en-IN" dirty="0"/>
              <a:t>The inverted index is optimized for keyword-to-document lookup, while the Trie is optimized for prefix-based suggestions. They solve different parts of the search problem.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6D17A-8AC6-4B3F-A5E4-4B0AA8597B6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501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Slide 5 — Methodology &amp; Algorithms</a:t>
            </a:r>
          </a:p>
          <a:p>
            <a:r>
              <a:rPr lang="en-IN" dirty="0"/>
              <a:t>This is probably your </a:t>
            </a:r>
            <a:r>
              <a:rPr lang="en-IN" b="1" dirty="0"/>
              <a:t>most important slide</a:t>
            </a:r>
            <a:r>
              <a:rPr lang="en-IN" dirty="0"/>
              <a:t> for DSA.</a:t>
            </a:r>
          </a:p>
          <a:p>
            <a:r>
              <a:rPr lang="en-IN" b="1" dirty="0"/>
              <a:t>Preprocessing</a:t>
            </a:r>
          </a:p>
          <a:p>
            <a:r>
              <a:rPr lang="en-IN" dirty="0"/>
              <a:t>First, we read the documents and clean the text.</a:t>
            </a:r>
            <a:br>
              <a:rPr lang="en-IN" dirty="0"/>
            </a:br>
            <a:r>
              <a:rPr lang="en-IN" dirty="0"/>
              <a:t>We convert it to lowercase, remove unnecessary characters and remove </a:t>
            </a:r>
            <a:r>
              <a:rPr lang="en-IN" dirty="0" err="1"/>
              <a:t>stopwords</a:t>
            </a:r>
            <a:r>
              <a:rPr lang="en-IN" dirty="0"/>
              <a:t> such as "the", "is" and "a".</a:t>
            </a:r>
          </a:p>
          <a:p>
            <a:r>
              <a:rPr lang="en-IN" b="1" dirty="0"/>
              <a:t>Inverted Index</a:t>
            </a:r>
          </a:p>
          <a:p>
            <a:r>
              <a:rPr lang="en-IN" dirty="0"/>
              <a:t>Then we create an inverted index using a HashMap.</a:t>
            </a:r>
            <a:br>
              <a:rPr lang="en-IN" dirty="0"/>
            </a:br>
            <a:r>
              <a:rPr lang="en-IN" dirty="0"/>
              <a:t>The keyword is the key and the set of document IDs is the value.</a:t>
            </a:r>
          </a:p>
          <a:p>
            <a:r>
              <a:rPr lang="en-IN" dirty="0"/>
              <a:t>Example: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 → [Doc1]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computer → [Doc2, Doc4]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 → [Doc3]</a:t>
            </a:r>
          </a:p>
          <a:p>
            <a:r>
              <a:rPr lang="en-IN" b="1" dirty="0"/>
              <a:t>Trie</a:t>
            </a:r>
          </a:p>
          <a:p>
            <a:r>
              <a:rPr lang="en-IN" dirty="0"/>
              <a:t>We also insert keywords into a Trie. This allows us to find words based on a prefix, such as typing "pro" and getting "programming".</a:t>
            </a:r>
          </a:p>
          <a:p>
            <a:r>
              <a:rPr lang="en-IN" b="1" dirty="0"/>
              <a:t>KMP</a:t>
            </a:r>
          </a:p>
          <a:p>
            <a:r>
              <a:rPr lang="en-IN" dirty="0"/>
              <a:t>For exact matching, we use KMP.</a:t>
            </a:r>
            <a:br>
              <a:rPr lang="en-IN" dirty="0"/>
            </a:br>
            <a:r>
              <a:rPr lang="en-IN" dirty="0"/>
              <a:t>KMP creates an LPS array, which tells us how much of the pattern can be reused after a mismatch.</a:t>
            </a:r>
            <a:br>
              <a:rPr lang="en-IN" dirty="0"/>
            </a:br>
            <a:r>
              <a:rPr lang="en-IN" dirty="0"/>
              <a:t>This prevents unnecessary backtracking and gives O(N + M) time complexity.</a:t>
            </a:r>
          </a:p>
          <a:p>
            <a:r>
              <a:rPr lang="en-IN" b="1" dirty="0"/>
              <a:t>Edit Distance</a:t>
            </a:r>
          </a:p>
          <a:p>
            <a:r>
              <a:rPr lang="en-IN" dirty="0"/>
              <a:t>If exact matching doesn't give a result, we use </a:t>
            </a:r>
            <a:r>
              <a:rPr lang="en-IN" dirty="0" err="1"/>
              <a:t>Levenshtein</a:t>
            </a:r>
            <a:r>
              <a:rPr lang="en-IN" dirty="0"/>
              <a:t> edit distance.</a:t>
            </a:r>
            <a:br>
              <a:rPr lang="en-IN" dirty="0"/>
            </a:br>
            <a:r>
              <a:rPr lang="en-IN" dirty="0"/>
              <a:t>It measures how many insertions, deletions or replacements are needed to convert one word into another.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6D17A-8AC6-4B3F-A5E4-4B0AA8597B6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230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Slide 6 — Tools &amp; Technologies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We implemented the project in Java using Eclipse IDE.</a:t>
            </a:r>
            <a:br>
              <a:rPr lang="en-IN" dirty="0"/>
            </a:br>
            <a:r>
              <a:rPr lang="en-IN" dirty="0"/>
              <a:t>We use Java Collections such as HashMap, HashSet and </a:t>
            </a:r>
            <a:r>
              <a:rPr lang="en-IN" dirty="0" err="1"/>
              <a:t>ArrayList</a:t>
            </a:r>
            <a:r>
              <a:rPr lang="en-IN" dirty="0"/>
              <a:t> for our data structures.</a:t>
            </a:r>
            <a:br>
              <a:rPr lang="en-IN" dirty="0"/>
            </a:br>
            <a:r>
              <a:rPr lang="en-IN" dirty="0"/>
              <a:t>Java NIO is used for reading text files.</a:t>
            </a:r>
            <a:br>
              <a:rPr lang="en-IN" dirty="0"/>
            </a:br>
            <a:r>
              <a:rPr lang="en-IN" dirty="0"/>
              <a:t>For the interface, we use Java Swing and AWT.</a:t>
            </a:r>
            <a:br>
              <a:rPr lang="en-IN" dirty="0"/>
            </a:br>
            <a:r>
              <a:rPr lang="en-IN" dirty="0"/>
              <a:t>The project doesn't require external libraries, databases or internet connectivity.</a:t>
            </a:r>
          </a:p>
          <a:p>
            <a:r>
              <a:rPr lang="en-IN" b="1" dirty="0"/>
              <a:t>If asked "Why Java?"</a:t>
            </a:r>
          </a:p>
          <a:p>
            <a:r>
              <a:rPr lang="en-IN" dirty="0"/>
              <a:t>Java is object-oriented, platform-independent and already provides the basic collection structures we need, while still allowing us to implement the main algorithms ourselves.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6D17A-8AC6-4B3F-A5E4-4B0AA8597B6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944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Slide 7 — Implementation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We divided the project into multiple modules so each component has a specific responsibility.</a:t>
            </a:r>
          </a:p>
          <a:p>
            <a:r>
              <a:rPr lang="en-IN" dirty="0"/>
              <a:t>Then quickly explain:</a:t>
            </a:r>
          </a:p>
          <a:p>
            <a:pPr lvl="0"/>
            <a:r>
              <a:rPr lang="en-IN" b="1" dirty="0" err="1"/>
              <a:t>TextPreprocessor</a:t>
            </a:r>
            <a:r>
              <a:rPr lang="en-IN" dirty="0"/>
              <a:t> → cleans and tokenizes text.</a:t>
            </a:r>
          </a:p>
          <a:p>
            <a:pPr lvl="0"/>
            <a:r>
              <a:rPr lang="en-IN" b="1" dirty="0" err="1"/>
              <a:t>InvertedIndex</a:t>
            </a:r>
            <a:r>
              <a:rPr lang="en-IN" dirty="0"/>
              <a:t> → keyword-to-document mapping.</a:t>
            </a:r>
          </a:p>
          <a:p>
            <a:pPr lvl="0"/>
            <a:r>
              <a:rPr lang="en-IN" b="1" dirty="0"/>
              <a:t>Trie</a:t>
            </a:r>
            <a:r>
              <a:rPr lang="en-IN" dirty="0"/>
              <a:t> → prefix suggestions.</a:t>
            </a:r>
          </a:p>
          <a:p>
            <a:pPr lvl="0"/>
            <a:r>
              <a:rPr lang="en-IN" b="1" dirty="0" err="1"/>
              <a:t>KMPMatcher</a:t>
            </a:r>
            <a:r>
              <a:rPr lang="en-IN" dirty="0"/>
              <a:t> → exact occurrence counting.</a:t>
            </a:r>
          </a:p>
          <a:p>
            <a:pPr lvl="0"/>
            <a:r>
              <a:rPr lang="en-IN" b="1" dirty="0" err="1"/>
              <a:t>EditDistance</a:t>
            </a:r>
            <a:r>
              <a:rPr lang="en-IN" dirty="0"/>
              <a:t> → fuzzy matching.</a:t>
            </a:r>
          </a:p>
          <a:p>
            <a:pPr lvl="0"/>
            <a:r>
              <a:rPr lang="en-IN" b="1" dirty="0" err="1"/>
              <a:t>SemanticExpander</a:t>
            </a:r>
            <a:r>
              <a:rPr lang="en-IN" dirty="0"/>
              <a:t> → related keyword expansion.</a:t>
            </a:r>
          </a:p>
          <a:p>
            <a:pPr lvl="0"/>
            <a:r>
              <a:rPr lang="en-IN" b="1" dirty="0" err="1"/>
              <a:t>SearchEngine</a:t>
            </a:r>
            <a:r>
              <a:rPr lang="en-IN" dirty="0"/>
              <a:t> → connects all components.</a:t>
            </a:r>
          </a:p>
          <a:p>
            <a:pPr lvl="0"/>
            <a:r>
              <a:rPr lang="en-IN" b="1" dirty="0" err="1"/>
              <a:t>SearchGUI</a:t>
            </a:r>
            <a:r>
              <a:rPr lang="en-IN" dirty="0"/>
              <a:t> → provides the user interface.</a:t>
            </a:r>
          </a:p>
          <a:p>
            <a:r>
              <a:rPr lang="en-IN" b="1" dirty="0"/>
              <a:t>Very good line for viva:</a:t>
            </a:r>
          </a:p>
          <a:p>
            <a:r>
              <a:rPr lang="en-IN" dirty="0"/>
              <a:t>"We followed a modular design, so the algorithms are separated from the user interface."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6D17A-8AC6-4B3F-A5E4-4B0AA8597B6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218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Slide 8 — Results: Exact &amp; Semantic Search</a:t>
            </a:r>
          </a:p>
          <a:p>
            <a:r>
              <a:rPr lang="en-IN" dirty="0"/>
              <a:t>This is where you should </a:t>
            </a:r>
            <a:r>
              <a:rPr lang="en-IN" b="1" dirty="0"/>
              <a:t>actually demonstrate the GUI</a:t>
            </a:r>
            <a:r>
              <a:rPr lang="en-IN" dirty="0"/>
              <a:t> if they allow it.</a:t>
            </a:r>
          </a:p>
          <a:p>
            <a:r>
              <a:rPr lang="en-IN" b="1" dirty="0"/>
              <a:t>For </a:t>
            </a:r>
            <a:r>
              <a:rPr lang="en-I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</a:t>
            </a:r>
            <a:endParaRPr lang="en-IN" b="1" dirty="0"/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Here we search for "java".</a:t>
            </a:r>
            <a:br>
              <a:rPr lang="en-IN" dirty="0"/>
            </a:br>
            <a:r>
              <a:rPr lang="en-IN" dirty="0"/>
              <a:t>The Trie can suggest the keyword, the inverted index identifies Doc1, and KMP then counts the exact occurrences of "java" in that document.</a:t>
            </a:r>
          </a:p>
          <a:p>
            <a:r>
              <a:rPr lang="en-IN" dirty="0"/>
              <a:t>If your screenshot shows 2 occurrences:</a:t>
            </a:r>
          </a:p>
          <a:p>
            <a:r>
              <a:rPr lang="en-IN" dirty="0"/>
              <a:t>In our sample document, KMP identifies two occurrences.</a:t>
            </a:r>
          </a:p>
          <a:p>
            <a:r>
              <a:rPr lang="en-IN" b="1" dirty="0"/>
              <a:t>For </a:t>
            </a:r>
            <a:r>
              <a:rPr lang="en-I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</a:t>
            </a:r>
            <a:endParaRPr lang="en-IN" b="1" dirty="0"/>
          </a:p>
          <a:p>
            <a:r>
              <a:rPr lang="en-IN" dirty="0"/>
              <a:t>Here we search for "car".</a:t>
            </a:r>
            <a:br>
              <a:rPr lang="en-IN" dirty="0"/>
            </a:br>
            <a:r>
              <a:rPr lang="en-IN" dirty="0"/>
              <a:t>Our semantic expansion connects car with related terms such as automobile and vehicle.</a:t>
            </a:r>
            <a:br>
              <a:rPr lang="en-IN" dirty="0"/>
            </a:br>
            <a:r>
              <a:rPr lang="en-IN" dirty="0"/>
              <a:t>This allows the system to retrieve Doc4 even when the document primarily uses related terminology.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6D17A-8AC6-4B3F-A5E4-4B0AA8597B6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692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Slide 9 — Fuzzy Search &amp; Testing</a:t>
            </a:r>
          </a:p>
          <a:p>
            <a:r>
              <a:rPr lang="en-IN" b="1" dirty="0"/>
              <a:t>Fuzzy example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This example demonstrates fault tolerance.</a:t>
            </a:r>
            <a:br>
              <a:rPr lang="en-IN" dirty="0"/>
            </a:br>
            <a:r>
              <a:rPr lang="en-IN" dirty="0"/>
              <a:t>Suppose the user types "</a:t>
            </a:r>
            <a:r>
              <a:rPr lang="en-IN" dirty="0" err="1"/>
              <a:t>computr</a:t>
            </a:r>
            <a:r>
              <a:rPr lang="en-IN" dirty="0"/>
              <a:t>" instead of "computer".</a:t>
            </a:r>
            <a:br>
              <a:rPr lang="en-IN" dirty="0"/>
            </a:br>
            <a:r>
              <a:rPr lang="en-IN" dirty="0"/>
              <a:t>Exact matching won't find the word.</a:t>
            </a:r>
            <a:br>
              <a:rPr lang="en-IN" dirty="0"/>
            </a:br>
            <a:r>
              <a:rPr lang="en-IN" dirty="0"/>
              <a:t>So the system uses </a:t>
            </a:r>
            <a:r>
              <a:rPr lang="en-IN" dirty="0" err="1"/>
              <a:t>Levenshtein</a:t>
            </a:r>
            <a:r>
              <a:rPr lang="en-IN" dirty="0"/>
              <a:t> edit distance and identifies "computer" as a similar keyword with distance 1.</a:t>
            </a:r>
          </a:p>
          <a:p>
            <a:r>
              <a:rPr lang="en-IN" b="1" dirty="0"/>
              <a:t>Testing</a:t>
            </a:r>
          </a:p>
          <a:p>
            <a:r>
              <a:rPr lang="en-IN" dirty="0"/>
              <a:t>We tested exact search, semantic search, fuzzy search, Trie suggestions and </a:t>
            </a:r>
            <a:r>
              <a:rPr lang="en-IN" dirty="0" err="1"/>
              <a:t>stopword</a:t>
            </a:r>
            <a:r>
              <a:rPr lang="en-IN" dirty="0"/>
              <a:t> filtering.</a:t>
            </a:r>
            <a:br>
              <a:rPr lang="en-IN" dirty="0"/>
            </a:br>
            <a:r>
              <a:rPr lang="en-IN" dirty="0"/>
              <a:t>The test cases shown here passed successfully.</a:t>
            </a:r>
          </a:p>
          <a:p>
            <a:r>
              <a:rPr lang="en-IN" b="1" dirty="0"/>
              <a:t>If asked "What does distance 1 mean?"</a:t>
            </a:r>
          </a:p>
          <a:p>
            <a:r>
              <a:rPr lang="en-IN" dirty="0"/>
              <a:t>It means only one insertion, deletion or replacement is required to transform one word into the other.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6D17A-8AC6-4B3F-A5E4-4B0AA8597B6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171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Slide 10 — Advantages &amp; Applications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The main advantage of our system is that different algorithms work together rather than using only one search technique.</a:t>
            </a:r>
            <a:br>
              <a:rPr lang="en-IN" dirty="0"/>
            </a:br>
            <a:r>
              <a:rPr lang="en-IN" dirty="0"/>
              <a:t>The inverted index gives fast keyword-to-document lookup.</a:t>
            </a:r>
            <a:br>
              <a:rPr lang="en-IN" dirty="0"/>
            </a:br>
            <a:r>
              <a:rPr lang="en-IN" dirty="0"/>
              <a:t>KMP gives efficient exact matching.</a:t>
            </a:r>
            <a:br>
              <a:rPr lang="en-IN" dirty="0"/>
            </a:br>
            <a:r>
              <a:rPr lang="en-IN" dirty="0"/>
              <a:t>Trie provides prefix suggestions, while edit distance provides tolerance to spelling mistakes.</a:t>
            </a:r>
            <a:br>
              <a:rPr lang="en-IN" dirty="0"/>
            </a:br>
            <a:r>
              <a:rPr lang="en-IN" dirty="0"/>
              <a:t>The system is also lightweight because it runs locally without requiring a server or cloud infrastructure.</a:t>
            </a:r>
          </a:p>
          <a:p>
            <a:r>
              <a:rPr lang="en-IN" b="1" dirty="0"/>
              <a:t>Applications</a:t>
            </a:r>
          </a:p>
          <a:p>
            <a:r>
              <a:rPr lang="en-IN" dirty="0"/>
              <a:t>Similar concepts can be used in desktop document search, digital libraries, academic repositories, code search and other text-search applications.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6D17A-8AC6-4B3F-A5E4-4B0AA8597B6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327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Slide 11 — Challenges, Future Scope &amp; Conclusion</a:t>
            </a:r>
          </a:p>
          <a:p>
            <a:r>
              <a:rPr lang="en-IN" b="1" dirty="0"/>
              <a:t>Challenges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One challenge was avoiding repeated character comparisons during searching, which we addressed using KMP.</a:t>
            </a:r>
            <a:br>
              <a:rPr lang="en-IN" dirty="0"/>
            </a:br>
            <a:r>
              <a:rPr lang="en-IN" dirty="0"/>
              <a:t>Another challenge was handling spelling mistakes, which we addressed using edit distance.</a:t>
            </a:r>
            <a:br>
              <a:rPr lang="en-IN" dirty="0"/>
            </a:br>
            <a:r>
              <a:rPr lang="en-IN" dirty="0"/>
              <a:t>We also had to integrate multiple data structures into one search flow, so we separated the system into modules.</a:t>
            </a:r>
          </a:p>
          <a:p>
            <a:r>
              <a:rPr lang="en-IN" b="1" dirty="0"/>
              <a:t>Future scope</a:t>
            </a:r>
          </a:p>
          <a:p>
            <a:r>
              <a:rPr lang="en-IN" dirty="0"/>
              <a:t>Currently our system is lightweight and uses simple semantic expansion.</a:t>
            </a:r>
            <a:br>
              <a:rPr lang="en-IN" dirty="0"/>
            </a:br>
            <a:r>
              <a:rPr lang="en-IN" dirty="0"/>
              <a:t>In the future, it can be extended with TF-IDF or BM25 ranking, vector embeddings, PDF and DOCX support, and parallel processing for larger corpora.</a:t>
            </a:r>
          </a:p>
          <a:p>
            <a:r>
              <a:rPr lang="en-IN" b="1" dirty="0"/>
              <a:t>Conclusion</a:t>
            </a:r>
          </a:p>
          <a:p>
            <a:r>
              <a:rPr lang="en-IN" dirty="0"/>
              <a:t>Overall, we successfully developed a working text-search engine that demonstrates practical applications of DSA algorithms.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6D17A-8AC6-4B3F-A5E4-4B0AA8597B6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503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Slide 12 — References / Thank You</a:t>
            </a:r>
          </a:p>
          <a:p>
            <a:r>
              <a:rPr lang="en-IN" b="1" dirty="0"/>
              <a:t>Say:</a:t>
            </a:r>
            <a:endParaRPr lang="en-IN" dirty="0"/>
          </a:p>
          <a:p>
            <a:r>
              <a:rPr lang="en-IN" dirty="0"/>
              <a:t>These are the main references we used for the algorithms and information retrieval concepts, including the original KMP paper, </a:t>
            </a:r>
            <a:r>
              <a:rPr lang="en-IN" dirty="0" err="1"/>
              <a:t>Levenshtein's</a:t>
            </a:r>
            <a:r>
              <a:rPr lang="en-IN" dirty="0"/>
              <a:t> work and information retrieval literature.</a:t>
            </a:r>
          </a:p>
          <a:p>
            <a:r>
              <a:rPr lang="en-IN" dirty="0"/>
              <a:t>Then:</a:t>
            </a:r>
          </a:p>
          <a:p>
            <a:r>
              <a:rPr lang="en-IN" dirty="0"/>
              <a:t>Thank you. We are happy to answer your questions.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6D17A-8AC6-4B3F-A5E4-4B0AA8597B6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134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645920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MAJOR PROJECT PRESENTATION • ACADEMIC YEAR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Semantic Keyword Extraction and</a:t>
            </a:r>
            <a:br/>
            <a:r>
              <a:t>Corpus Indexing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An Algorithmic Information Retrieval Engine Integrating Inverted Indexing,</a:t>
            </a:r>
            <a:br/>
            <a:r>
              <a:t>Knuth-Morris-Pratt (KMP) Matching, Levenshtein Edit Distance &amp; Prefix Trie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30175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rPr dirty="0"/>
              <a:t>STUDENT DETAILS</a:t>
            </a:r>
            <a:endParaRPr lang="en-US" dirty="0"/>
          </a:p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endParaRPr dirty="0"/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• </a:t>
            </a:r>
            <a:r>
              <a:rPr lang="en-US" dirty="0"/>
              <a:t>T. Ashish Reddy</a:t>
            </a:r>
            <a:endParaRPr dirty="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Roll No: [</a:t>
            </a:r>
            <a:r>
              <a:rPr lang="en-US" dirty="0"/>
              <a:t>2510080030</a:t>
            </a:r>
            <a:r>
              <a:rPr dirty="0"/>
              <a:t>]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• </a:t>
            </a:r>
            <a:r>
              <a:rPr lang="en-US" dirty="0"/>
              <a:t>T. Karthik Bharadwaj</a:t>
            </a:r>
            <a:endParaRPr dirty="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   Roll No: [</a:t>
            </a:r>
            <a:r>
              <a:rPr lang="en-US" dirty="0"/>
              <a:t>2510080042</a:t>
            </a:r>
            <a:r>
              <a:rPr dirty="0"/>
              <a:t>]</a:t>
            </a:r>
            <a:endParaRPr lang="en-US" dirty="0"/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• Hamesh Reddy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lang="en-US" dirty="0"/>
              <a:t>   Roll No: [2510080003]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• Dhanush Reddy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lang="en-US" dirty="0"/>
              <a:t>   Roll No: [2510080018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3977639"/>
            <a:ext cx="30175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rPr dirty="0"/>
              <a:t>PROJECT SUPERVISOR</a:t>
            </a:r>
            <a:endParaRPr lang="en-US" dirty="0"/>
          </a:p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endParaRPr dirty="0"/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• </a:t>
            </a:r>
            <a:r>
              <a:rPr lang="en-US" dirty="0"/>
              <a:t>Dr. P. Anitha Patil</a:t>
            </a:r>
            <a:endParaRPr dirty="0"/>
          </a:p>
          <a:p>
            <a:pPr>
              <a:defRPr sz="1050">
                <a:solidFill>
                  <a:srgbClr val="94A3B8"/>
                </a:solidFill>
              </a:defRPr>
            </a:pPr>
            <a:r>
              <a:rPr dirty="0"/>
              <a:t>   Designation: Assistant Professor / Associate Prof.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rPr dirty="0"/>
              <a:t>   Dept. of Computer Science &amp; 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3977639"/>
            <a:ext cx="301752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rPr dirty="0"/>
              <a:t>INSTITUTION &amp; DEPARTMENT</a:t>
            </a:r>
            <a:endParaRPr lang="en-US" dirty="0"/>
          </a:p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endParaRPr dirty="0"/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Department of </a:t>
            </a:r>
            <a:r>
              <a:rPr lang="en-US" dirty="0"/>
              <a:t>Artificial Intelligence &amp; Data Science</a:t>
            </a:r>
            <a:endParaRPr dirty="0"/>
          </a:p>
          <a:p>
            <a:pPr>
              <a:defRPr sz="1100">
                <a:solidFill>
                  <a:srgbClr val="34D399"/>
                </a:solidFill>
              </a:defRPr>
            </a:pPr>
            <a:r>
              <a:rPr dirty="0"/>
              <a:t>[</a:t>
            </a:r>
            <a:r>
              <a:rPr lang="en-US" dirty="0"/>
              <a:t>KLH University Aziz Nagar</a:t>
            </a:r>
            <a:r>
              <a:rPr dirty="0"/>
              <a:t>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dirty="0"/>
              <a:t>Affiliated to [University Name]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Semantic Keyword Extraction &amp; Corpus Indexing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PROJECT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Introduction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Semantic Keyword Extraction &amp; Corpus Indexing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2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663440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dirty="0"/>
              <a:t>Background &amp; Need for the Project</a:t>
            </a:r>
            <a:endParaRPr lang="en-US" dirty="0"/>
          </a:p>
          <a:p>
            <a:pPr>
              <a:defRPr sz="1600" b="1">
                <a:solidFill>
                  <a:srgbClr val="2563EB"/>
                </a:solidFill>
              </a:defRPr>
            </a:pPr>
            <a:endParaRPr dirty="0"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 dirty="0"/>
              <a:t>• Explosion of Textual Data: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dirty="0"/>
              <a:t>   Organizations and individual desktops deal with gigabytes of unstructured documents, reports, and code repositories requiring immediate localized retrieval.</a:t>
            </a:r>
            <a:endParaRPr lang="en-US" dirty="0"/>
          </a:p>
          <a:p>
            <a:pPr>
              <a:defRPr sz="1100">
                <a:solidFill>
                  <a:srgbClr val="475569"/>
                </a:solidFill>
              </a:defRPr>
            </a:pPr>
            <a:endParaRPr dirty="0"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 dirty="0"/>
              <a:t>• Deficiencies of Linear Searching: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dirty="0"/>
              <a:t>   Conventional search utilities perform sequential byte/string scans across files, scaling poorly as corpus size and document count expand.</a:t>
            </a:r>
            <a:endParaRPr lang="en-US" dirty="0"/>
          </a:p>
          <a:p>
            <a:pPr>
              <a:defRPr sz="1100">
                <a:solidFill>
                  <a:srgbClr val="475569"/>
                </a:solidFill>
              </a:defRPr>
            </a:pPr>
            <a:endParaRPr dirty="0"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 dirty="0"/>
              <a:t>• Need for Low-Latency Retrieval: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dirty="0"/>
              <a:t>   Users demand instantaneous sub-second keyword lookups without reliance on complex, heavyweight cloud infrastructure or external network dependencies.</a:t>
            </a:r>
            <a:endParaRPr lang="en-US" dirty="0"/>
          </a:p>
          <a:p>
            <a:pPr>
              <a:defRPr sz="1100">
                <a:solidFill>
                  <a:srgbClr val="475569"/>
                </a:solidFill>
              </a:defRPr>
            </a:pPr>
            <a:endParaRPr dirty="0"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 dirty="0"/>
              <a:t>• Lightweight Desktop Architecture: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dirty="0"/>
              <a:t>   A dedicated need exists for a self-contained, memory-efficient framework that couples algorithmic indexing with user-friendly desktop GUI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rPr dirty="0"/>
              <a:t>Clearly Defined Problem Statement</a:t>
            </a:r>
            <a:endParaRPr lang="en-US" dirty="0"/>
          </a:p>
          <a:p>
            <a:pPr>
              <a:defRPr sz="1600" b="1">
                <a:solidFill>
                  <a:srgbClr val="4F46E5"/>
                </a:solidFill>
              </a:defRPr>
            </a:pPr>
            <a:endParaRPr dirty="0"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 dirty="0"/>
              <a:t>• High Time Complexity (O(N×M)):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dirty="0"/>
              <a:t>   Naive pattern searching scans every character across all documents repeatedly, inducing severe computational bottlenecks and high disk I/O.</a:t>
            </a:r>
            <a:endParaRPr lang="en-US" dirty="0"/>
          </a:p>
          <a:p>
            <a:pPr>
              <a:defRPr sz="1100">
                <a:solidFill>
                  <a:srgbClr val="475569"/>
                </a:solidFill>
              </a:defRPr>
            </a:pPr>
            <a:endParaRPr dirty="0"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 dirty="0"/>
              <a:t>• Vocabulary Mismatch &amp; Synonym Blindness: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dirty="0"/>
              <a:t>   Exact-word-only search fails when user queries differ from author terminology (e.g., query 'car' misses documents containing 'automobile' or 'vehicle').</a:t>
            </a:r>
            <a:endParaRPr lang="en-US" dirty="0"/>
          </a:p>
          <a:p>
            <a:pPr>
              <a:defRPr sz="1100">
                <a:solidFill>
                  <a:srgbClr val="475569"/>
                </a:solidFill>
              </a:defRPr>
            </a:pPr>
            <a:endParaRPr dirty="0"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 dirty="0"/>
              <a:t>• Zero Tolerance for Misspellings: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dirty="0"/>
              <a:t>   Traditional indexes yield empty results when queries contain minor typographical errors (e.g., typing '</a:t>
            </a:r>
            <a:r>
              <a:rPr dirty="0" err="1"/>
              <a:t>computr</a:t>
            </a:r>
            <a:r>
              <a:rPr dirty="0"/>
              <a:t>' fails to find 'computer').</a:t>
            </a:r>
            <a:endParaRPr lang="en-US" dirty="0"/>
          </a:p>
          <a:p>
            <a:pPr>
              <a:defRPr sz="1100">
                <a:solidFill>
                  <a:srgbClr val="475569"/>
                </a:solidFill>
              </a:defRPr>
            </a:pPr>
            <a:endParaRPr dirty="0"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 dirty="0"/>
              <a:t>• Absence of Keystroke Guidance: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dirty="0"/>
              <a:t>   Users struggle to formulate queries without real-time prefix suggestions to indicate which terms actively exist within the corpus.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SCOPE &amp; COMPARATIVE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Objectives &amp; 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Semantic Keyword Extraction &amp; Corpus Indexing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3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66344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dirty="0"/>
              <a:t>Main Goals &amp; Expected Outcomes</a:t>
            </a:r>
            <a:endParaRPr lang="en-US" dirty="0"/>
          </a:p>
          <a:p>
            <a:pPr>
              <a:defRPr sz="1600" b="1">
                <a:solidFill>
                  <a:srgbClr val="2563EB"/>
                </a:solidFill>
              </a:defRPr>
            </a:pPr>
            <a:endParaRPr dirty="0"/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sz="1400" dirty="0"/>
              <a:t>• Build an Inverted Index: Construct a hash-based inverted postings index for sub-millisecond document ID retrieval with O(1) average lookup time.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sz="1400" dirty="0"/>
              <a:t>• Implement KMP String Matching: Integrate the Knuth-Morris-Pratt algorithm utilizing Longest Prefix Suffix (LPS) arrays for linear time occurrence counting without backtracking.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sz="1400" dirty="0"/>
              <a:t>• Fault-Tolerant Levenstein Distance: Incorporate dynamic programming edit distance with a threshold &lt;= 2 to recover from typing mistakes and misspellings.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sz="1400" dirty="0"/>
              <a:t>• Real-time Trie Prefix Auto-Suggestions: Build a 26-ary Trie prefix tree to provide instant predictive keystroke suggestions.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sz="1400" dirty="0"/>
              <a:t>• Semantic Synonym Expansion: Develop semantic grouping to expand queries into related conceptual terms.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sz="1400" dirty="0"/>
              <a:t>• Deliver an Intuitive Desktop GUI: Package the entire engine into a polished, responsive Java Swing graphical user interface.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475488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rPr dirty="0"/>
              <a:t>Literature Review &amp; Limitations of Current Work</a:t>
            </a:r>
            <a:endParaRPr lang="en-US" dirty="0"/>
          </a:p>
          <a:p>
            <a:pPr>
              <a:defRPr sz="1600" b="1">
                <a:solidFill>
                  <a:srgbClr val="4F46E5"/>
                </a:solidFill>
              </a:defRPr>
            </a:pPr>
            <a:endParaRPr dirty="0"/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rPr sz="1400" dirty="0"/>
              <a:t>• Brute-Force / Grep Pattern Matching: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 dirty="0"/>
              <a:t>   Scans text files sequentially character-by-character. Limitation: Incurs O(N*M) worst-case time complexity, generates huge disk I/O, and lacks indexing.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rPr sz="1400" dirty="0"/>
              <a:t>• Relational Database Full-Text Search (SQL LIKE):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 dirty="0"/>
              <a:t>   Utilizes SQL wildcard scans ('%query%'). Limitation: Causes full table scans, exhibits poor scalability for free-form corpora, and cannot do fuzzy fallback.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rPr sz="1400" dirty="0"/>
              <a:t>• Enterprise Search Platforms (Elasticsearch / Lucene):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 dirty="0"/>
              <a:t>   Industry standard inverted indexing with BM25. Limitation: Requires heavy server JVM runtimes, complex cluster management, and is overly bloated for lightweight local tools.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rPr sz="1400" dirty="0"/>
              <a:t>• Proposed Framework Advantage: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 dirty="0"/>
              <a:t>   Synthesizes classical algorithmic rigor (KMP + Levenstein + Trie) into a self-contained, zero-dependency desktop architecture that operates in sub-millisecond speeds.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SYSTEM OVERVIEW &amp; ARCHITECTURAL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Proposed System &amp; Architecture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Semantic Keyword Extraction &amp; Corpus Indexing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4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7548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38912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rPr dirty="0"/>
              <a:t>System Components &amp; Key Features</a:t>
            </a:r>
            <a:endParaRPr lang="en-US" dirty="0"/>
          </a:p>
          <a:p>
            <a:pPr>
              <a:defRPr sz="1500" b="1">
                <a:solidFill>
                  <a:srgbClr val="2563EB"/>
                </a:solidFill>
              </a:defRPr>
            </a:pPr>
            <a:endParaRPr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Multi-Tier Hybrid Search Pipeline: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Seamlessly integrates exact match, semantic expansion, and fuzzy distance fallback in a single query flow.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Corpus Preprocessor &amp; Extractor: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Cleans raw documents, normalizes case, eliminates non-alphanumeric noise, and filters non-semantic </a:t>
            </a:r>
            <a:r>
              <a:rPr sz="1200" dirty="0" err="1"/>
              <a:t>stopwords</a:t>
            </a:r>
            <a:r>
              <a:rPr sz="1200" dirty="0"/>
              <a:t>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Dual In-Memory Indexing: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Constructs both an Inverted Index (term-to-doc hash map) and an alphabetical Trie Tree simultaneously.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Semantic Expander Engine: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Enriches input queries using domain synonym maps, discovering relevant documents without literal keyword presence.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Knuth-Morris-Pratt (KMP) Analyzer: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Scans matched documents to count exact term occurrences in O(N) time with zero backtracking.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Bounded </a:t>
            </a:r>
            <a:r>
              <a:rPr sz="1200" dirty="0" err="1"/>
              <a:t>Levenshtein</a:t>
            </a:r>
            <a:r>
              <a:rPr sz="1200" dirty="0"/>
              <a:t> DP Fallback: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Activates bottom-up dynamic programming when exact matches yield zero hits (max edit distance &lt;= 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463040"/>
            <a:ext cx="578815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rchitecture_diagram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200" y="1684014"/>
            <a:ext cx="5405336" cy="4369313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2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ALGORITHMIC PIPELINE &amp; THEORETICAL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Methodology &amp; Algorithmic Complexity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Semantic Keyword Extraction &amp; Corpus Indexing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5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48463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1. Corpus Ingestion &amp; Preprocessing</a:t>
            </a:r>
            <a:endParaRPr lang="en-US" dirty="0"/>
          </a:p>
          <a:p>
            <a:pPr>
              <a:defRPr sz="1400" b="1">
                <a:solidFill>
                  <a:srgbClr val="2563EB"/>
                </a:solidFill>
              </a:defRPr>
            </a:pPr>
            <a:endParaRPr dirty="0"/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200" dirty="0"/>
              <a:t>• Ingestion: Reads documents from directory via NIO </a:t>
            </a:r>
            <a:r>
              <a:rPr sz="1200" dirty="0" err="1"/>
              <a:t>Files.readAllBytes</a:t>
            </a:r>
            <a:r>
              <a:rPr sz="1200" dirty="0"/>
              <a:t>().</a:t>
            </a:r>
            <a:br>
              <a:rPr sz="1200" dirty="0"/>
            </a:br>
            <a:r>
              <a:rPr sz="1200" dirty="0"/>
              <a:t>• Cleaning: Regex [^a-z0-9\s] strips punctuation, numbers, and symbols.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Stopwords</a:t>
            </a:r>
            <a:r>
              <a:rPr sz="1200" dirty="0"/>
              <a:t> Filtering: Removes high-frequency grammatical words (the, is, a, of) using an O(1) HashSet lookup table.</a:t>
            </a:r>
            <a:br>
              <a:rPr sz="1200" dirty="0"/>
            </a:br>
            <a:r>
              <a:rPr sz="1200" dirty="0"/>
              <a:t>• Complexity: O(N) linear time per document corpus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1663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rPr dirty="0"/>
              <a:t>2. Inverted Indexing &amp; Prefix Trie</a:t>
            </a:r>
            <a:endParaRPr lang="en-US" dirty="0"/>
          </a:p>
          <a:p>
            <a:pPr>
              <a:defRPr sz="1400" b="1">
                <a:solidFill>
                  <a:srgbClr val="4F46E5"/>
                </a:solidFill>
              </a:defRPr>
            </a:pPr>
            <a:endParaRPr dirty="0"/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200" dirty="0"/>
              <a:t>• Inverted Index: HashMap&lt;String, Set&lt;String&gt;&gt; maps unique keywords to matching Document IDs. Query lookup time is O(1) on average.</a:t>
            </a:r>
            <a:br>
              <a:rPr sz="1200" dirty="0"/>
            </a:br>
            <a:r>
              <a:rPr sz="1200" dirty="0"/>
              <a:t>• Trie Prefix Tree: 26-ary node structure storing characters along tree edges. Traverses in O(L) time (L = prefix length).</a:t>
            </a:r>
            <a:br>
              <a:rPr sz="1200" dirty="0"/>
            </a:br>
            <a:r>
              <a:rPr sz="1200" dirty="0"/>
              <a:t>• Suggestion DFS: Recursively harvests all child words for autocomplete.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1663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48463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3. Knuth-Morris-Pratt (KMP) Pattern Matching</a:t>
            </a:r>
            <a:endParaRPr lang="en-US" dirty="0"/>
          </a:p>
          <a:p>
            <a:pPr>
              <a:defRPr sz="1400" b="1">
                <a:solidFill>
                  <a:srgbClr val="2563EB"/>
                </a:solidFill>
              </a:defRPr>
            </a:pPr>
            <a:endParaRPr dirty="0"/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200" dirty="0"/>
              <a:t>• LPS Array: Precomputes Longest Prefix which is also Suffix for pattern.</a:t>
            </a:r>
            <a:br>
              <a:rPr sz="1200" dirty="0"/>
            </a:br>
            <a:r>
              <a:rPr sz="1200" dirty="0"/>
              <a:t>• Non-Backtracking Scan: Upon character mismatch, shifts pattern pointer using </a:t>
            </a:r>
            <a:r>
              <a:rPr sz="1200" dirty="0" err="1"/>
              <a:t>lps</a:t>
            </a:r>
            <a:r>
              <a:rPr sz="1200" dirty="0"/>
              <a:t>[j-1] without ever rolling back the text index.</a:t>
            </a:r>
            <a:br>
              <a:rPr sz="1200" dirty="0"/>
            </a:br>
            <a:r>
              <a:rPr sz="1200" dirty="0"/>
              <a:t>• Exact Count: Scans entire document text to tally exact occurrences.</a:t>
            </a:r>
            <a:br>
              <a:rPr sz="1200" dirty="0"/>
            </a:br>
            <a:r>
              <a:rPr sz="1200" dirty="0"/>
              <a:t>• Time Complexity: O(M) preprocessing + O(N) text search = O(N + 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977639"/>
            <a:ext cx="51663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463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rPr dirty="0"/>
              <a:t>4. Levenstein Dynamic Programming</a:t>
            </a:r>
            <a:endParaRPr lang="en-US" dirty="0"/>
          </a:p>
          <a:p>
            <a:pPr>
              <a:defRPr sz="1400" b="1">
                <a:solidFill>
                  <a:srgbClr val="4F46E5"/>
                </a:solidFill>
              </a:defRPr>
            </a:pPr>
            <a:endParaRPr dirty="0"/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200" dirty="0"/>
              <a:t>• Recurrence: </a:t>
            </a:r>
            <a:r>
              <a:rPr sz="1200" dirty="0" err="1"/>
              <a:t>dp</a:t>
            </a:r>
            <a:r>
              <a:rPr sz="1200" dirty="0"/>
              <a:t>[</a:t>
            </a:r>
            <a:r>
              <a:rPr sz="1200" dirty="0" err="1"/>
              <a:t>i</a:t>
            </a:r>
            <a:r>
              <a:rPr sz="1200" dirty="0"/>
              <a:t>][j] = </a:t>
            </a:r>
            <a:r>
              <a:rPr sz="1200" dirty="0" err="1"/>
              <a:t>dp</a:t>
            </a:r>
            <a:r>
              <a:rPr sz="1200" dirty="0"/>
              <a:t>[i-1][j-1] if match, else 1 + min(insert, delete, replace).</a:t>
            </a:r>
            <a:br>
              <a:rPr sz="1200" dirty="0"/>
            </a:br>
            <a:r>
              <a:rPr sz="1200" dirty="0"/>
              <a:t>• Matrix Bounds: Dimensions (M+1) x (N+1) where M, N are word lengths.</a:t>
            </a:r>
            <a:br>
              <a:rPr sz="1200" dirty="0"/>
            </a:br>
            <a:r>
              <a:rPr sz="1200" dirty="0"/>
              <a:t>• Typo Threshold: Queries with distance &lt;= 2 are accepted as valid fuzzy matches, correcting transposition, omission, or substitution errors.</a:t>
            </a:r>
            <a:br>
              <a:rPr sz="1200" dirty="0"/>
            </a:br>
            <a:r>
              <a:rPr sz="1200" dirty="0"/>
              <a:t>• Time Complexity: O(M * N) per keyword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IMPLEMENTATION STACK &amp; SYSTEM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Tools, Technologies &amp; Technical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Semantic Keyword Extraction &amp; Corpus Indexing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6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375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306324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rPr dirty="0"/>
              <a:t>Programming Language</a:t>
            </a:r>
            <a:endParaRPr lang="en-US" dirty="0"/>
          </a:p>
          <a:p>
            <a:pPr>
              <a:defRPr sz="1500" b="1">
                <a:solidFill>
                  <a:srgbClr val="2563EB"/>
                </a:solidFill>
              </a:defRPr>
            </a:pPr>
            <a:endParaRPr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Java (JDK 17+):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Robust, object-oriented language providing automatic garbage collection and multi-platform portability.</a:t>
            </a:r>
            <a:endParaRPr lang="en-US" sz="1200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sz="1200"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Collections Framework: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High-performance primitives: HashMap for Inverted Index, HashSet for </a:t>
            </a:r>
            <a:r>
              <a:rPr sz="1200" dirty="0" err="1"/>
              <a:t>stopwords</a:t>
            </a:r>
            <a:r>
              <a:rPr sz="1200" dirty="0"/>
              <a:t> &amp; document sets, </a:t>
            </a:r>
            <a:r>
              <a:rPr sz="1200" dirty="0" err="1"/>
              <a:t>ArrayList</a:t>
            </a:r>
            <a:r>
              <a:rPr sz="1200" dirty="0"/>
              <a:t> for suggestions.</a:t>
            </a:r>
            <a:endParaRPr lang="en-US" sz="1200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sz="1200"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Java NIO &amp; IO: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</a:t>
            </a:r>
            <a:r>
              <a:rPr sz="1200" dirty="0" err="1"/>
              <a:t>java.nio.file.Files</a:t>
            </a:r>
            <a:r>
              <a:rPr sz="1200" dirty="0"/>
              <a:t> and Paths for low-overhead filesystem reading and document stream processing.</a:t>
            </a:r>
            <a:endParaRPr lang="en-US" sz="1200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sz="1200"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Clean Modularity: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Strict object-oriented separation of concerns across 10 dedicated classes in package 'def'.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33375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06324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rPr dirty="0"/>
              <a:t>UI &amp; Development Tools</a:t>
            </a:r>
            <a:endParaRPr lang="en-US" dirty="0"/>
          </a:p>
          <a:p>
            <a:pPr>
              <a:defRPr sz="1500" b="1">
                <a:solidFill>
                  <a:srgbClr val="4F46E5"/>
                </a:solidFill>
              </a:defRPr>
            </a:pPr>
            <a:endParaRPr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Java Swing &amp; AWT: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Rich native GUI toolkit featuring </a:t>
            </a:r>
            <a:r>
              <a:rPr sz="1200" dirty="0" err="1"/>
              <a:t>JFrame</a:t>
            </a:r>
            <a:r>
              <a:rPr sz="1200" dirty="0"/>
              <a:t>, </a:t>
            </a:r>
            <a:r>
              <a:rPr sz="1200" dirty="0" err="1"/>
              <a:t>JPanel</a:t>
            </a:r>
            <a:r>
              <a:rPr sz="1200" dirty="0"/>
              <a:t>, </a:t>
            </a:r>
            <a:r>
              <a:rPr sz="1200" dirty="0" err="1"/>
              <a:t>JTextArea</a:t>
            </a:r>
            <a:r>
              <a:rPr sz="1200" dirty="0"/>
              <a:t>, </a:t>
            </a:r>
            <a:r>
              <a:rPr sz="1200" dirty="0" err="1"/>
              <a:t>JTextField</a:t>
            </a:r>
            <a:r>
              <a:rPr sz="1200" dirty="0"/>
              <a:t>, and </a:t>
            </a:r>
            <a:r>
              <a:rPr sz="1200" dirty="0" err="1"/>
              <a:t>BorderLayout</a:t>
            </a:r>
            <a:r>
              <a:rPr sz="1200" dirty="0"/>
              <a:t> with custom color palettes.</a:t>
            </a:r>
            <a:endParaRPr lang="en-US" sz="1200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sz="1200"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Event-Driven Architecture: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Real-time action listeners responding to mouse clicks and ENTER keyboard triggers.</a:t>
            </a:r>
            <a:endParaRPr lang="en-US" sz="1200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sz="1200"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IDE Environments: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Developed and compiled using Eclipse IDE</a:t>
            </a:r>
            <a:r>
              <a:rPr lang="en-US" sz="1200" dirty="0"/>
              <a:t>.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endParaRPr sz="1200"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Zero External Dependencies: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Runs entirely on standard Java Runtime Environment (JRE) without maven/Gradle dependency bloat.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63040"/>
            <a:ext cx="33375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06324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rPr dirty="0"/>
              <a:t>System Requirements</a:t>
            </a:r>
            <a:endParaRPr lang="en-US" dirty="0"/>
          </a:p>
          <a:p>
            <a:pPr>
              <a:defRPr sz="1500" b="1">
                <a:solidFill>
                  <a:srgbClr val="2563EB"/>
                </a:solidFill>
              </a:defRPr>
            </a:pPr>
            <a:endParaRPr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Operating System: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Cross-platform compatibility across Windows 10/11, macOS (Intel &amp; Apple Silicon), and Ubuntu Linux.</a:t>
            </a:r>
            <a:endParaRPr lang="en-US" sz="1200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sz="1200"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Processor: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Dual-Core 2.0 GHz or higher (x86_64 or ARM64 architecture).</a:t>
            </a:r>
            <a:endParaRPr lang="en-US" sz="1200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sz="1200"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System Memory (RAM):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Minimum: 2 GB RAM</a:t>
            </a:r>
            <a:br>
              <a:rPr sz="1200" dirty="0"/>
            </a:br>
            <a:r>
              <a:rPr sz="1200" dirty="0"/>
              <a:t>Recommended: 4 GB+ RAM</a:t>
            </a:r>
            <a:br>
              <a:rPr sz="1200" dirty="0"/>
            </a:br>
            <a:r>
              <a:rPr sz="1200" dirty="0"/>
              <a:t>Engine Heap Allocation: ~128–256 MB.</a:t>
            </a:r>
            <a:endParaRPr lang="en-US" sz="1200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sz="1200"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Disk Storage: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500 MB available storage for JDK, compiled binaries, and document corpus.</a:t>
            </a:r>
            <a:endParaRPr lang="en-US" sz="1200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sz="1200"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/>
              <a:t>• Runtime Environment: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 dirty="0"/>
              <a:t>   Java SE Runtime Environment (JRE / JDK 11 or higher).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MODULES DEVELOPED &amp; CODE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System Implementation &amp; Core Code Snippets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Semantic Keyword Extraction &amp; Corpus Indexing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7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7548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3891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rPr dirty="0"/>
              <a:t>Developed Modules &amp; Working Process</a:t>
            </a:r>
            <a:endParaRPr lang="en-US" dirty="0"/>
          </a:p>
          <a:p>
            <a:pPr>
              <a:defRPr sz="1500" b="1">
                <a:solidFill>
                  <a:srgbClr val="2563EB"/>
                </a:solidFill>
              </a:defRPr>
            </a:pPr>
            <a:endParaRPr dirty="0"/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200" dirty="0"/>
              <a:t>• TextPreprocessor.java: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200" dirty="0"/>
              <a:t>   Performs tokenization, lowercase conversion, non-alphanumeric stripping, and </a:t>
            </a:r>
            <a:r>
              <a:rPr sz="1200" dirty="0" err="1"/>
              <a:t>stopword</a:t>
            </a:r>
            <a:r>
              <a:rPr sz="1200" dirty="0"/>
              <a:t> pruning.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200" dirty="0"/>
              <a:t>• InvertedIndex.java: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200" dirty="0"/>
              <a:t>   Maps unique terms to sets of document IDs for sub-millisecond retrieval.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200" dirty="0"/>
              <a:t>• Trie.java: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200" dirty="0"/>
              <a:t>   26-ary node tree supporting insert(), contains(), and </a:t>
            </a:r>
            <a:r>
              <a:rPr sz="1200" dirty="0" err="1"/>
              <a:t>getSuggestions</a:t>
            </a:r>
            <a:r>
              <a:rPr sz="1200" dirty="0"/>
              <a:t>() for live query prefix autocompletion.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200" dirty="0"/>
              <a:t>• KMPMatcher.java: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200" dirty="0"/>
              <a:t>   Precomputes LPS array and scans text in linear time to compute exact occurrence counts.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200" dirty="0"/>
              <a:t>• EditDistance.java: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200" dirty="0"/>
              <a:t>   Levenstein dynamic programming table calculating insertion, deletion, and substitution costs.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200" dirty="0"/>
              <a:t>• SemanticExpander.java: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200" dirty="0"/>
              <a:t>   Clusters words into synonym groups ('car' &lt;-&gt; 'automobile' &lt;-&gt; 'vehicle').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200" dirty="0"/>
              <a:t>• SearchEngine.java &amp; SearchGUI.java: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200" dirty="0"/>
              <a:t>   Central coordination orchestrator and interactive Swing desktop interface.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463040"/>
            <a:ext cx="578815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59E469-30A4-F89B-C029-1E39500A5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643" y="1659636"/>
            <a:ext cx="4799801" cy="2286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3B85F6-B1A4-63DC-AF41-7D456BC86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643" y="4142232"/>
            <a:ext cx="4860684" cy="1771904"/>
          </a:xfrm>
          <a:prstGeom prst="rect">
            <a:avLst/>
          </a:prstGeom>
          <a:effectLst>
            <a:softEdge rad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EMPIRICAL RESULTS &amp; SYSTEM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Results &amp; Output Screens: Exact &amp; Semantic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Semantic Keyword Extraction &amp; Corpus Indexing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8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Exact Match Search: Query 'java'</a:t>
            </a:r>
          </a:p>
        </p:txBody>
      </p:sp>
      <p:pic>
        <p:nvPicPr>
          <p:cNvPr id="10" name="Picture 9" descr="02_gui_search_exact_ja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4937760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5074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Outcome Observation: The Trie suggests 'java'; Inverted Index maps to Doc1.txt; KMP calculates exactly 2 occurrences with 0.8ms retrieval latency.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Semantic Synonym Expansion: Query 'car'</a:t>
            </a:r>
          </a:p>
        </p:txBody>
      </p:sp>
      <p:pic>
        <p:nvPicPr>
          <p:cNvPr id="14" name="Picture 13" descr="03_gui_search_semantic_c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65960"/>
            <a:ext cx="4937760" cy="3017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074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Outcome Observation: Query 'car' expands to [automobile, vehicle, car]; successfully retrieves Doc4.txt which discusses modern vehicles and navigation.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FAULT TOLERANCE &amp; VERIFICATION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Results &amp; Testing: Fuzzy Search &amp; Index Inspector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Semantic Keyword Extraction &amp; Corpus Indexing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9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9377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Output Screens: Fuzzy Recovery &amp; Index View</a:t>
            </a:r>
          </a:p>
        </p:txBody>
      </p:sp>
      <p:pic>
        <p:nvPicPr>
          <p:cNvPr id="10" name="Picture 9" descr="04_gui_search_fuzzy_compu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19"/>
            <a:ext cx="4663440" cy="1965960"/>
          </a:xfrm>
          <a:prstGeom prst="rect">
            <a:avLst/>
          </a:prstGeom>
        </p:spPr>
      </p:pic>
      <p:pic>
        <p:nvPicPr>
          <p:cNvPr id="11" name="Picture 10" descr="05_gui_inverted_ind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77639"/>
            <a:ext cx="4663440" cy="2057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852160" y="1463040"/>
            <a:ext cx="560527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150876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Comprehensive Test Cases &amp; Validation Matrix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35040" y="1965960"/>
          <a:ext cx="52120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46E5"/>
                          </a:solidFill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46E5"/>
                          </a:solidFill>
                        </a:defRPr>
                      </a:pPr>
                      <a:r>
                        <a:t>Input Query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46E5"/>
                          </a:solidFill>
                        </a:defRPr>
                      </a:pPr>
                      <a:r>
                        <a:t>Expected Outcome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4F46E5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Exact match found in Doc1 (2 occurrences via KMP)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6534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car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Semantic expansion to vehicle/automobile -&gt; Doc4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6534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computr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Fuzzy Levenshtein recovery to 'computer' (dist=1)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6534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Trie keystroke suggestions: 'programming'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6534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is / the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Filtered as stopword; excluded from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6534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VALUE PROPOSITION &amp; DEPLOYMENT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Advantages &amp; Real-World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Semantic Keyword Extraction &amp; Corpus Indexing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10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Key Benefits of the Proposed System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Sub-Millisecond Search Response: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Combines in-memory Inverted Index with hash-based postings lists to achieve immediate O(1) document ID retrieval.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Deterministic Accuracy with KMP: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Eliminates repetitive backtracking, guaranteeing linear O(N) frequency counts with zero false positives.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Robust Fault Tolerance: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Typo-resilient fuzzy distance ensures user queries are satisfied even when mistyped by up to 2 character operations.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Semantic Synonym Intelligence: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Enriches standard lexical searches by retrieving conceptually linked documents via synonym clustering.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Zero Infrastructure Overhead: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Operates entirely standalone without requiring database servers, internet connectivity, or background daemon processes.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Real-World Industry &amp; Practical Use Cases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Desktop Operating System File Search: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Integrated into local file managers to index user notes, PDFs, code files, and documents for instant spotlight search.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Legal &amp; Medical Records Management: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Empowers healthcare providers and legal teams to rapidly surface case files, patient histories, and clinical statutes with synonym support.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Developer Codebase &amp; Log Search: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Specialized search utility for engineers to quickly locate error codes, stack traces, and symbol definitions across massive code repositories.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Air-Gapped &amp; Mission-Critical Systems: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Ideal for isolated or air-gapped environments (defense, aviation, maritime) where external cloud APIs cannot be accessed.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PROJECT REFLECTION &amp; RESEARCH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Challenges Faced, Future Scope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Semantic Keyword Extraction &amp; Corpus Indexing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rial"/>
              </a:defRPr>
            </a:pPr>
            <a:r>
              <a:t>Slide 11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375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3063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Challenges Faced &amp; Solutions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Pattern Backtracking Overhead: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Naive search led to redundant comparisons.</a:t>
            </a:r>
            <a:br/>
            <a:r>
              <a:t>-&gt; Solution: Implemented KMP with LPS table to guarantee non-backtracking linear time.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Fuzzy Combinatorial Explosion: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Calculating edit distance against all words causes latency.</a:t>
            </a:r>
            <a:br/>
            <a:r>
              <a:t>-&gt; Solution: Scoped calculation only to indexed unique vocabulary with early exit distance &lt;= 2.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Trie Memory Consumption: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Deep character branching can consume substantial memory.</a:t>
            </a:r>
            <a:br/>
            <a:r>
              <a:t>-&gt; Solution: Fixed 26-slot child node arrays tailored to clean alphabet letters.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33375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063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Future Enhancements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TF-IDF / BM25 Ranking: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Incorporate statistical term frequency-inverse document frequency weighting to rank document relevance automatically.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Neural Vector Embeddings: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Integrate lightweight Word2Vec or ONNX BERT transformers for deeper latent semantic similarity.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Multi-Format Document Ingestion: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Extend file loaders to natively parse PDF, DOCX, and scanned OCR image document corpora.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Parallel Multi-Threaded Indexing: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Leverage Java Fork/Join parallelism for ultra-large multi-gigabyte corpus processing.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63040"/>
            <a:ext cx="33375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063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Conclusion &amp; Achievements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Core Milestone Achieved: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Successfully architected and deployed a multi-stage semantic keyword extraction and corpus indexing engine.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Rigorous Algorithmic Synergy: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Demonstrated that combining classical algorithms (KMP, Levenshtein, Trie, Inverted Index) yields superior speed and reliability.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High Practical Usability: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Delivered an intuitive, responsive Swing desktop application with instant keystroke feedback.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Production Readiness: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The engine achieved 100% pass rate across test suites with zero external dependencies.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CITATIONS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References &amp; 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Semantic Keyword Extraction &amp; Corpus Indexing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73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12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852160" cy="4709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References &amp; Academic Bibliography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1. Knuth, D. E., Morris, J. H., &amp; Pratt, V. R. (1977):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Fast Pattern Matching in Strings. SIAM Journal on Computing, 6(2), 323–350.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2. Levenshtein, V. I. (1966):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Binary codes capable of correcting deletions, insertions, and reversals. Soviet Physics Doklady, 10(8), 707–710.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3. Manning, C. D., Raghavan, P., &amp; Schütze, H. (2008):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Introduction to Information Retrieval. Cambridge University Press.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4. Sedgewick, R., &amp; Wayne, K. (2011):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Algorithms (4th ed.). Addison-Wesley Professional.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5. Oracle Corporation (2023):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Java SE 17 Platform Documentation: Collections Framework &amp; Abstract Window Toolkit / Swing Architecture.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6. Aho, A. V., &amp; Corasick, M. J. (1975):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Efficient String Matching: An Aid to Bibliographic Search. Communications of the ACM.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463040"/>
            <a:ext cx="4507992" cy="4709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20116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</a:defRPr>
            </a:pPr>
            <a:r>
              <a:rPr dirty="0"/>
              <a:t>THANK YOU!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Questions &amp; Discussion</a:t>
            </a:r>
          </a:p>
          <a:p>
            <a:br>
              <a:rPr dirty="0"/>
            </a:br>
            <a:r>
              <a:rPr dirty="0"/>
              <a:t>Semantic Keyword Extraction and</a:t>
            </a:r>
            <a:br>
              <a:rPr dirty="0"/>
            </a:br>
            <a:r>
              <a:rPr dirty="0"/>
              <a:t>Corpus Indexing Framework</a:t>
            </a:r>
          </a:p>
          <a:p>
            <a:br>
              <a:rPr dirty="0"/>
            </a:br>
            <a:r>
              <a:rPr dirty="0"/>
              <a:t>Thank you to our Project Guide, Panel Members,</a:t>
            </a:r>
            <a:br>
              <a:rPr dirty="0"/>
            </a:br>
            <a:r>
              <a:rPr dirty="0"/>
              <a:t>and Department Faculty for their guidance.</a:t>
            </a:r>
          </a:p>
          <a:p>
            <a:br>
              <a:rPr dirty="0"/>
            </a:br>
            <a:r>
              <a:rPr dirty="0"/>
              <a:t>[Contact / Email / GitHub Repository 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4074</Words>
  <Application>Microsoft Office PowerPoint</Application>
  <PresentationFormat>Widescreen</PresentationFormat>
  <Paragraphs>390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LoQ BEAST</dc:creator>
  <cp:keywords/>
  <dc:description>generated using python-pptx</dc:description>
  <cp:lastModifiedBy>Aarnav Reddy</cp:lastModifiedBy>
  <cp:revision>4</cp:revision>
  <dcterms:created xsi:type="dcterms:W3CDTF">2013-01-27T09:14:16Z</dcterms:created>
  <dcterms:modified xsi:type="dcterms:W3CDTF">2026-10-07T05:43:05Z</dcterms:modified>
  <cp:category/>
</cp:coreProperties>
</file>