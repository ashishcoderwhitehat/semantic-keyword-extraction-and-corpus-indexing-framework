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Nunito" charset="1" panose="00000000000000000000"/>
      <p:regular r:id="rId17"/>
    </p:embeddedFont>
    <p:embeddedFont>
      <p:font typeface="Gotham Bold" charset="1" panose="00000000000000000000"/>
      <p:regular r:id="rId18"/>
    </p:embeddedFont>
    <p:embeddedFont>
      <p:font typeface="Poppins" charset="1" panose="00000500000000000000"/>
      <p:regular r:id="rId19"/>
    </p:embeddedFont>
    <p:embeddedFont>
      <p:font typeface="Poppins Medium" charset="1" panose="00000600000000000000"/>
      <p:regular r:id="rId20"/>
    </p:embeddedFont>
    <p:embeddedFont>
      <p:font typeface="Nunito Semi-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26.png" Type="http://schemas.openxmlformats.org/officeDocument/2006/relationships/image"/><Relationship Id="rId3" Target="../media/image27.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30768" y="4646344"/>
            <a:ext cx="5455035" cy="5106842"/>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0">
            <a:off x="14626760" y="5534027"/>
            <a:ext cx="2765738" cy="2589201"/>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4225979" y="8542449"/>
            <a:ext cx="4218545" cy="3949276"/>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1564"/>
                  </a:moveTo>
                  <a:lnTo>
                    <a:pt x="596900" y="283236"/>
                  </a:lnTo>
                  <a:cubicBezTo>
                    <a:pt x="596900" y="297006"/>
                    <a:pt x="591256" y="310175"/>
                    <a:pt x="581285" y="319672"/>
                  </a:cubicBezTo>
                  <a:lnTo>
                    <a:pt x="345815" y="543928"/>
                  </a:lnTo>
                  <a:cubicBezTo>
                    <a:pt x="335791" y="553475"/>
                    <a:pt x="322479" y="558800"/>
                    <a:pt x="308636" y="558800"/>
                  </a:cubicBezTo>
                  <a:lnTo>
                    <a:pt x="21564" y="558800"/>
                  </a:lnTo>
                  <a:cubicBezTo>
                    <a:pt x="9654" y="558800"/>
                    <a:pt x="0" y="549146"/>
                    <a:pt x="0" y="537236"/>
                  </a:cubicBezTo>
                  <a:lnTo>
                    <a:pt x="0" y="270484"/>
                  </a:lnTo>
                  <a:cubicBezTo>
                    <a:pt x="0" y="256718"/>
                    <a:pt x="5662" y="243558"/>
                    <a:pt x="15658" y="234094"/>
                  </a:cubicBezTo>
                  <a:lnTo>
                    <a:pt x="247232" y="14826"/>
                  </a:lnTo>
                  <a:cubicBezTo>
                    <a:pt x="257286" y="5306"/>
                    <a:pt x="270607" y="0"/>
                    <a:pt x="284454" y="0"/>
                  </a:cubicBezTo>
                  <a:lnTo>
                    <a:pt x="575336" y="0"/>
                  </a:lnTo>
                  <a:cubicBezTo>
                    <a:pt x="587246" y="0"/>
                    <a:pt x="596900" y="9654"/>
                    <a:pt x="596900" y="21564"/>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536217" y="-2958766"/>
            <a:ext cx="6321001" cy="5917533"/>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10800000">
            <a:off x="13810359" y="-3147653"/>
            <a:ext cx="4531224" cy="4241997"/>
            <a:chOff x="0" y="0"/>
            <a:chExt cx="596900" cy="558800"/>
          </a:xfrm>
        </p:grpSpPr>
        <p:sp>
          <p:nvSpPr>
            <p:cNvPr name="Freeform 15" id="15"/>
            <p:cNvSpPr/>
            <p:nvPr/>
          </p:nvSpPr>
          <p:spPr>
            <a:xfrm flipH="false" flipV="false" rot="0">
              <a:off x="0" y="0"/>
              <a:ext cx="596900" cy="558800"/>
            </a:xfrm>
            <a:custGeom>
              <a:avLst/>
              <a:gdLst/>
              <a:ahLst/>
              <a:cxnLst/>
              <a:rect r="r" b="b" t="t" l="l"/>
              <a:pathLst>
                <a:path h="558800" w="5969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name="TextBox 16" id="1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9634197" y="543858"/>
            <a:ext cx="3762996" cy="3522804"/>
            <a:chOff x="0" y="0"/>
            <a:chExt cx="596900" cy="558800"/>
          </a:xfrm>
        </p:grpSpPr>
        <p:sp>
          <p:nvSpPr>
            <p:cNvPr name="Freeform 18" id="18"/>
            <p:cNvSpPr/>
            <p:nvPr/>
          </p:nvSpPr>
          <p:spPr>
            <a:xfrm flipH="false" flipV="false" rot="0">
              <a:off x="0" y="0"/>
              <a:ext cx="596900" cy="558800"/>
            </a:xfrm>
            <a:custGeom>
              <a:avLst/>
              <a:gdLst/>
              <a:ahLst/>
              <a:cxnLst/>
              <a:rect r="r" b="b" t="t" l="l"/>
              <a:pathLst>
                <a:path h="558800" w="5969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FE9710"/>
            </a:solidFill>
          </p:spPr>
        </p:sp>
        <p:sp>
          <p:nvSpPr>
            <p:cNvPr name="TextBox 19" id="1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15147937" y="1323502"/>
            <a:ext cx="2737867" cy="2563109"/>
            <a:chOff x="0" y="0"/>
            <a:chExt cx="596900" cy="558800"/>
          </a:xfrm>
        </p:grpSpPr>
        <p:sp>
          <p:nvSpPr>
            <p:cNvPr name="Freeform 21" id="21"/>
            <p:cNvSpPr/>
            <p:nvPr/>
          </p:nvSpPr>
          <p:spPr>
            <a:xfrm flipH="false" flipV="false" rot="0">
              <a:off x="0" y="0"/>
              <a:ext cx="596900" cy="558800"/>
            </a:xfrm>
            <a:custGeom>
              <a:avLst/>
              <a:gdLst/>
              <a:ahLst/>
              <a:cxnLst/>
              <a:rect r="r" b="b" t="t" l="l"/>
              <a:pathLst>
                <a:path h="558800" w="5969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name="TextBox 22" id="2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5400000">
            <a:off x="9551409" y="7241939"/>
            <a:ext cx="2594035" cy="2428459"/>
            <a:chOff x="0" y="0"/>
            <a:chExt cx="596900" cy="558800"/>
          </a:xfrm>
        </p:grpSpPr>
        <p:sp>
          <p:nvSpPr>
            <p:cNvPr name="Freeform 24" id="24"/>
            <p:cNvSpPr/>
            <p:nvPr/>
          </p:nvSpPr>
          <p:spPr>
            <a:xfrm flipH="false" flipV="false" rot="0">
              <a:off x="0" y="0"/>
              <a:ext cx="596900" cy="558800"/>
            </a:xfrm>
            <a:custGeom>
              <a:avLst/>
              <a:gdLst/>
              <a:ahLst/>
              <a:cxnLst/>
              <a:rect r="r" b="b" t="t" l="l"/>
              <a:pathLst>
                <a:path h="558800" w="5969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FE9710"/>
            </a:solidFill>
          </p:spPr>
        </p:sp>
        <p:sp>
          <p:nvSpPr>
            <p:cNvPr name="TextBox 25" id="2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10523711" y="1294169"/>
            <a:ext cx="6935129" cy="5905596"/>
            <a:chOff x="0" y="0"/>
            <a:chExt cx="1460623" cy="1243791"/>
          </a:xfrm>
        </p:grpSpPr>
        <p:sp>
          <p:nvSpPr>
            <p:cNvPr name="Freeform 27" id="27"/>
            <p:cNvSpPr/>
            <p:nvPr/>
          </p:nvSpPr>
          <p:spPr>
            <a:xfrm flipH="false" flipV="false" rot="0">
              <a:off x="0" y="0"/>
              <a:ext cx="1460627" cy="1243791"/>
            </a:xfrm>
            <a:custGeom>
              <a:avLst/>
              <a:gdLst/>
              <a:ahLst/>
              <a:cxnLst/>
              <a:rect r="r" b="b" t="t" l="l"/>
              <a:pathLst>
                <a:path h="1243791" w="1460627">
                  <a:moveTo>
                    <a:pt x="1046362" y="38122"/>
                  </a:moveTo>
                  <a:cubicBezTo>
                    <a:pt x="1024662" y="13865"/>
                    <a:pt x="993657" y="0"/>
                    <a:pt x="961111" y="0"/>
                  </a:cubicBezTo>
                  <a:lnTo>
                    <a:pt x="114385" y="0"/>
                  </a:lnTo>
                  <a:cubicBezTo>
                    <a:pt x="51213" y="1"/>
                    <a:pt x="1" y="51211"/>
                    <a:pt x="0" y="114384"/>
                  </a:cubicBezTo>
                  <a:lnTo>
                    <a:pt x="0" y="501214"/>
                  </a:lnTo>
                  <a:lnTo>
                    <a:pt x="0" y="795306"/>
                  </a:lnTo>
                  <a:cubicBezTo>
                    <a:pt x="0" y="858478"/>
                    <a:pt x="51211" y="909690"/>
                    <a:pt x="114384" y="909690"/>
                  </a:cubicBezTo>
                  <a:lnTo>
                    <a:pt x="587586" y="909690"/>
                  </a:lnTo>
                  <a:cubicBezTo>
                    <a:pt x="620132" y="909690"/>
                    <a:pt x="651138" y="923554"/>
                    <a:pt x="672837" y="947811"/>
                  </a:cubicBezTo>
                  <a:lnTo>
                    <a:pt x="903501" y="1205669"/>
                  </a:lnTo>
                  <a:cubicBezTo>
                    <a:pt x="925201" y="1229927"/>
                    <a:pt x="956207" y="1243791"/>
                    <a:pt x="988753" y="1243791"/>
                  </a:cubicBezTo>
                  <a:lnTo>
                    <a:pt x="1346239" y="1243791"/>
                  </a:lnTo>
                  <a:cubicBezTo>
                    <a:pt x="1376576" y="1243792"/>
                    <a:pt x="1405670" y="1231742"/>
                    <a:pt x="1427122" y="1210291"/>
                  </a:cubicBezTo>
                  <a:cubicBezTo>
                    <a:pt x="1448574" y="1188841"/>
                    <a:pt x="1460626" y="1159748"/>
                    <a:pt x="1460627" y="1129411"/>
                  </a:cubicBezTo>
                  <a:lnTo>
                    <a:pt x="1460627" y="562247"/>
                  </a:lnTo>
                  <a:cubicBezTo>
                    <a:pt x="1460627" y="522943"/>
                    <a:pt x="1446140" y="485019"/>
                    <a:pt x="1419935" y="455726"/>
                  </a:cubicBezTo>
                  <a:close/>
                </a:path>
              </a:pathLst>
            </a:custGeom>
            <a:blipFill>
              <a:blip r:embed="rId2"/>
              <a:stretch>
                <a:fillRect l="0" t="-276" r="0" b="-276"/>
              </a:stretch>
            </a:blipFill>
            <a:ln w="142875" cap="sq">
              <a:solidFill>
                <a:srgbClr val="FFFFFF"/>
              </a:solidFill>
              <a:prstDash val="solid"/>
              <a:miter/>
            </a:ln>
          </p:spPr>
        </p:sp>
      </p:grpSp>
      <p:grpSp>
        <p:nvGrpSpPr>
          <p:cNvPr name="Group 28" id="28"/>
          <p:cNvGrpSpPr/>
          <p:nvPr/>
        </p:nvGrpSpPr>
        <p:grpSpPr>
          <a:xfrm rot="0">
            <a:off x="9034205" y="5971469"/>
            <a:ext cx="5257565" cy="2731701"/>
            <a:chOff x="0" y="0"/>
            <a:chExt cx="1657619" cy="861258"/>
          </a:xfrm>
        </p:grpSpPr>
        <p:sp>
          <p:nvSpPr>
            <p:cNvPr name="Freeform 29" id="29"/>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l="0" t="-762" r="0" b="-762"/>
              </a:stretch>
            </a:blipFill>
            <a:ln w="142875" cap="sq">
              <a:solidFill>
                <a:srgbClr val="FE9710"/>
              </a:solidFill>
              <a:prstDash val="solid"/>
              <a:miter/>
            </a:ln>
          </p:spPr>
        </p:sp>
      </p:grpSp>
      <p:grpSp>
        <p:nvGrpSpPr>
          <p:cNvPr name="Group 30" id="30"/>
          <p:cNvGrpSpPr/>
          <p:nvPr/>
        </p:nvGrpSpPr>
        <p:grpSpPr>
          <a:xfrm rot="-10800000">
            <a:off x="1274759" y="6027290"/>
            <a:ext cx="7267155" cy="991811"/>
            <a:chOff x="0" y="0"/>
            <a:chExt cx="1824869" cy="249055"/>
          </a:xfrm>
        </p:grpSpPr>
        <p:sp>
          <p:nvSpPr>
            <p:cNvPr name="Freeform 31" id="31"/>
            <p:cNvSpPr/>
            <p:nvPr/>
          </p:nvSpPr>
          <p:spPr>
            <a:xfrm flipH="false" flipV="false" rot="0">
              <a:off x="0" y="0"/>
              <a:ext cx="1824869" cy="249055"/>
            </a:xfrm>
            <a:custGeom>
              <a:avLst/>
              <a:gdLst/>
              <a:ahLst/>
              <a:cxnLst/>
              <a:rect r="r" b="b" t="t" l="l"/>
              <a:pathLst>
                <a:path h="249055" w="1824869">
                  <a:moveTo>
                    <a:pt x="106533" y="0"/>
                  </a:moveTo>
                  <a:lnTo>
                    <a:pt x="1718336" y="0"/>
                  </a:lnTo>
                  <a:cubicBezTo>
                    <a:pt x="1777173" y="0"/>
                    <a:pt x="1824869" y="47696"/>
                    <a:pt x="1824869" y="106533"/>
                  </a:cubicBezTo>
                  <a:lnTo>
                    <a:pt x="1824869" y="142522"/>
                  </a:lnTo>
                  <a:cubicBezTo>
                    <a:pt x="1824869" y="201359"/>
                    <a:pt x="1777173" y="249055"/>
                    <a:pt x="1718336" y="249055"/>
                  </a:cubicBezTo>
                  <a:lnTo>
                    <a:pt x="106533" y="249055"/>
                  </a:lnTo>
                  <a:cubicBezTo>
                    <a:pt x="78279" y="249055"/>
                    <a:pt x="51182" y="237832"/>
                    <a:pt x="31203" y="217853"/>
                  </a:cubicBezTo>
                  <a:cubicBezTo>
                    <a:pt x="11224" y="197874"/>
                    <a:pt x="0" y="170777"/>
                    <a:pt x="0" y="142522"/>
                  </a:cubicBezTo>
                  <a:lnTo>
                    <a:pt x="0" y="106533"/>
                  </a:lnTo>
                  <a:cubicBezTo>
                    <a:pt x="0" y="78279"/>
                    <a:pt x="11224" y="51182"/>
                    <a:pt x="31203" y="31203"/>
                  </a:cubicBezTo>
                  <a:cubicBezTo>
                    <a:pt x="51182" y="11224"/>
                    <a:pt x="78279" y="0"/>
                    <a:pt x="106533" y="0"/>
                  </a:cubicBezTo>
                  <a:close/>
                </a:path>
              </a:pathLst>
            </a:custGeom>
            <a:solidFill>
              <a:srgbClr val="014AAB"/>
            </a:solidFill>
          </p:spPr>
        </p:sp>
        <p:sp>
          <p:nvSpPr>
            <p:cNvPr name="TextBox 32" id="32"/>
            <p:cNvSpPr txBox="true"/>
            <p:nvPr/>
          </p:nvSpPr>
          <p:spPr>
            <a:xfrm>
              <a:off x="0" y="-47625"/>
              <a:ext cx="1824869" cy="296680"/>
            </a:xfrm>
            <a:prstGeom prst="rect">
              <a:avLst/>
            </a:prstGeom>
          </p:spPr>
          <p:txBody>
            <a:bodyPr anchor="ctr" rtlCol="false" tIns="50800" lIns="50800" bIns="50800" rIns="50800"/>
            <a:lstStyle/>
            <a:p>
              <a:pPr algn="ctr" marL="0" indent="0" lvl="0">
                <a:lnSpc>
                  <a:spcPts val="2800"/>
                </a:lnSpc>
              </a:pPr>
            </a:p>
          </p:txBody>
        </p:sp>
      </p:grpSp>
      <p:sp>
        <p:nvSpPr>
          <p:cNvPr name="Freeform 33" id="33"/>
          <p:cNvSpPr/>
          <p:nvPr/>
        </p:nvSpPr>
        <p:spPr>
          <a:xfrm flipH="false" flipV="true" rot="0">
            <a:off x="16114192" y="8000901"/>
            <a:ext cx="1771612" cy="1752285"/>
          </a:xfrm>
          <a:custGeom>
            <a:avLst/>
            <a:gdLst/>
            <a:ahLst/>
            <a:cxnLst/>
            <a:rect r="r" b="b" t="t" l="l"/>
            <a:pathLst>
              <a:path h="1752285" w="1771612">
                <a:moveTo>
                  <a:pt x="0" y="1752285"/>
                </a:moveTo>
                <a:lnTo>
                  <a:pt x="1771611" y="1752285"/>
                </a:lnTo>
                <a:lnTo>
                  <a:pt x="1771611" y="0"/>
                </a:lnTo>
                <a:lnTo>
                  <a:pt x="0" y="0"/>
                </a:lnTo>
                <a:lnTo>
                  <a:pt x="0" y="17522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true" flipV="false" rot="0">
            <a:off x="9634197" y="543858"/>
            <a:ext cx="1113115" cy="1100972"/>
          </a:xfrm>
          <a:custGeom>
            <a:avLst/>
            <a:gdLst/>
            <a:ahLst/>
            <a:cxnLst/>
            <a:rect r="r" b="b" t="t" l="l"/>
            <a:pathLst>
              <a:path h="1100972" w="1113115">
                <a:moveTo>
                  <a:pt x="1113115" y="0"/>
                </a:moveTo>
                <a:lnTo>
                  <a:pt x="0" y="0"/>
                </a:lnTo>
                <a:lnTo>
                  <a:pt x="0" y="1100972"/>
                </a:lnTo>
                <a:lnTo>
                  <a:pt x="1113115" y="1100972"/>
                </a:lnTo>
                <a:lnTo>
                  <a:pt x="11131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679654" y="9654723"/>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14626760" y="693817"/>
            <a:ext cx="1190212" cy="196926"/>
          </a:xfrm>
          <a:custGeom>
            <a:avLst/>
            <a:gdLst/>
            <a:ahLst/>
            <a:cxnLst/>
            <a:rect r="r" b="b" t="t" l="l"/>
            <a:pathLst>
              <a:path h="196926" w="1190212">
                <a:moveTo>
                  <a:pt x="0" y="0"/>
                </a:moveTo>
                <a:lnTo>
                  <a:pt x="1190212" y="0"/>
                </a:lnTo>
                <a:lnTo>
                  <a:pt x="1190212" y="196926"/>
                </a:lnTo>
                <a:lnTo>
                  <a:pt x="0" y="196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false" flipV="false" rot="0">
            <a:off x="13696665" y="9159837"/>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8" id="38"/>
          <p:cNvSpPr txBox="true"/>
          <p:nvPr/>
        </p:nvSpPr>
        <p:spPr>
          <a:xfrm rot="0">
            <a:off x="1346931" y="885423"/>
            <a:ext cx="3805659" cy="339485"/>
          </a:xfrm>
          <a:prstGeom prst="rect">
            <a:avLst/>
          </a:prstGeom>
        </p:spPr>
        <p:txBody>
          <a:bodyPr anchor="t" rtlCol="false" tIns="0" lIns="0" bIns="0" rIns="0">
            <a:spAutoFit/>
          </a:bodyPr>
          <a:lstStyle/>
          <a:p>
            <a:pPr algn="l" marL="0" indent="0" lvl="0">
              <a:lnSpc>
                <a:spcPts val="2813"/>
              </a:lnSpc>
            </a:pPr>
            <a:r>
              <a:rPr lang="en-US" sz="2009">
                <a:solidFill>
                  <a:srgbClr val="011A3C"/>
                </a:solidFill>
                <a:latin typeface="Nunito"/>
                <a:ea typeface="Nunito"/>
                <a:cs typeface="Nunito"/>
                <a:sym typeface="Nunito"/>
              </a:rPr>
              <a:t>Department of AI / DS</a:t>
            </a:r>
          </a:p>
        </p:txBody>
      </p:sp>
      <p:sp>
        <p:nvSpPr>
          <p:cNvPr name="TextBox 39" id="39"/>
          <p:cNvSpPr txBox="true"/>
          <p:nvPr/>
        </p:nvSpPr>
        <p:spPr>
          <a:xfrm rot="0">
            <a:off x="1274759" y="4386522"/>
            <a:ext cx="7562442" cy="1524000"/>
          </a:xfrm>
          <a:prstGeom prst="rect">
            <a:avLst/>
          </a:prstGeom>
        </p:spPr>
        <p:txBody>
          <a:bodyPr anchor="t" rtlCol="false" tIns="0" lIns="0" bIns="0" rIns="0">
            <a:spAutoFit/>
          </a:bodyPr>
          <a:lstStyle/>
          <a:p>
            <a:pPr algn="l" marL="0" indent="0" lvl="0">
              <a:lnSpc>
                <a:spcPts val="6061"/>
              </a:lnSpc>
            </a:pPr>
            <a:r>
              <a:rPr lang="en-US" b="true" sz="5050" spc="75">
                <a:solidFill>
                  <a:srgbClr val="011A3C"/>
                </a:solidFill>
                <a:latin typeface="Gotham Bold"/>
                <a:ea typeface="Gotham Bold"/>
                <a:cs typeface="Gotham Bold"/>
                <a:sym typeface="Gotham Bold"/>
              </a:rPr>
              <a:t>CORPUS INDEXING</a:t>
            </a:r>
          </a:p>
          <a:p>
            <a:pPr algn="l" marL="0" indent="0" lvl="0">
              <a:lnSpc>
                <a:spcPts val="6061"/>
              </a:lnSpc>
            </a:pPr>
            <a:r>
              <a:rPr lang="en-US" b="true" sz="5050" spc="75">
                <a:solidFill>
                  <a:srgbClr val="011A3C"/>
                </a:solidFill>
                <a:latin typeface="Gotham Bold"/>
                <a:ea typeface="Gotham Bold"/>
                <a:cs typeface="Gotham Bold"/>
                <a:sym typeface="Gotham Bold"/>
              </a:rPr>
              <a:t>FRAMEWORK</a:t>
            </a:r>
          </a:p>
        </p:txBody>
      </p:sp>
      <p:sp>
        <p:nvSpPr>
          <p:cNvPr name="TextBox 40" id="40"/>
          <p:cNvSpPr txBox="true"/>
          <p:nvPr/>
        </p:nvSpPr>
        <p:spPr>
          <a:xfrm rot="0">
            <a:off x="1274759" y="3081725"/>
            <a:ext cx="7562442" cy="1524000"/>
          </a:xfrm>
          <a:prstGeom prst="rect">
            <a:avLst/>
          </a:prstGeom>
        </p:spPr>
        <p:txBody>
          <a:bodyPr anchor="t" rtlCol="false" tIns="0" lIns="0" bIns="0" rIns="0">
            <a:spAutoFit/>
          </a:bodyPr>
          <a:lstStyle/>
          <a:p>
            <a:pPr algn="l" marL="0" indent="0" lvl="0">
              <a:lnSpc>
                <a:spcPts val="6061"/>
              </a:lnSpc>
            </a:pPr>
            <a:r>
              <a:rPr lang="en-US" b="true" sz="5050" spc="75">
                <a:solidFill>
                  <a:srgbClr val="011A3C"/>
                </a:solidFill>
                <a:latin typeface="Gotham Bold"/>
                <a:ea typeface="Gotham Bold"/>
                <a:cs typeface="Gotham Bold"/>
                <a:sym typeface="Gotham Bold"/>
              </a:rPr>
              <a:t>SEMANTIC KEYWORD</a:t>
            </a:r>
          </a:p>
          <a:p>
            <a:pPr algn="l" marL="0" indent="0" lvl="0">
              <a:lnSpc>
                <a:spcPts val="6061"/>
              </a:lnSpc>
            </a:pPr>
            <a:r>
              <a:rPr lang="en-US" b="true" sz="5050" spc="75">
                <a:solidFill>
                  <a:srgbClr val="011A3C"/>
                </a:solidFill>
                <a:latin typeface="Gotham Bold"/>
                <a:ea typeface="Gotham Bold"/>
                <a:cs typeface="Gotham Bold"/>
                <a:sym typeface="Gotham Bold"/>
              </a:rPr>
              <a:t>EXTRACTION &amp;</a:t>
            </a:r>
          </a:p>
        </p:txBody>
      </p:sp>
      <p:sp>
        <p:nvSpPr>
          <p:cNvPr name="TextBox 41" id="41"/>
          <p:cNvSpPr txBox="true"/>
          <p:nvPr/>
        </p:nvSpPr>
        <p:spPr>
          <a:xfrm rot="0">
            <a:off x="1274759" y="6323417"/>
            <a:ext cx="7267155" cy="370981"/>
          </a:xfrm>
          <a:prstGeom prst="rect">
            <a:avLst/>
          </a:prstGeom>
        </p:spPr>
        <p:txBody>
          <a:bodyPr anchor="t" rtlCol="false" tIns="0" lIns="0" bIns="0" rIns="0">
            <a:spAutoFit/>
          </a:bodyPr>
          <a:lstStyle/>
          <a:p>
            <a:pPr algn="ctr" marL="0" indent="0" lvl="0">
              <a:lnSpc>
                <a:spcPts val="2975"/>
              </a:lnSpc>
            </a:pPr>
            <a:r>
              <a:rPr lang="en-US" sz="2288" spc="45">
                <a:solidFill>
                  <a:srgbClr val="FFFFFF"/>
                </a:solidFill>
                <a:latin typeface="Poppins"/>
                <a:ea typeface="Poppins"/>
                <a:cs typeface="Poppins"/>
                <a:sym typeface="Poppins"/>
              </a:rPr>
              <a:t>Project Review 2  |  NLP &amp; Data Structures</a:t>
            </a:r>
          </a:p>
        </p:txBody>
      </p:sp>
      <p:sp>
        <p:nvSpPr>
          <p:cNvPr name="TextBox 42" id="42"/>
          <p:cNvSpPr txBox="true"/>
          <p:nvPr/>
        </p:nvSpPr>
        <p:spPr>
          <a:xfrm rot="0">
            <a:off x="1274759" y="8333550"/>
            <a:ext cx="3016871" cy="339485"/>
          </a:xfrm>
          <a:prstGeom prst="rect">
            <a:avLst/>
          </a:prstGeom>
        </p:spPr>
        <p:txBody>
          <a:bodyPr anchor="t" rtlCol="false" tIns="0" lIns="0" bIns="0" rIns="0">
            <a:spAutoFit/>
          </a:bodyPr>
          <a:lstStyle/>
          <a:p>
            <a:pPr algn="l" marL="0" indent="0" lvl="0">
              <a:lnSpc>
                <a:spcPts val="2813"/>
              </a:lnSpc>
            </a:pPr>
            <a:r>
              <a:rPr lang="en-US" sz="2009">
                <a:solidFill>
                  <a:srgbClr val="011A3C"/>
                </a:solidFill>
                <a:latin typeface="Nunito"/>
                <a:ea typeface="Nunito"/>
                <a:cs typeface="Nunito"/>
                <a:sym typeface="Nunito"/>
              </a:rPr>
              <a:t>Presented By :</a:t>
            </a:r>
          </a:p>
        </p:txBody>
      </p:sp>
      <p:sp>
        <p:nvSpPr>
          <p:cNvPr name="TextBox 43" id="43"/>
          <p:cNvSpPr txBox="true"/>
          <p:nvPr/>
        </p:nvSpPr>
        <p:spPr>
          <a:xfrm rot="0">
            <a:off x="5152590" y="8333550"/>
            <a:ext cx="3016871" cy="339485"/>
          </a:xfrm>
          <a:prstGeom prst="rect">
            <a:avLst/>
          </a:prstGeom>
        </p:spPr>
        <p:txBody>
          <a:bodyPr anchor="t" rtlCol="false" tIns="0" lIns="0" bIns="0" rIns="0">
            <a:spAutoFit/>
          </a:bodyPr>
          <a:lstStyle/>
          <a:p>
            <a:pPr algn="l" marL="0" indent="0" lvl="0">
              <a:lnSpc>
                <a:spcPts val="2813"/>
              </a:lnSpc>
            </a:pPr>
            <a:r>
              <a:rPr lang="en-US" sz="2009">
                <a:solidFill>
                  <a:srgbClr val="011A3C"/>
                </a:solidFill>
                <a:latin typeface="Nunito"/>
                <a:ea typeface="Nunito"/>
                <a:cs typeface="Nunito"/>
                <a:sym typeface="Nunito"/>
              </a:rPr>
              <a:t>Guided By :</a:t>
            </a:r>
          </a:p>
        </p:txBody>
      </p:sp>
      <p:sp>
        <p:nvSpPr>
          <p:cNvPr name="TextBox 44" id="44"/>
          <p:cNvSpPr txBox="true"/>
          <p:nvPr/>
        </p:nvSpPr>
        <p:spPr>
          <a:xfrm rot="0">
            <a:off x="1274759" y="8656097"/>
            <a:ext cx="3538762" cy="399063"/>
          </a:xfrm>
          <a:prstGeom prst="rect">
            <a:avLst/>
          </a:prstGeom>
        </p:spPr>
        <p:txBody>
          <a:bodyPr anchor="t" rtlCol="false" tIns="0" lIns="0" bIns="0" rIns="0">
            <a:spAutoFit/>
          </a:bodyPr>
          <a:lstStyle/>
          <a:p>
            <a:pPr algn="l" marL="0" indent="0" lvl="0">
              <a:lnSpc>
                <a:spcPts val="3204"/>
              </a:lnSpc>
            </a:pPr>
            <a:r>
              <a:rPr lang="en-US" b="true" sz="2288">
                <a:solidFill>
                  <a:srgbClr val="011A3C"/>
                </a:solidFill>
                <a:latin typeface="Poppins Medium"/>
                <a:ea typeface="Poppins Medium"/>
                <a:cs typeface="Poppins Medium"/>
                <a:sym typeface="Poppins Medium"/>
              </a:rPr>
              <a:t>Team - 1</a:t>
            </a:r>
          </a:p>
        </p:txBody>
      </p:sp>
      <p:sp>
        <p:nvSpPr>
          <p:cNvPr name="TextBox 45" id="45"/>
          <p:cNvSpPr txBox="true"/>
          <p:nvPr/>
        </p:nvSpPr>
        <p:spPr>
          <a:xfrm rot="0">
            <a:off x="5152590" y="8656097"/>
            <a:ext cx="3016871" cy="399063"/>
          </a:xfrm>
          <a:prstGeom prst="rect">
            <a:avLst/>
          </a:prstGeom>
        </p:spPr>
        <p:txBody>
          <a:bodyPr anchor="t" rtlCol="false" tIns="0" lIns="0" bIns="0" rIns="0">
            <a:spAutoFit/>
          </a:bodyPr>
          <a:lstStyle/>
          <a:p>
            <a:pPr algn="ctr" marL="0" indent="0" lvl="0">
              <a:lnSpc>
                <a:spcPts val="3204"/>
              </a:lnSpc>
            </a:pPr>
            <a:r>
              <a:rPr lang="en-US" b="true" sz="2288">
                <a:solidFill>
                  <a:srgbClr val="011A3C"/>
                </a:solidFill>
                <a:latin typeface="Poppins Medium"/>
                <a:ea typeface="Poppins Medium"/>
                <a:cs typeface="Poppins Medium"/>
                <a:sym typeface="Poppins Medium"/>
              </a:rPr>
              <a:t>Anita 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516820" y="2789656"/>
            <a:ext cx="7123315" cy="6668635"/>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2770"/>
                  </a:moveTo>
                  <a:lnTo>
                    <a:pt x="596900" y="292030"/>
                  </a:lnTo>
                  <a:cubicBezTo>
                    <a:pt x="596900" y="300185"/>
                    <a:pt x="593558" y="307983"/>
                    <a:pt x="587652" y="313607"/>
                  </a:cubicBezTo>
                  <a:lnTo>
                    <a:pt x="339448" y="549993"/>
                  </a:lnTo>
                  <a:cubicBezTo>
                    <a:pt x="333511" y="555647"/>
                    <a:pt x="325627" y="558800"/>
                    <a:pt x="317430" y="558800"/>
                  </a:cubicBezTo>
                  <a:lnTo>
                    <a:pt x="12770" y="558800"/>
                  </a:lnTo>
                  <a:cubicBezTo>
                    <a:pt x="5718" y="558800"/>
                    <a:pt x="0" y="553083"/>
                    <a:pt x="0" y="546030"/>
                  </a:cubicBezTo>
                  <a:lnTo>
                    <a:pt x="0" y="261690"/>
                  </a:lnTo>
                  <a:cubicBezTo>
                    <a:pt x="0" y="253538"/>
                    <a:pt x="3353" y="245745"/>
                    <a:pt x="9273" y="240140"/>
                  </a:cubicBezTo>
                  <a:lnTo>
                    <a:pt x="253617" y="8780"/>
                  </a:lnTo>
                  <a:cubicBezTo>
                    <a:pt x="259572" y="3142"/>
                    <a:pt x="267460" y="0"/>
                    <a:pt x="275660" y="0"/>
                  </a:cubicBezTo>
                  <a:lnTo>
                    <a:pt x="584130" y="0"/>
                  </a:lnTo>
                  <a:cubicBezTo>
                    <a:pt x="591183" y="0"/>
                    <a:pt x="596900" y="5718"/>
                    <a:pt x="596900" y="12770"/>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1672748" y="-2698351"/>
            <a:ext cx="4732342" cy="4430278"/>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TextBox 8" id="8"/>
          <p:cNvSpPr txBox="true"/>
          <p:nvPr/>
        </p:nvSpPr>
        <p:spPr>
          <a:xfrm rot="0">
            <a:off x="8723474" y="1893956"/>
            <a:ext cx="8115300" cy="1942966"/>
          </a:xfrm>
          <a:prstGeom prst="rect">
            <a:avLst/>
          </a:prstGeom>
        </p:spPr>
        <p:txBody>
          <a:bodyPr anchor="t" rtlCol="false" tIns="0" lIns="0" bIns="0" rIns="0">
            <a:spAutoFit/>
          </a:bodyPr>
          <a:lstStyle/>
          <a:p>
            <a:pPr algn="r" marL="0" indent="0" lvl="0">
              <a:lnSpc>
                <a:spcPts val="7494"/>
              </a:lnSpc>
            </a:pPr>
            <a:r>
              <a:rPr lang="en-US" b="true" sz="7494" spc="149">
                <a:solidFill>
                  <a:srgbClr val="011A3C"/>
                </a:solidFill>
                <a:latin typeface="Gotham Bold"/>
                <a:ea typeface="Gotham Bold"/>
                <a:cs typeface="Gotham Bold"/>
                <a:sym typeface="Gotham Bold"/>
              </a:rPr>
              <a:t>Problem Statement</a:t>
            </a:r>
          </a:p>
        </p:txBody>
      </p:sp>
      <p:grpSp>
        <p:nvGrpSpPr>
          <p:cNvPr name="Group 9" id="9"/>
          <p:cNvGrpSpPr/>
          <p:nvPr/>
        </p:nvGrpSpPr>
        <p:grpSpPr>
          <a:xfrm rot="0">
            <a:off x="-8289632" y="-946951"/>
            <a:ext cx="14820677" cy="13874676"/>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0">
            <a:off x="-7592208" y="-294043"/>
            <a:ext cx="13425829" cy="1256886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6812552" y="5886315"/>
            <a:ext cx="2062328" cy="1930690"/>
            <a:chOff x="0" y="0"/>
            <a:chExt cx="596900" cy="558800"/>
          </a:xfrm>
        </p:grpSpPr>
        <p:sp>
          <p:nvSpPr>
            <p:cNvPr name="Freeform 16" id="16"/>
            <p:cNvSpPr/>
            <p:nvPr/>
          </p:nvSpPr>
          <p:spPr>
            <a:xfrm flipH="false" flipV="false" rot="0">
              <a:off x="0" y="0"/>
              <a:ext cx="596900" cy="558800"/>
            </a:xfrm>
            <a:custGeom>
              <a:avLst/>
              <a:gdLst/>
              <a:ahLst/>
              <a:cxnLst/>
              <a:rect r="r" b="b" t="t" l="l"/>
              <a:pathLst>
                <a:path h="558800" w="596900">
                  <a:moveTo>
                    <a:pt x="596900" y="44109"/>
                  </a:moveTo>
                  <a:lnTo>
                    <a:pt x="596900" y="260691"/>
                  </a:lnTo>
                  <a:cubicBezTo>
                    <a:pt x="596900" y="288858"/>
                    <a:pt x="585356" y="315794"/>
                    <a:pt x="564959" y="335220"/>
                  </a:cubicBezTo>
                  <a:lnTo>
                    <a:pt x="362141" y="528380"/>
                  </a:lnTo>
                  <a:cubicBezTo>
                    <a:pt x="341637" y="547908"/>
                    <a:pt x="314406" y="558800"/>
                    <a:pt x="286091" y="558800"/>
                  </a:cubicBezTo>
                  <a:lnTo>
                    <a:pt x="44109" y="558800"/>
                  </a:lnTo>
                  <a:cubicBezTo>
                    <a:pt x="19748" y="558800"/>
                    <a:pt x="0" y="539052"/>
                    <a:pt x="0" y="514691"/>
                  </a:cubicBezTo>
                  <a:lnTo>
                    <a:pt x="0" y="293029"/>
                  </a:lnTo>
                  <a:cubicBezTo>
                    <a:pt x="0" y="264871"/>
                    <a:pt x="11583" y="237953"/>
                    <a:pt x="32029" y="218593"/>
                  </a:cubicBezTo>
                  <a:lnTo>
                    <a:pt x="230861" y="30327"/>
                  </a:lnTo>
                  <a:cubicBezTo>
                    <a:pt x="251428" y="10853"/>
                    <a:pt x="278675" y="0"/>
                    <a:pt x="306999" y="0"/>
                  </a:cubicBezTo>
                  <a:lnTo>
                    <a:pt x="552791" y="0"/>
                  </a:lnTo>
                  <a:cubicBezTo>
                    <a:pt x="577152" y="0"/>
                    <a:pt x="596900" y="19748"/>
                    <a:pt x="596900" y="44109"/>
                  </a:cubicBezTo>
                  <a:close/>
                </a:path>
              </a:pathLst>
            </a:custGeom>
            <a:solidFill>
              <a:srgbClr val="FE9710"/>
            </a:solidFill>
          </p:spPr>
        </p:sp>
        <p:sp>
          <p:nvSpPr>
            <p:cNvPr name="TextBox 17" id="1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8" id="18"/>
          <p:cNvGrpSpPr/>
          <p:nvPr/>
        </p:nvGrpSpPr>
        <p:grpSpPr>
          <a:xfrm rot="-5400000">
            <a:off x="13308055" y="9334651"/>
            <a:ext cx="2392343" cy="2239640"/>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6650567" y="2110012"/>
            <a:ext cx="2297642" cy="2150984"/>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39592"/>
                  </a:moveTo>
                  <a:lnTo>
                    <a:pt x="596900" y="265208"/>
                  </a:lnTo>
                  <a:cubicBezTo>
                    <a:pt x="596900" y="290491"/>
                    <a:pt x="586538" y="314668"/>
                    <a:pt x="568230" y="332105"/>
                  </a:cubicBezTo>
                  <a:lnTo>
                    <a:pt x="358870" y="531495"/>
                  </a:lnTo>
                  <a:cubicBezTo>
                    <a:pt x="340465" y="549023"/>
                    <a:pt x="316024" y="558800"/>
                    <a:pt x="290608" y="558800"/>
                  </a:cubicBezTo>
                  <a:lnTo>
                    <a:pt x="39592" y="558800"/>
                  </a:lnTo>
                  <a:cubicBezTo>
                    <a:pt x="29091" y="558800"/>
                    <a:pt x="19021" y="554629"/>
                    <a:pt x="11596" y="547204"/>
                  </a:cubicBezTo>
                  <a:cubicBezTo>
                    <a:pt x="4171" y="539779"/>
                    <a:pt x="0" y="529709"/>
                    <a:pt x="0" y="519208"/>
                  </a:cubicBezTo>
                  <a:lnTo>
                    <a:pt x="0" y="288512"/>
                  </a:lnTo>
                  <a:cubicBezTo>
                    <a:pt x="0" y="263237"/>
                    <a:pt x="10396" y="239076"/>
                    <a:pt x="28749" y="221699"/>
                  </a:cubicBezTo>
                  <a:lnTo>
                    <a:pt x="234141" y="27221"/>
                  </a:lnTo>
                  <a:cubicBezTo>
                    <a:pt x="252602" y="9742"/>
                    <a:pt x="277059" y="0"/>
                    <a:pt x="302482" y="0"/>
                  </a:cubicBezTo>
                  <a:lnTo>
                    <a:pt x="557308" y="0"/>
                  </a:lnTo>
                  <a:cubicBezTo>
                    <a:pt x="567809" y="0"/>
                    <a:pt x="577879" y="4171"/>
                    <a:pt x="585304" y="11596"/>
                  </a:cubicBezTo>
                  <a:cubicBezTo>
                    <a:pt x="592729" y="19021"/>
                    <a:pt x="596900" y="29091"/>
                    <a:pt x="596900" y="39592"/>
                  </a:cubicBezTo>
                  <a:close/>
                </a:path>
              </a:pathLst>
            </a:custGeom>
            <a:solidFill>
              <a:srgbClr val="FE9710"/>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1633977" y="1028700"/>
            <a:ext cx="6659390" cy="8229600"/>
            <a:chOff x="0" y="0"/>
            <a:chExt cx="1460623" cy="1805022"/>
          </a:xfrm>
        </p:grpSpPr>
        <p:sp>
          <p:nvSpPr>
            <p:cNvPr name="Freeform 25" id="2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60" r="0" b="-260"/>
              </a:stretch>
            </a:blipFill>
            <a:ln w="152400" cap="sq">
              <a:solidFill>
                <a:srgbClr val="FFFFFF"/>
              </a:solidFill>
              <a:prstDash val="solid"/>
              <a:miter/>
            </a:ln>
          </p:spPr>
        </p:sp>
      </p:grpSp>
      <p:sp>
        <p:nvSpPr>
          <p:cNvPr name="TextBox 26" id="26"/>
          <p:cNvSpPr txBox="true"/>
          <p:nvPr/>
        </p:nvSpPr>
        <p:spPr>
          <a:xfrm rot="0">
            <a:off x="9510571" y="4620972"/>
            <a:ext cx="7328203" cy="2380021"/>
          </a:xfrm>
          <a:prstGeom prst="rect">
            <a:avLst/>
          </a:prstGeom>
        </p:spPr>
        <p:txBody>
          <a:bodyPr anchor="t" rtlCol="false" tIns="0" lIns="0" bIns="0" rIns="0">
            <a:spAutoFit/>
          </a:bodyPr>
          <a:lstStyle/>
          <a:p>
            <a:pPr algn="r" marL="0" indent="0" lvl="0">
              <a:lnSpc>
                <a:spcPts val="3217"/>
              </a:lnSpc>
            </a:pPr>
            <a:r>
              <a:rPr lang="en-US" sz="2298">
                <a:solidFill>
                  <a:srgbClr val="011A3C"/>
                </a:solidFill>
                <a:latin typeface="Nunito"/>
                <a:ea typeface="Nunito"/>
                <a:cs typeface="Nunito"/>
                <a:sym typeface="Nunito"/>
              </a:rPr>
              <a:t>Modern organizations manage vast document collections — research papers, reports, and records — that grow faster than manual review allows. Traditional keyword search relies on exact string matching, which is slow, error-prone, and fails to capture related meanings (e.g., "car" vs. "automobile").</a:t>
            </a:r>
          </a:p>
        </p:txBody>
      </p:sp>
      <p:sp>
        <p:nvSpPr>
          <p:cNvPr name="TextBox 27" id="27"/>
          <p:cNvSpPr txBox="true"/>
          <p:nvPr/>
        </p:nvSpPr>
        <p:spPr>
          <a:xfrm rot="0">
            <a:off x="9510571" y="7375467"/>
            <a:ext cx="7328203" cy="1579921"/>
          </a:xfrm>
          <a:prstGeom prst="rect">
            <a:avLst/>
          </a:prstGeom>
        </p:spPr>
        <p:txBody>
          <a:bodyPr anchor="t" rtlCol="false" tIns="0" lIns="0" bIns="0" rIns="0">
            <a:spAutoFit/>
          </a:bodyPr>
          <a:lstStyle/>
          <a:p>
            <a:pPr algn="r" marL="0" indent="0" lvl="0">
              <a:lnSpc>
                <a:spcPts val="3217"/>
              </a:lnSpc>
            </a:pPr>
            <a:r>
              <a:rPr lang="en-US" sz="2298">
                <a:solidFill>
                  <a:srgbClr val="011A3C"/>
                </a:solidFill>
                <a:latin typeface="Nunito"/>
                <a:ea typeface="Nunito"/>
                <a:cs typeface="Nunito"/>
                <a:sym typeface="Nunito"/>
              </a:rPr>
              <a:t>There is a critical need for a lightweight, efficient retrieval framework that combines meaningful keyword processing with fast DSA-based indexing to handle small/medium corpora within Java constraints.</a:t>
            </a:r>
          </a:p>
        </p:txBody>
      </p:sp>
      <p:sp>
        <p:nvSpPr>
          <p:cNvPr name="AutoShape 28" id="28"/>
          <p:cNvSpPr/>
          <p:nvPr/>
        </p:nvSpPr>
        <p:spPr>
          <a:xfrm>
            <a:off x="11498540" y="4144722"/>
            <a:ext cx="8461486" cy="0"/>
          </a:xfrm>
          <a:prstGeom prst="line">
            <a:avLst/>
          </a:prstGeom>
          <a:ln cap="rnd" w="38100">
            <a:solidFill>
              <a:srgbClr val="FE971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60802" y="5632991"/>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FE9710"/>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3409795" y="3529260"/>
            <a:ext cx="4541453" cy="1014107"/>
            <a:chOff x="0" y="0"/>
            <a:chExt cx="1196103" cy="267090"/>
          </a:xfrm>
        </p:grpSpPr>
        <p:sp>
          <p:nvSpPr>
            <p:cNvPr name="Freeform 15" id="15"/>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014AAB"/>
              </a:solidFill>
              <a:prstDash val="solid"/>
              <a:round/>
            </a:ln>
          </p:spPr>
        </p:sp>
        <p:sp>
          <p:nvSpPr>
            <p:cNvPr name="TextBox 16" id="16"/>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11042575" y="3529260"/>
            <a:ext cx="4541453" cy="1014107"/>
            <a:chOff x="0" y="0"/>
            <a:chExt cx="1196103" cy="267090"/>
          </a:xfrm>
        </p:grpSpPr>
        <p:sp>
          <p:nvSpPr>
            <p:cNvPr name="Freeform 18" id="18"/>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FE9710"/>
              </a:solidFill>
              <a:prstDash val="solid"/>
              <a:round/>
            </a:ln>
          </p:spPr>
        </p:sp>
        <p:sp>
          <p:nvSpPr>
            <p:cNvPr name="TextBox 19" id="19"/>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2703972" y="3529260"/>
            <a:ext cx="1014107" cy="101410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10336752" y="3529260"/>
            <a:ext cx="1014107" cy="101410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9710"/>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2169636" y="4707338"/>
            <a:ext cx="12880056" cy="4550962"/>
            <a:chOff x="0" y="0"/>
            <a:chExt cx="3392278" cy="1198607"/>
          </a:xfrm>
        </p:grpSpPr>
        <p:sp>
          <p:nvSpPr>
            <p:cNvPr name="Freeform 27" id="27"/>
            <p:cNvSpPr/>
            <p:nvPr/>
          </p:nvSpPr>
          <p:spPr>
            <a:xfrm flipH="false" flipV="false" rot="0">
              <a:off x="0" y="0"/>
              <a:ext cx="3392278" cy="1198607"/>
            </a:xfrm>
            <a:custGeom>
              <a:avLst/>
              <a:gdLst/>
              <a:ahLst/>
              <a:cxnLst/>
              <a:rect r="r" b="b" t="t" l="l"/>
              <a:pathLst>
                <a:path h="1198607" w="3392278">
                  <a:moveTo>
                    <a:pt x="31857" y="0"/>
                  </a:moveTo>
                  <a:lnTo>
                    <a:pt x="3360421" y="0"/>
                  </a:lnTo>
                  <a:cubicBezTo>
                    <a:pt x="3368870" y="0"/>
                    <a:pt x="3376973" y="3356"/>
                    <a:pt x="3382947" y="9331"/>
                  </a:cubicBezTo>
                  <a:cubicBezTo>
                    <a:pt x="3388922" y="15305"/>
                    <a:pt x="3392278" y="23408"/>
                    <a:pt x="3392278" y="31857"/>
                  </a:cubicBezTo>
                  <a:lnTo>
                    <a:pt x="3392278" y="1166750"/>
                  </a:lnTo>
                  <a:cubicBezTo>
                    <a:pt x="3392278" y="1184344"/>
                    <a:pt x="3378015" y="1198607"/>
                    <a:pt x="3360421" y="1198607"/>
                  </a:cubicBezTo>
                  <a:lnTo>
                    <a:pt x="31857" y="1198607"/>
                  </a:lnTo>
                  <a:cubicBezTo>
                    <a:pt x="14263" y="1198607"/>
                    <a:pt x="0" y="1184344"/>
                    <a:pt x="0" y="1166750"/>
                  </a:cubicBezTo>
                  <a:lnTo>
                    <a:pt x="0" y="31857"/>
                  </a:lnTo>
                  <a:cubicBezTo>
                    <a:pt x="0" y="14263"/>
                    <a:pt x="14263" y="0"/>
                    <a:pt x="31857" y="0"/>
                  </a:cubicBezTo>
                  <a:close/>
                </a:path>
              </a:pathLst>
            </a:custGeom>
            <a:solidFill>
              <a:srgbClr val="FFFFFF"/>
            </a:solidFill>
          </p:spPr>
        </p:sp>
        <p:sp>
          <p:nvSpPr>
            <p:cNvPr name="TextBox 28" id="28"/>
            <p:cNvSpPr txBox="true"/>
            <p:nvPr/>
          </p:nvSpPr>
          <p:spPr>
            <a:xfrm>
              <a:off x="0" y="-57150"/>
              <a:ext cx="3392278" cy="1255757"/>
            </a:xfrm>
            <a:prstGeom prst="rect">
              <a:avLst/>
            </a:prstGeom>
          </p:spPr>
          <p:txBody>
            <a:bodyPr anchor="ctr" rtlCol="false" tIns="50800" lIns="50800" bIns="50800" rIns="50800"/>
            <a:lstStyle/>
            <a:p>
              <a:pPr algn="ctr" marL="0" indent="0" lvl="0">
                <a:lnSpc>
                  <a:spcPts val="3220"/>
                </a:lnSpc>
              </a:pPr>
            </a:p>
          </p:txBody>
        </p:sp>
      </p:grpSp>
      <p:sp>
        <p:nvSpPr>
          <p:cNvPr name="Freeform 29" id="29"/>
          <p:cNvSpPr/>
          <p:nvPr/>
        </p:nvSpPr>
        <p:spPr>
          <a:xfrm flipH="false" flipV="false" rot="0">
            <a:off x="2962777" y="3753052"/>
            <a:ext cx="511751" cy="563913"/>
          </a:xfrm>
          <a:custGeom>
            <a:avLst/>
            <a:gdLst/>
            <a:ahLst/>
            <a:cxnLst/>
            <a:rect r="r" b="b" t="t" l="l"/>
            <a:pathLst>
              <a:path h="563913" w="511751">
                <a:moveTo>
                  <a:pt x="0" y="0"/>
                </a:moveTo>
                <a:lnTo>
                  <a:pt x="511752" y="0"/>
                </a:lnTo>
                <a:lnTo>
                  <a:pt x="511752" y="563913"/>
                </a:lnTo>
                <a:lnTo>
                  <a:pt x="0" y="563913"/>
                </a:lnTo>
                <a:lnTo>
                  <a:pt x="0" y="0"/>
                </a:lnTo>
                <a:close/>
              </a:path>
            </a:pathLst>
          </a:custGeom>
          <a:blipFill>
            <a:blip r:embed="rId2"/>
            <a:stretch>
              <a:fillRect l="0" t="0" r="0" b="0"/>
            </a:stretch>
          </a:blipFill>
        </p:spPr>
      </p:sp>
      <p:sp>
        <p:nvSpPr>
          <p:cNvPr name="Freeform 30" id="30"/>
          <p:cNvSpPr/>
          <p:nvPr/>
        </p:nvSpPr>
        <p:spPr>
          <a:xfrm flipH="false" flipV="false" rot="0">
            <a:off x="10556904" y="3731181"/>
            <a:ext cx="690102" cy="634893"/>
          </a:xfrm>
          <a:custGeom>
            <a:avLst/>
            <a:gdLst/>
            <a:ahLst/>
            <a:cxnLst/>
            <a:rect r="r" b="b" t="t" l="l"/>
            <a:pathLst>
              <a:path h="634893" w="690102">
                <a:moveTo>
                  <a:pt x="0" y="0"/>
                </a:moveTo>
                <a:lnTo>
                  <a:pt x="690102" y="0"/>
                </a:lnTo>
                <a:lnTo>
                  <a:pt x="690102" y="634893"/>
                </a:lnTo>
                <a:lnTo>
                  <a:pt x="0" y="634893"/>
                </a:lnTo>
                <a:lnTo>
                  <a:pt x="0" y="0"/>
                </a:lnTo>
                <a:close/>
              </a:path>
            </a:pathLst>
          </a:custGeom>
          <a:blipFill>
            <a:blip r:embed="rId3"/>
            <a:stretch>
              <a:fillRect l="0" t="0" r="0" b="0"/>
            </a:stretch>
          </a:blipFill>
        </p:spPr>
      </p:sp>
      <p:sp>
        <p:nvSpPr>
          <p:cNvPr name="TextBox 31" id="31"/>
          <p:cNvSpPr txBox="true"/>
          <p:nvPr/>
        </p:nvSpPr>
        <p:spPr>
          <a:xfrm rot="0">
            <a:off x="3741893" y="1845373"/>
            <a:ext cx="10804215" cy="999991"/>
          </a:xfrm>
          <a:prstGeom prst="rect">
            <a:avLst/>
          </a:prstGeom>
        </p:spPr>
        <p:txBody>
          <a:bodyPr anchor="t" rtlCol="false" tIns="0" lIns="0" bIns="0" rIns="0">
            <a:spAutoFit/>
          </a:bodyPr>
          <a:lstStyle/>
          <a:p>
            <a:pPr algn="ctr" marL="0" indent="0" lvl="0">
              <a:lnSpc>
                <a:spcPts val="7494"/>
              </a:lnSpc>
            </a:pPr>
            <a:r>
              <a:rPr lang="en-US" b="true" sz="7494" spc="149">
                <a:solidFill>
                  <a:srgbClr val="011A3C"/>
                </a:solidFill>
                <a:latin typeface="Gotham Bold"/>
                <a:ea typeface="Gotham Bold"/>
                <a:cs typeface="Gotham Bold"/>
                <a:sym typeface="Gotham Bold"/>
              </a:rPr>
              <a:t>Project Objectives</a:t>
            </a:r>
          </a:p>
        </p:txBody>
      </p:sp>
      <p:sp>
        <p:nvSpPr>
          <p:cNvPr name="TextBox 32" id="32"/>
          <p:cNvSpPr txBox="true"/>
          <p:nvPr/>
        </p:nvSpPr>
        <p:spPr>
          <a:xfrm rot="0">
            <a:off x="3991615" y="3801382"/>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Processing Goals</a:t>
            </a:r>
          </a:p>
        </p:txBody>
      </p:sp>
      <p:sp>
        <p:nvSpPr>
          <p:cNvPr name="TextBox 33" id="33"/>
          <p:cNvSpPr txBox="true"/>
          <p:nvPr/>
        </p:nvSpPr>
        <p:spPr>
          <a:xfrm rot="0">
            <a:off x="11624395" y="3801382"/>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Implementation Goals</a:t>
            </a:r>
          </a:p>
        </p:txBody>
      </p:sp>
      <p:sp>
        <p:nvSpPr>
          <p:cNvPr name="AutoShape 34" id="34"/>
          <p:cNvSpPr/>
          <p:nvPr/>
        </p:nvSpPr>
        <p:spPr>
          <a:xfrm flipV="true">
            <a:off x="7951248" y="3078134"/>
            <a:ext cx="12134633" cy="0"/>
          </a:xfrm>
          <a:prstGeom prst="line">
            <a:avLst/>
          </a:prstGeom>
          <a:ln cap="rnd" w="38100">
            <a:solidFill>
              <a:srgbClr val="014AAB"/>
            </a:solidFill>
            <a:prstDash val="solid"/>
            <a:headEnd type="none" len="sm" w="sm"/>
            <a:tailEnd type="none" len="sm" w="sm"/>
          </a:ln>
        </p:spPr>
      </p:sp>
      <p:sp>
        <p:nvSpPr>
          <p:cNvPr name="TextBox 35" id="35"/>
          <p:cNvSpPr txBox="true"/>
          <p:nvPr/>
        </p:nvSpPr>
        <p:spPr>
          <a:xfrm rot="0">
            <a:off x="2703972" y="4952943"/>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Prepare raw text data for analysis through a structured NLP pipeline.</a:t>
            </a:r>
          </a:p>
        </p:txBody>
      </p:sp>
      <p:sp>
        <p:nvSpPr>
          <p:cNvPr name="TextBox 36" id="36"/>
          <p:cNvSpPr txBox="true"/>
          <p:nvPr/>
        </p:nvSpPr>
        <p:spPr>
          <a:xfrm rot="0">
            <a:off x="10336752" y="4952943"/>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Build a functional Java prototype using core data structures and algorithms.</a:t>
            </a:r>
          </a:p>
        </p:txBody>
      </p:sp>
      <p:sp>
        <p:nvSpPr>
          <p:cNvPr name="TextBox 37" id="37"/>
          <p:cNvSpPr txBox="true"/>
          <p:nvPr/>
        </p:nvSpPr>
        <p:spPr>
          <a:xfrm rot="0">
            <a:off x="2703972" y="6279814"/>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Preprocess text: clean, tokenize, and remove stop-words from documents.</a:t>
            </a:r>
          </a:p>
        </p:txBody>
      </p:sp>
      <p:sp>
        <p:nvSpPr>
          <p:cNvPr name="TextBox 38" id="38"/>
          <p:cNvSpPr txBox="true"/>
          <p:nvPr/>
        </p:nvSpPr>
        <p:spPr>
          <a:xfrm rot="0">
            <a:off x="10336752" y="6279814"/>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Build an inverted index mapping keywords to relevant documents.</a:t>
            </a:r>
          </a:p>
        </p:txBody>
      </p:sp>
      <p:sp>
        <p:nvSpPr>
          <p:cNvPr name="TextBox 39" id="39"/>
          <p:cNvSpPr txBox="true"/>
          <p:nvPr/>
        </p:nvSpPr>
        <p:spPr>
          <a:xfrm rot="0">
            <a:off x="2703972" y="7158268"/>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Extract meaningful keywords using graph-based or statistical methods.</a:t>
            </a:r>
          </a:p>
        </p:txBody>
      </p:sp>
      <p:sp>
        <p:nvSpPr>
          <p:cNvPr name="TextBox 40" id="40"/>
          <p:cNvSpPr txBox="true"/>
          <p:nvPr/>
        </p:nvSpPr>
        <p:spPr>
          <a:xfrm rot="0">
            <a:off x="10336752" y="7158268"/>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Retrieve documents quickly from user queries using the index.</a:t>
            </a:r>
          </a:p>
        </p:txBody>
      </p:sp>
      <p:sp>
        <p:nvSpPr>
          <p:cNvPr name="TextBox 41" id="41"/>
          <p:cNvSpPr txBox="true"/>
          <p:nvPr/>
        </p:nvSpPr>
        <p:spPr>
          <a:xfrm rot="0">
            <a:off x="2703972" y="8034493"/>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Ensure efficient, scalable retrieval for small/medium corpora.</a:t>
            </a:r>
          </a:p>
        </p:txBody>
      </p:sp>
      <p:sp>
        <p:nvSpPr>
          <p:cNvPr name="TextBox 42" id="42"/>
          <p:cNvSpPr txBox="true"/>
          <p:nvPr/>
        </p:nvSpPr>
        <p:spPr>
          <a:xfrm rot="0">
            <a:off x="10336752" y="8034493"/>
            <a:ext cx="5419181" cy="676275"/>
          </a:xfrm>
          <a:prstGeom prst="rect">
            <a:avLst/>
          </a:prstGeom>
        </p:spPr>
        <p:txBody>
          <a:bodyPr anchor="t" rtlCol="false" tIns="0" lIns="0" bIns="0" rIns="0">
            <a:spAutoFit/>
          </a:bodyPr>
          <a:lstStyle/>
          <a:p>
            <a:pPr algn="l" marL="0" indent="0" lvl="0">
              <a:lnSpc>
                <a:spcPts val="2758"/>
              </a:lnSpc>
            </a:pPr>
            <a:r>
              <a:rPr lang="en-US" sz="2298">
                <a:solidFill>
                  <a:srgbClr val="011A3C"/>
                </a:solidFill>
                <a:latin typeface="Nunito"/>
                <a:ea typeface="Nunito"/>
                <a:cs typeface="Nunito"/>
                <a:sym typeface="Nunito"/>
              </a:rPr>
              <a:t>Implement entirely in Java using DSA: HashMap, HashSet, ArrayList.</a:t>
            </a:r>
          </a:p>
        </p:txBody>
      </p:sp>
      <p:grpSp>
        <p:nvGrpSpPr>
          <p:cNvPr name="Group 43" id="43"/>
          <p:cNvGrpSpPr/>
          <p:nvPr/>
        </p:nvGrpSpPr>
        <p:grpSpPr>
          <a:xfrm rot="0">
            <a:off x="14546107" y="9008976"/>
            <a:ext cx="2954069" cy="2765512"/>
            <a:chOff x="0" y="0"/>
            <a:chExt cx="596900" cy="558800"/>
          </a:xfrm>
        </p:grpSpPr>
        <p:sp>
          <p:nvSpPr>
            <p:cNvPr name="Freeform 44" id="44"/>
            <p:cNvSpPr/>
            <p:nvPr/>
          </p:nvSpPr>
          <p:spPr>
            <a:xfrm flipH="false" flipV="false" rot="0">
              <a:off x="0" y="0"/>
              <a:ext cx="596900" cy="558800"/>
            </a:xfrm>
            <a:custGeom>
              <a:avLst/>
              <a:gdLst/>
              <a:ahLst/>
              <a:cxnLst/>
              <a:rect r="r" b="b" t="t" l="l"/>
              <a:pathLst>
                <a:path h="558800" w="596900">
                  <a:moveTo>
                    <a:pt x="596900" y="30794"/>
                  </a:moveTo>
                  <a:lnTo>
                    <a:pt x="596900" y="274006"/>
                  </a:lnTo>
                  <a:cubicBezTo>
                    <a:pt x="596900" y="293670"/>
                    <a:pt x="588841" y="312476"/>
                    <a:pt x="574601" y="326037"/>
                  </a:cubicBezTo>
                  <a:lnTo>
                    <a:pt x="352499" y="537563"/>
                  </a:lnTo>
                  <a:cubicBezTo>
                    <a:pt x="338184" y="551196"/>
                    <a:pt x="319174" y="558800"/>
                    <a:pt x="299406" y="558800"/>
                  </a:cubicBezTo>
                  <a:lnTo>
                    <a:pt x="30794" y="558800"/>
                  </a:lnTo>
                  <a:cubicBezTo>
                    <a:pt x="13787" y="558800"/>
                    <a:pt x="0" y="545013"/>
                    <a:pt x="0" y="528006"/>
                  </a:cubicBezTo>
                  <a:lnTo>
                    <a:pt x="0" y="279714"/>
                  </a:lnTo>
                  <a:cubicBezTo>
                    <a:pt x="0" y="260056"/>
                    <a:pt x="8086" y="241263"/>
                    <a:pt x="22361" y="227748"/>
                  </a:cubicBezTo>
                  <a:lnTo>
                    <a:pt x="240529" y="21172"/>
                  </a:lnTo>
                  <a:cubicBezTo>
                    <a:pt x="254888" y="7577"/>
                    <a:pt x="273910" y="0"/>
                    <a:pt x="293684" y="0"/>
                  </a:cubicBezTo>
                  <a:lnTo>
                    <a:pt x="566106" y="0"/>
                  </a:lnTo>
                  <a:cubicBezTo>
                    <a:pt x="583113" y="0"/>
                    <a:pt x="596900" y="13787"/>
                    <a:pt x="596900" y="30794"/>
                  </a:cubicBezTo>
                  <a:close/>
                </a:path>
              </a:pathLst>
            </a:custGeom>
            <a:solidFill>
              <a:srgbClr val="014AAB"/>
            </a:solidFill>
          </p:spPr>
        </p:sp>
        <p:sp>
          <p:nvSpPr>
            <p:cNvPr name="TextBox 45" id="4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46" id="46"/>
          <p:cNvGrpSpPr/>
          <p:nvPr/>
        </p:nvGrpSpPr>
        <p:grpSpPr>
          <a:xfrm rot="-10800000">
            <a:off x="779460" y="-3002706"/>
            <a:ext cx="4863131" cy="4552719"/>
            <a:chOff x="0" y="0"/>
            <a:chExt cx="596900" cy="558800"/>
          </a:xfrm>
        </p:grpSpPr>
        <p:sp>
          <p:nvSpPr>
            <p:cNvPr name="Freeform 47" id="47"/>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FE9710"/>
              </a:solidFill>
              <a:prstDash val="solid"/>
              <a:miter/>
            </a:ln>
          </p:spPr>
        </p:sp>
        <p:sp>
          <p:nvSpPr>
            <p:cNvPr name="TextBox 48" id="48"/>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49" id="49"/>
          <p:cNvGrpSpPr/>
          <p:nvPr/>
        </p:nvGrpSpPr>
        <p:grpSpPr>
          <a:xfrm rot="-10800000">
            <a:off x="1174301" y="-2633068"/>
            <a:ext cx="4073450" cy="3813443"/>
            <a:chOff x="0" y="0"/>
            <a:chExt cx="596900" cy="558800"/>
          </a:xfrm>
        </p:grpSpPr>
        <p:sp>
          <p:nvSpPr>
            <p:cNvPr name="Freeform 50" id="50"/>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014AAB"/>
            </a:solidFill>
          </p:spPr>
        </p:sp>
        <p:sp>
          <p:nvSpPr>
            <p:cNvPr name="TextBox 51" id="5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2" id="52"/>
          <p:cNvGrpSpPr/>
          <p:nvPr/>
        </p:nvGrpSpPr>
        <p:grpSpPr>
          <a:xfrm rot="0">
            <a:off x="-1338322" y="845118"/>
            <a:ext cx="4235564" cy="935169"/>
            <a:chOff x="0" y="0"/>
            <a:chExt cx="1115539" cy="246300"/>
          </a:xfrm>
        </p:grpSpPr>
        <p:sp>
          <p:nvSpPr>
            <p:cNvPr name="Freeform 53" id="53"/>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54" id="54"/>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55" id="55"/>
          <p:cNvSpPr/>
          <p:nvPr/>
        </p:nvSpPr>
        <p:spPr>
          <a:xfrm flipH="false" flipV="false" rot="0">
            <a:off x="16130060" y="845118"/>
            <a:ext cx="1370117" cy="1355170"/>
          </a:xfrm>
          <a:custGeom>
            <a:avLst/>
            <a:gdLst/>
            <a:ahLst/>
            <a:cxnLst/>
            <a:rect r="r" b="b" t="t" l="l"/>
            <a:pathLst>
              <a:path h="1355170" w="1370117">
                <a:moveTo>
                  <a:pt x="0" y="0"/>
                </a:moveTo>
                <a:lnTo>
                  <a:pt x="1370117" y="0"/>
                </a:lnTo>
                <a:lnTo>
                  <a:pt x="1370117" y="1355171"/>
                </a:lnTo>
                <a:lnTo>
                  <a:pt x="0" y="13551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8" id="8"/>
          <p:cNvGrpSpPr/>
          <p:nvPr/>
        </p:nvGrpSpPr>
        <p:grpSpPr>
          <a:xfrm rot="5400000">
            <a:off x="10005635" y="6369713"/>
            <a:ext cx="5129706" cy="4802278"/>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FE9710"/>
              </a:solidFill>
              <a:prstDash val="solid"/>
              <a:miter/>
            </a:ln>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9304440" y="1157886"/>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0169349" y="1886002"/>
            <a:ext cx="5981727" cy="6734474"/>
            <a:chOff x="0" y="0"/>
            <a:chExt cx="1575434" cy="1773689"/>
          </a:xfrm>
        </p:grpSpPr>
        <p:sp>
          <p:nvSpPr>
            <p:cNvPr name="Freeform 15" id="15"/>
            <p:cNvSpPr/>
            <p:nvPr/>
          </p:nvSpPr>
          <p:spPr>
            <a:xfrm flipH="false" flipV="false" rot="0">
              <a:off x="0" y="0"/>
              <a:ext cx="1575434" cy="1773689"/>
            </a:xfrm>
            <a:custGeom>
              <a:avLst/>
              <a:gdLst/>
              <a:ahLst/>
              <a:cxnLst/>
              <a:rect r="r" b="b" t="t" l="l"/>
              <a:pathLst>
                <a:path h="1773689" w="1575434">
                  <a:moveTo>
                    <a:pt x="38828" y="0"/>
                  </a:moveTo>
                  <a:lnTo>
                    <a:pt x="1536606" y="0"/>
                  </a:lnTo>
                  <a:cubicBezTo>
                    <a:pt x="1546904" y="0"/>
                    <a:pt x="1556780" y="4091"/>
                    <a:pt x="1564062" y="11372"/>
                  </a:cubicBezTo>
                  <a:cubicBezTo>
                    <a:pt x="1571344" y="18654"/>
                    <a:pt x="1575434" y="28530"/>
                    <a:pt x="1575434" y="38828"/>
                  </a:cubicBezTo>
                  <a:lnTo>
                    <a:pt x="1575434" y="1734861"/>
                  </a:lnTo>
                  <a:cubicBezTo>
                    <a:pt x="1575434" y="1756305"/>
                    <a:pt x="1558050" y="1773689"/>
                    <a:pt x="1536606" y="1773689"/>
                  </a:cubicBezTo>
                  <a:lnTo>
                    <a:pt x="38828" y="1773689"/>
                  </a:lnTo>
                  <a:cubicBezTo>
                    <a:pt x="17384" y="1773689"/>
                    <a:pt x="0" y="1756305"/>
                    <a:pt x="0" y="1734861"/>
                  </a:cubicBezTo>
                  <a:lnTo>
                    <a:pt x="0" y="38828"/>
                  </a:lnTo>
                  <a:cubicBezTo>
                    <a:pt x="0" y="17384"/>
                    <a:pt x="17384" y="0"/>
                    <a:pt x="38828" y="0"/>
                  </a:cubicBezTo>
                  <a:close/>
                </a:path>
              </a:pathLst>
            </a:custGeom>
            <a:solidFill>
              <a:srgbClr val="FFFFFF"/>
            </a:solidFill>
          </p:spPr>
        </p:sp>
        <p:sp>
          <p:nvSpPr>
            <p:cNvPr name="TextBox 16" id="16"/>
            <p:cNvSpPr txBox="true"/>
            <p:nvPr/>
          </p:nvSpPr>
          <p:spPr>
            <a:xfrm>
              <a:off x="0" y="-57150"/>
              <a:ext cx="1575434" cy="1830839"/>
            </a:xfrm>
            <a:prstGeom prst="rect">
              <a:avLst/>
            </a:prstGeom>
          </p:spPr>
          <p:txBody>
            <a:bodyPr anchor="ctr" rtlCol="false" tIns="50800" lIns="50800" bIns="50800" rIns="50800"/>
            <a:lstStyle/>
            <a:p>
              <a:pPr algn="ctr" marL="0" indent="0" lvl="0">
                <a:lnSpc>
                  <a:spcPts val="3220"/>
                </a:lnSpc>
              </a:pPr>
            </a:p>
          </p:txBody>
        </p:sp>
      </p:grpSp>
      <p:sp>
        <p:nvSpPr>
          <p:cNvPr name="TextBox 17" id="17"/>
          <p:cNvSpPr txBox="true"/>
          <p:nvPr/>
        </p:nvSpPr>
        <p:spPr>
          <a:xfrm rot="0">
            <a:off x="577566" y="1133475"/>
            <a:ext cx="8115300" cy="1593741"/>
          </a:xfrm>
          <a:prstGeom prst="rect">
            <a:avLst/>
          </a:prstGeom>
        </p:spPr>
        <p:txBody>
          <a:bodyPr anchor="t" rtlCol="false" tIns="0" lIns="0" bIns="0" rIns="0">
            <a:spAutoFit/>
          </a:bodyPr>
          <a:lstStyle/>
          <a:p>
            <a:pPr algn="l" marL="0" indent="0" lvl="0">
              <a:lnSpc>
                <a:spcPts val="6120"/>
              </a:lnSpc>
            </a:pPr>
            <a:r>
              <a:rPr lang="en-US" b="true" sz="6120" spc="122">
                <a:solidFill>
                  <a:srgbClr val="011A3C"/>
                </a:solidFill>
                <a:latin typeface="Gotham Bold"/>
                <a:ea typeface="Gotham Bold"/>
                <a:cs typeface="Gotham Bold"/>
                <a:sym typeface="Gotham Bold"/>
              </a:rPr>
              <a:t>Literature Review:</a:t>
            </a:r>
          </a:p>
          <a:p>
            <a:pPr algn="l" marL="0" indent="0" lvl="0">
              <a:lnSpc>
                <a:spcPts val="6120"/>
              </a:lnSpc>
            </a:pPr>
            <a:r>
              <a:rPr lang="en-US" b="true" sz="6120" spc="122">
                <a:solidFill>
                  <a:srgbClr val="011A3C"/>
                </a:solidFill>
                <a:latin typeface="Gotham Bold"/>
                <a:ea typeface="Gotham Bold"/>
                <a:cs typeface="Gotham Bold"/>
                <a:sym typeface="Gotham Bold"/>
              </a:rPr>
              <a:t>Keyword Extraction</a:t>
            </a:r>
          </a:p>
        </p:txBody>
      </p:sp>
      <p:grpSp>
        <p:nvGrpSpPr>
          <p:cNvPr name="Group 18" id="18"/>
          <p:cNvGrpSpPr/>
          <p:nvPr/>
        </p:nvGrpSpPr>
        <p:grpSpPr>
          <a:xfrm rot="0">
            <a:off x="1215085" y="5601374"/>
            <a:ext cx="4139340" cy="924316"/>
            <a:chOff x="0" y="0"/>
            <a:chExt cx="1090197" cy="243441"/>
          </a:xfrm>
        </p:grpSpPr>
        <p:sp>
          <p:nvSpPr>
            <p:cNvPr name="Freeform 19" id="19"/>
            <p:cNvSpPr/>
            <p:nvPr/>
          </p:nvSpPr>
          <p:spPr>
            <a:xfrm flipH="false" flipV="false" rot="0">
              <a:off x="0" y="0"/>
              <a:ext cx="1090197" cy="243441"/>
            </a:xfrm>
            <a:custGeom>
              <a:avLst/>
              <a:gdLst/>
              <a:ahLst/>
              <a:cxnLst/>
              <a:rect r="r" b="b" t="t" l="l"/>
              <a:pathLst>
                <a:path h="243441" w="1090197">
                  <a:moveTo>
                    <a:pt x="121721" y="0"/>
                  </a:moveTo>
                  <a:lnTo>
                    <a:pt x="968476" y="0"/>
                  </a:lnTo>
                  <a:cubicBezTo>
                    <a:pt x="1000758" y="0"/>
                    <a:pt x="1031718" y="12824"/>
                    <a:pt x="1054546" y="35651"/>
                  </a:cubicBezTo>
                  <a:cubicBezTo>
                    <a:pt x="1077373" y="58478"/>
                    <a:pt x="1090197" y="89438"/>
                    <a:pt x="1090197" y="121721"/>
                  </a:cubicBezTo>
                  <a:lnTo>
                    <a:pt x="1090197" y="121721"/>
                  </a:lnTo>
                  <a:cubicBezTo>
                    <a:pt x="1090197" y="188945"/>
                    <a:pt x="1035700" y="243441"/>
                    <a:pt x="968476"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0" id="20"/>
            <p:cNvSpPr txBox="true"/>
            <p:nvPr/>
          </p:nvSpPr>
          <p:spPr>
            <a:xfrm>
              <a:off x="0" y="-57150"/>
              <a:ext cx="1090197" cy="300591"/>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0">
            <a:off x="9709177" y="1260765"/>
            <a:ext cx="4731056" cy="1014107"/>
            <a:chOff x="0" y="0"/>
            <a:chExt cx="1246040" cy="267090"/>
          </a:xfrm>
        </p:grpSpPr>
        <p:sp>
          <p:nvSpPr>
            <p:cNvPr name="Freeform 22" id="22"/>
            <p:cNvSpPr/>
            <p:nvPr/>
          </p:nvSpPr>
          <p:spPr>
            <a:xfrm flipH="false" flipV="false" rot="0">
              <a:off x="0" y="0"/>
              <a:ext cx="1246040" cy="267090"/>
            </a:xfrm>
            <a:custGeom>
              <a:avLst/>
              <a:gdLst/>
              <a:ahLst/>
              <a:cxnLst/>
              <a:rect r="r" b="b" t="t" l="l"/>
              <a:pathLst>
                <a:path h="267090" w="1246040">
                  <a:moveTo>
                    <a:pt x="133545" y="0"/>
                  </a:moveTo>
                  <a:lnTo>
                    <a:pt x="1112494" y="0"/>
                  </a:lnTo>
                  <a:cubicBezTo>
                    <a:pt x="1186249" y="0"/>
                    <a:pt x="1246040" y="59790"/>
                    <a:pt x="1246040" y="133545"/>
                  </a:cubicBezTo>
                  <a:lnTo>
                    <a:pt x="1246040" y="133545"/>
                  </a:lnTo>
                  <a:cubicBezTo>
                    <a:pt x="1246040" y="168963"/>
                    <a:pt x="1231970" y="202931"/>
                    <a:pt x="1206925" y="227976"/>
                  </a:cubicBezTo>
                  <a:cubicBezTo>
                    <a:pt x="1181881" y="253020"/>
                    <a:pt x="1147913" y="267090"/>
                    <a:pt x="111249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FE9710"/>
              </a:solidFill>
              <a:prstDash val="solid"/>
              <a:round/>
            </a:ln>
          </p:spPr>
        </p:sp>
        <p:sp>
          <p:nvSpPr>
            <p:cNvPr name="TextBox 23" id="23"/>
            <p:cNvSpPr txBox="true"/>
            <p:nvPr/>
          </p:nvSpPr>
          <p:spPr>
            <a:xfrm>
              <a:off x="0" y="-57150"/>
              <a:ext cx="1246040" cy="32424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8826216" y="1162930"/>
            <a:ext cx="1209779" cy="120977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9710"/>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Freeform 27" id="27"/>
          <p:cNvSpPr/>
          <p:nvPr/>
        </p:nvSpPr>
        <p:spPr>
          <a:xfrm flipH="false" flipV="false" rot="0">
            <a:off x="9153033" y="1462665"/>
            <a:ext cx="556144" cy="610309"/>
          </a:xfrm>
          <a:custGeom>
            <a:avLst/>
            <a:gdLst/>
            <a:ahLst/>
            <a:cxnLst/>
            <a:rect r="r" b="b" t="t" l="l"/>
            <a:pathLst>
              <a:path h="610309" w="556144">
                <a:moveTo>
                  <a:pt x="0" y="0"/>
                </a:moveTo>
                <a:lnTo>
                  <a:pt x="556144" y="0"/>
                </a:lnTo>
                <a:lnTo>
                  <a:pt x="556144" y="610309"/>
                </a:lnTo>
                <a:lnTo>
                  <a:pt x="0" y="610309"/>
                </a:lnTo>
                <a:lnTo>
                  <a:pt x="0" y="0"/>
                </a:lnTo>
                <a:close/>
              </a:path>
            </a:pathLst>
          </a:custGeom>
          <a:blipFill>
            <a:blip r:embed="rId2"/>
            <a:stretch>
              <a:fillRect l="0" t="0" r="0" b="0"/>
            </a:stretch>
          </a:blipFill>
        </p:spPr>
      </p:sp>
      <p:sp>
        <p:nvSpPr>
          <p:cNvPr name="TextBox 28" id="28"/>
          <p:cNvSpPr txBox="true"/>
          <p:nvPr/>
        </p:nvSpPr>
        <p:spPr>
          <a:xfrm rot="0">
            <a:off x="1385237" y="5783139"/>
            <a:ext cx="4151665"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TextRank Method</a:t>
            </a:r>
          </a:p>
        </p:txBody>
      </p:sp>
      <p:sp>
        <p:nvSpPr>
          <p:cNvPr name="TextBox 29" id="29"/>
          <p:cNvSpPr txBox="true"/>
          <p:nvPr/>
        </p:nvSpPr>
        <p:spPr>
          <a:xfrm rot="0">
            <a:off x="10438254" y="1430659"/>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RAKE Method</a:t>
            </a:r>
          </a:p>
        </p:txBody>
      </p:sp>
      <p:sp>
        <p:nvSpPr>
          <p:cNvPr name="TextBox 30" id="30"/>
          <p:cNvSpPr txBox="true"/>
          <p:nvPr/>
        </p:nvSpPr>
        <p:spPr>
          <a:xfrm rot="0">
            <a:off x="1028700" y="3875189"/>
            <a:ext cx="7328203" cy="1470139"/>
          </a:xfrm>
          <a:prstGeom prst="rect">
            <a:avLst/>
          </a:prstGeom>
        </p:spPr>
        <p:txBody>
          <a:bodyPr anchor="t" rtlCol="false" tIns="0" lIns="0" bIns="0" rIns="0">
            <a:spAutoFit/>
          </a:bodyPr>
          <a:lstStyle/>
          <a:p>
            <a:pPr algn="l" marL="0" indent="0" lvl="0">
              <a:lnSpc>
                <a:spcPts val="2968"/>
              </a:lnSpc>
            </a:pPr>
            <a:r>
              <a:rPr lang="en-US" sz="2120">
                <a:solidFill>
                  <a:srgbClr val="011A3C"/>
                </a:solidFill>
                <a:latin typeface="Nunito"/>
                <a:ea typeface="Nunito"/>
                <a:cs typeface="Nunito"/>
                <a:sym typeface="Nunito"/>
              </a:rPr>
              <a:t>TextRank uses a graph-based unsupervised approach. Words are nodes; co-occurrence edges link them. PageRank-like scoring selects top keywords without any labeled training data.</a:t>
            </a:r>
          </a:p>
        </p:txBody>
      </p:sp>
      <p:sp>
        <p:nvSpPr>
          <p:cNvPr name="TextBox 31" id="31"/>
          <p:cNvSpPr txBox="true"/>
          <p:nvPr/>
        </p:nvSpPr>
        <p:spPr>
          <a:xfrm rot="0">
            <a:off x="1306323" y="6925007"/>
            <a:ext cx="7723773" cy="6096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Dataset: News articles, academic abstracts (Mihalcea &amp; Tarau, 2004).</a:t>
            </a:r>
          </a:p>
        </p:txBody>
      </p:sp>
      <p:sp>
        <p:nvSpPr>
          <p:cNvPr name="TextBox 32" id="32"/>
          <p:cNvSpPr txBox="true"/>
          <p:nvPr/>
        </p:nvSpPr>
        <p:spPr>
          <a:xfrm rot="0">
            <a:off x="1306323" y="7871742"/>
            <a:ext cx="7723773" cy="3048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Finding: Competitive keyword quality with no training required.</a:t>
            </a:r>
          </a:p>
        </p:txBody>
      </p:sp>
      <p:sp>
        <p:nvSpPr>
          <p:cNvPr name="TextBox 33" id="33"/>
          <p:cNvSpPr txBox="true"/>
          <p:nvPr/>
        </p:nvSpPr>
        <p:spPr>
          <a:xfrm rot="0">
            <a:off x="1306323" y="8513676"/>
            <a:ext cx="7723773" cy="3048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Limitation: Sensitive to window size; slower on large graphs.</a:t>
            </a:r>
          </a:p>
        </p:txBody>
      </p:sp>
      <p:sp>
        <p:nvSpPr>
          <p:cNvPr name="TextBox 34" id="34"/>
          <p:cNvSpPr txBox="true"/>
          <p:nvPr/>
        </p:nvSpPr>
        <p:spPr>
          <a:xfrm rot="0">
            <a:off x="10868338" y="2372709"/>
            <a:ext cx="4583749" cy="18288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RAKE (Rapid Automatic Keyword Extraction) splits text at stop-words and phrase delimiters to identify candidate keywords. Word scores are based on degree and frequency ratios — fast and language-independent.</a:t>
            </a:r>
          </a:p>
        </p:txBody>
      </p:sp>
      <p:sp>
        <p:nvSpPr>
          <p:cNvPr name="TextBox 35" id="35"/>
          <p:cNvSpPr txBox="true"/>
          <p:nvPr/>
        </p:nvSpPr>
        <p:spPr>
          <a:xfrm rot="0">
            <a:off x="10868338" y="4629309"/>
            <a:ext cx="4583749" cy="6096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Dataset: Technical reports, web content (Rose et al., 2010).</a:t>
            </a:r>
          </a:p>
        </p:txBody>
      </p:sp>
      <p:sp>
        <p:nvSpPr>
          <p:cNvPr name="TextBox 36" id="36"/>
          <p:cNvSpPr txBox="true"/>
          <p:nvPr/>
        </p:nvSpPr>
        <p:spPr>
          <a:xfrm rot="0">
            <a:off x="10868338" y="5667534"/>
            <a:ext cx="4583749" cy="6096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Finding: Very fast extraction; works well for multi-word phrases.</a:t>
            </a:r>
          </a:p>
        </p:txBody>
      </p:sp>
      <p:sp>
        <p:nvSpPr>
          <p:cNvPr name="TextBox 37" id="37"/>
          <p:cNvSpPr txBox="true"/>
          <p:nvPr/>
        </p:nvSpPr>
        <p:spPr>
          <a:xfrm rot="0">
            <a:off x="10868338" y="6762909"/>
            <a:ext cx="4583749" cy="609600"/>
          </a:xfrm>
          <a:prstGeom prst="rect">
            <a:avLst/>
          </a:prstGeom>
        </p:spPr>
        <p:txBody>
          <a:bodyPr anchor="t" rtlCol="false" tIns="0" lIns="0" bIns="0" rIns="0">
            <a:spAutoFit/>
          </a:bodyPr>
          <a:lstStyle/>
          <a:p>
            <a:pPr algn="l" marL="0" indent="0" lvl="0">
              <a:lnSpc>
                <a:spcPts val="2424"/>
              </a:lnSpc>
            </a:pPr>
            <a:r>
              <a:rPr lang="en-US" sz="2020">
                <a:solidFill>
                  <a:srgbClr val="011A3C"/>
                </a:solidFill>
                <a:latin typeface="Nunito"/>
                <a:ea typeface="Nunito"/>
                <a:cs typeface="Nunito"/>
                <a:sym typeface="Nunito"/>
              </a:rPr>
              <a:t>Limitation: No semantic understanding; relies on stop-word list quality.</a:t>
            </a:r>
          </a:p>
        </p:txBody>
      </p:sp>
      <p:grpSp>
        <p:nvGrpSpPr>
          <p:cNvPr name="Group 38" id="38"/>
          <p:cNvGrpSpPr/>
          <p:nvPr/>
        </p:nvGrpSpPr>
        <p:grpSpPr>
          <a:xfrm rot="0">
            <a:off x="8000488" y="-1161592"/>
            <a:ext cx="2287024" cy="2141044"/>
            <a:chOff x="0" y="0"/>
            <a:chExt cx="596900" cy="558800"/>
          </a:xfrm>
        </p:grpSpPr>
        <p:sp>
          <p:nvSpPr>
            <p:cNvPr name="Freeform 39" id="39"/>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FE9710"/>
            </a:solidFill>
          </p:spPr>
        </p:sp>
        <p:sp>
          <p:nvSpPr>
            <p:cNvPr name="TextBox 40" id="4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6832257" y="4400004"/>
            <a:ext cx="3358368" cy="314400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27087"/>
                  </a:moveTo>
                  <a:lnTo>
                    <a:pt x="596900" y="277713"/>
                  </a:lnTo>
                  <a:cubicBezTo>
                    <a:pt x="596900" y="295010"/>
                    <a:pt x="589811" y="311552"/>
                    <a:pt x="577285" y="323481"/>
                  </a:cubicBezTo>
                  <a:lnTo>
                    <a:pt x="349815" y="540119"/>
                  </a:lnTo>
                  <a:cubicBezTo>
                    <a:pt x="337223" y="552111"/>
                    <a:pt x="320501" y="558800"/>
                    <a:pt x="303113" y="558800"/>
                  </a:cubicBezTo>
                  <a:lnTo>
                    <a:pt x="27087" y="558800"/>
                  </a:lnTo>
                  <a:cubicBezTo>
                    <a:pt x="12127" y="558800"/>
                    <a:pt x="0" y="546673"/>
                    <a:pt x="0" y="531713"/>
                  </a:cubicBezTo>
                  <a:lnTo>
                    <a:pt x="0" y="276007"/>
                  </a:lnTo>
                  <a:cubicBezTo>
                    <a:pt x="0" y="258715"/>
                    <a:pt x="7113" y="242185"/>
                    <a:pt x="19669" y="230296"/>
                  </a:cubicBezTo>
                  <a:lnTo>
                    <a:pt x="243221" y="18624"/>
                  </a:lnTo>
                  <a:cubicBezTo>
                    <a:pt x="255851" y="6665"/>
                    <a:pt x="272583" y="0"/>
                    <a:pt x="289977" y="0"/>
                  </a:cubicBezTo>
                  <a:lnTo>
                    <a:pt x="569813" y="0"/>
                  </a:lnTo>
                  <a:cubicBezTo>
                    <a:pt x="584773" y="0"/>
                    <a:pt x="596900" y="12127"/>
                    <a:pt x="596900" y="2708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2264889" y="963796"/>
            <a:ext cx="4019894" cy="3763305"/>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2629"/>
                  </a:moveTo>
                  <a:lnTo>
                    <a:pt x="596900" y="282171"/>
                  </a:lnTo>
                  <a:cubicBezTo>
                    <a:pt x="596900" y="296621"/>
                    <a:pt x="590977" y="310440"/>
                    <a:pt x="580513" y="320406"/>
                  </a:cubicBezTo>
                  <a:lnTo>
                    <a:pt x="346587" y="543194"/>
                  </a:lnTo>
                  <a:cubicBezTo>
                    <a:pt x="336067" y="553212"/>
                    <a:pt x="322097" y="558800"/>
                    <a:pt x="307571" y="558800"/>
                  </a:cubicBezTo>
                  <a:lnTo>
                    <a:pt x="22629" y="558800"/>
                  </a:lnTo>
                  <a:cubicBezTo>
                    <a:pt x="10132" y="558800"/>
                    <a:pt x="0" y="548668"/>
                    <a:pt x="0" y="536171"/>
                  </a:cubicBezTo>
                  <a:lnTo>
                    <a:pt x="0" y="271549"/>
                  </a:lnTo>
                  <a:cubicBezTo>
                    <a:pt x="0" y="257103"/>
                    <a:pt x="5942" y="243294"/>
                    <a:pt x="16432" y="233361"/>
                  </a:cubicBezTo>
                  <a:lnTo>
                    <a:pt x="246458" y="15559"/>
                  </a:lnTo>
                  <a:cubicBezTo>
                    <a:pt x="257010" y="5568"/>
                    <a:pt x="270988" y="0"/>
                    <a:pt x="285519" y="0"/>
                  </a:cubicBezTo>
                  <a:lnTo>
                    <a:pt x="574271" y="0"/>
                  </a:lnTo>
                  <a:cubicBezTo>
                    <a:pt x="586768" y="0"/>
                    <a:pt x="596900" y="10132"/>
                    <a:pt x="596900" y="22629"/>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260802" y="5632991"/>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3581699" y="2032582"/>
            <a:ext cx="4541453" cy="1014107"/>
            <a:chOff x="0" y="0"/>
            <a:chExt cx="1196103" cy="267090"/>
          </a:xfrm>
        </p:grpSpPr>
        <p:sp>
          <p:nvSpPr>
            <p:cNvPr name="Freeform 15" id="15"/>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FE9710"/>
              </a:solidFill>
              <a:prstDash val="solid"/>
              <a:round/>
            </a:ln>
          </p:spPr>
        </p:sp>
        <p:sp>
          <p:nvSpPr>
            <p:cNvPr name="TextBox 16" id="16"/>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11215622" y="2036115"/>
            <a:ext cx="4541453" cy="1014107"/>
            <a:chOff x="0" y="0"/>
            <a:chExt cx="1196103" cy="267090"/>
          </a:xfrm>
        </p:grpSpPr>
        <p:sp>
          <p:nvSpPr>
            <p:cNvPr name="Freeform 18" id="18"/>
            <p:cNvSpPr/>
            <p:nvPr/>
          </p:nvSpPr>
          <p:spPr>
            <a:xfrm flipH="false" flipV="false" rot="0">
              <a:off x="0" y="0"/>
              <a:ext cx="1196103" cy="267090"/>
            </a:xfrm>
            <a:custGeom>
              <a:avLst/>
              <a:gdLst/>
              <a:ahLst/>
              <a:cxnLst/>
              <a:rect r="r" b="b" t="t" l="l"/>
              <a:pathLst>
                <a:path h="267090" w="1196103">
                  <a:moveTo>
                    <a:pt x="133545" y="0"/>
                  </a:moveTo>
                  <a:lnTo>
                    <a:pt x="1062558" y="0"/>
                  </a:lnTo>
                  <a:cubicBezTo>
                    <a:pt x="1097976" y="0"/>
                    <a:pt x="1131944" y="14070"/>
                    <a:pt x="1156988" y="39114"/>
                  </a:cubicBezTo>
                  <a:cubicBezTo>
                    <a:pt x="1182033" y="64159"/>
                    <a:pt x="1196103" y="98127"/>
                    <a:pt x="1196103" y="133545"/>
                  </a:cubicBezTo>
                  <a:lnTo>
                    <a:pt x="1196103" y="133545"/>
                  </a:lnTo>
                  <a:cubicBezTo>
                    <a:pt x="1196103" y="168963"/>
                    <a:pt x="1182033" y="202931"/>
                    <a:pt x="1156988" y="227976"/>
                  </a:cubicBezTo>
                  <a:cubicBezTo>
                    <a:pt x="1131944" y="253020"/>
                    <a:pt x="1097976" y="267090"/>
                    <a:pt x="1062558"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014AAB"/>
              </a:solidFill>
              <a:prstDash val="solid"/>
              <a:round/>
            </a:ln>
          </p:spPr>
        </p:sp>
        <p:sp>
          <p:nvSpPr>
            <p:cNvPr name="TextBox 19" id="19"/>
            <p:cNvSpPr txBox="true"/>
            <p:nvPr/>
          </p:nvSpPr>
          <p:spPr>
            <a:xfrm>
              <a:off x="0" y="-57150"/>
              <a:ext cx="1196103" cy="32424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2630740" y="2032582"/>
            <a:ext cx="1014107" cy="101410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9710"/>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0">
            <a:off x="10336752" y="1959686"/>
            <a:ext cx="1014107" cy="101410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2169636" y="4707338"/>
            <a:ext cx="12880056" cy="4550962"/>
            <a:chOff x="0" y="0"/>
            <a:chExt cx="3392278" cy="1198607"/>
          </a:xfrm>
        </p:grpSpPr>
        <p:sp>
          <p:nvSpPr>
            <p:cNvPr name="Freeform 27" id="27"/>
            <p:cNvSpPr/>
            <p:nvPr/>
          </p:nvSpPr>
          <p:spPr>
            <a:xfrm flipH="false" flipV="false" rot="0">
              <a:off x="0" y="0"/>
              <a:ext cx="3392278" cy="1198607"/>
            </a:xfrm>
            <a:custGeom>
              <a:avLst/>
              <a:gdLst/>
              <a:ahLst/>
              <a:cxnLst/>
              <a:rect r="r" b="b" t="t" l="l"/>
              <a:pathLst>
                <a:path h="1198607" w="3392278">
                  <a:moveTo>
                    <a:pt x="31857" y="0"/>
                  </a:moveTo>
                  <a:lnTo>
                    <a:pt x="3360421" y="0"/>
                  </a:lnTo>
                  <a:cubicBezTo>
                    <a:pt x="3368870" y="0"/>
                    <a:pt x="3376973" y="3356"/>
                    <a:pt x="3382947" y="9331"/>
                  </a:cubicBezTo>
                  <a:cubicBezTo>
                    <a:pt x="3388922" y="15305"/>
                    <a:pt x="3392278" y="23408"/>
                    <a:pt x="3392278" y="31857"/>
                  </a:cubicBezTo>
                  <a:lnTo>
                    <a:pt x="3392278" y="1166750"/>
                  </a:lnTo>
                  <a:cubicBezTo>
                    <a:pt x="3392278" y="1184344"/>
                    <a:pt x="3378015" y="1198607"/>
                    <a:pt x="3360421" y="1198607"/>
                  </a:cubicBezTo>
                  <a:lnTo>
                    <a:pt x="31857" y="1198607"/>
                  </a:lnTo>
                  <a:cubicBezTo>
                    <a:pt x="14263" y="1198607"/>
                    <a:pt x="0" y="1184344"/>
                    <a:pt x="0" y="1166750"/>
                  </a:cubicBezTo>
                  <a:lnTo>
                    <a:pt x="0" y="31857"/>
                  </a:lnTo>
                  <a:cubicBezTo>
                    <a:pt x="0" y="14263"/>
                    <a:pt x="14263" y="0"/>
                    <a:pt x="31857" y="0"/>
                  </a:cubicBezTo>
                  <a:close/>
                </a:path>
              </a:pathLst>
            </a:custGeom>
            <a:solidFill>
              <a:srgbClr val="FFFFFF"/>
            </a:solidFill>
          </p:spPr>
        </p:sp>
        <p:sp>
          <p:nvSpPr>
            <p:cNvPr name="TextBox 28" id="28"/>
            <p:cNvSpPr txBox="true"/>
            <p:nvPr/>
          </p:nvSpPr>
          <p:spPr>
            <a:xfrm>
              <a:off x="0" y="-57150"/>
              <a:ext cx="3392278" cy="1255757"/>
            </a:xfrm>
            <a:prstGeom prst="rect">
              <a:avLst/>
            </a:prstGeom>
          </p:spPr>
          <p:txBody>
            <a:bodyPr anchor="ctr" rtlCol="false" tIns="50800" lIns="50800" bIns="50800" rIns="50800"/>
            <a:lstStyle/>
            <a:p>
              <a:pPr algn="ctr" marL="0" indent="0" lvl="0">
                <a:lnSpc>
                  <a:spcPts val="3220"/>
                </a:lnSpc>
              </a:pPr>
            </a:p>
          </p:txBody>
        </p:sp>
      </p:grpSp>
      <p:grpSp>
        <p:nvGrpSpPr>
          <p:cNvPr name="Group 29" id="29"/>
          <p:cNvGrpSpPr/>
          <p:nvPr/>
        </p:nvGrpSpPr>
        <p:grpSpPr>
          <a:xfrm rot="0">
            <a:off x="14546107" y="9008976"/>
            <a:ext cx="2954069" cy="2765512"/>
            <a:chOff x="0" y="0"/>
            <a:chExt cx="596900" cy="558800"/>
          </a:xfrm>
        </p:grpSpPr>
        <p:sp>
          <p:nvSpPr>
            <p:cNvPr name="Freeform 30" id="30"/>
            <p:cNvSpPr/>
            <p:nvPr/>
          </p:nvSpPr>
          <p:spPr>
            <a:xfrm flipH="false" flipV="false" rot="0">
              <a:off x="0" y="0"/>
              <a:ext cx="596900" cy="558800"/>
            </a:xfrm>
            <a:custGeom>
              <a:avLst/>
              <a:gdLst/>
              <a:ahLst/>
              <a:cxnLst/>
              <a:rect r="r" b="b" t="t" l="l"/>
              <a:pathLst>
                <a:path h="558800" w="596900">
                  <a:moveTo>
                    <a:pt x="596900" y="30794"/>
                  </a:moveTo>
                  <a:lnTo>
                    <a:pt x="596900" y="274006"/>
                  </a:lnTo>
                  <a:cubicBezTo>
                    <a:pt x="596900" y="293670"/>
                    <a:pt x="588841" y="312476"/>
                    <a:pt x="574601" y="326037"/>
                  </a:cubicBezTo>
                  <a:lnTo>
                    <a:pt x="352499" y="537563"/>
                  </a:lnTo>
                  <a:cubicBezTo>
                    <a:pt x="338184" y="551196"/>
                    <a:pt x="319174" y="558800"/>
                    <a:pt x="299406" y="558800"/>
                  </a:cubicBezTo>
                  <a:lnTo>
                    <a:pt x="30794" y="558800"/>
                  </a:lnTo>
                  <a:cubicBezTo>
                    <a:pt x="13787" y="558800"/>
                    <a:pt x="0" y="545013"/>
                    <a:pt x="0" y="528006"/>
                  </a:cubicBezTo>
                  <a:lnTo>
                    <a:pt x="0" y="279714"/>
                  </a:lnTo>
                  <a:cubicBezTo>
                    <a:pt x="0" y="260056"/>
                    <a:pt x="8086" y="241263"/>
                    <a:pt x="22361" y="227748"/>
                  </a:cubicBezTo>
                  <a:lnTo>
                    <a:pt x="240529" y="21172"/>
                  </a:lnTo>
                  <a:cubicBezTo>
                    <a:pt x="254888" y="7577"/>
                    <a:pt x="273910" y="0"/>
                    <a:pt x="293684" y="0"/>
                  </a:cubicBezTo>
                  <a:lnTo>
                    <a:pt x="566106" y="0"/>
                  </a:lnTo>
                  <a:cubicBezTo>
                    <a:pt x="583113" y="0"/>
                    <a:pt x="596900" y="13787"/>
                    <a:pt x="596900" y="30794"/>
                  </a:cubicBezTo>
                  <a:close/>
                </a:path>
              </a:pathLst>
            </a:custGeom>
            <a:solidFill>
              <a:srgbClr val="FE9710"/>
            </a:solidFill>
          </p:spPr>
        </p:sp>
        <p:sp>
          <p:nvSpPr>
            <p:cNvPr name="TextBox 31" id="3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2" id="32"/>
          <p:cNvGrpSpPr/>
          <p:nvPr/>
        </p:nvGrpSpPr>
        <p:grpSpPr>
          <a:xfrm rot="-10800000">
            <a:off x="779460" y="-3002706"/>
            <a:ext cx="4863131" cy="4552719"/>
            <a:chOff x="0" y="0"/>
            <a:chExt cx="596900" cy="558800"/>
          </a:xfrm>
        </p:grpSpPr>
        <p:sp>
          <p:nvSpPr>
            <p:cNvPr name="Freeform 33" id="33"/>
            <p:cNvSpPr/>
            <p:nvPr/>
          </p:nvSpPr>
          <p:spPr>
            <a:xfrm flipH="false" flipV="false" rot="0">
              <a:off x="0" y="0"/>
              <a:ext cx="596900" cy="558800"/>
            </a:xfrm>
            <a:custGeom>
              <a:avLst/>
              <a:gdLst/>
              <a:ahLst/>
              <a:cxnLst/>
              <a:rect r="r" b="b" t="t" l="l"/>
              <a:pathLst>
                <a:path h="558800" w="596900">
                  <a:moveTo>
                    <a:pt x="596900" y="18706"/>
                  </a:moveTo>
                  <a:lnTo>
                    <a:pt x="596900" y="286094"/>
                  </a:lnTo>
                  <a:cubicBezTo>
                    <a:pt x="596900" y="298039"/>
                    <a:pt x="592004" y="309462"/>
                    <a:pt x="583355" y="317700"/>
                  </a:cubicBezTo>
                  <a:lnTo>
                    <a:pt x="343745" y="545900"/>
                  </a:lnTo>
                  <a:cubicBezTo>
                    <a:pt x="335050" y="554181"/>
                    <a:pt x="323502" y="558800"/>
                    <a:pt x="311494" y="558800"/>
                  </a:cubicBezTo>
                  <a:lnTo>
                    <a:pt x="18706" y="558800"/>
                  </a:lnTo>
                  <a:cubicBezTo>
                    <a:pt x="13745" y="558800"/>
                    <a:pt x="8987" y="556829"/>
                    <a:pt x="5479" y="553321"/>
                  </a:cubicBezTo>
                  <a:cubicBezTo>
                    <a:pt x="1971" y="549813"/>
                    <a:pt x="0" y="545055"/>
                    <a:pt x="0" y="540094"/>
                  </a:cubicBezTo>
                  <a:lnTo>
                    <a:pt x="0" y="267626"/>
                  </a:lnTo>
                  <a:cubicBezTo>
                    <a:pt x="0" y="255684"/>
                    <a:pt x="4912" y="244269"/>
                    <a:pt x="13583" y="236059"/>
                  </a:cubicBezTo>
                  <a:lnTo>
                    <a:pt x="249307" y="12861"/>
                  </a:lnTo>
                  <a:cubicBezTo>
                    <a:pt x="258029" y="4603"/>
                    <a:pt x="269584" y="0"/>
                    <a:pt x="281596" y="0"/>
                  </a:cubicBezTo>
                  <a:lnTo>
                    <a:pt x="578194" y="0"/>
                  </a:lnTo>
                  <a:cubicBezTo>
                    <a:pt x="583155" y="0"/>
                    <a:pt x="587913" y="1971"/>
                    <a:pt x="591421" y="5479"/>
                  </a:cubicBezTo>
                  <a:cubicBezTo>
                    <a:pt x="594929" y="8987"/>
                    <a:pt x="596900" y="13745"/>
                    <a:pt x="596900" y="18706"/>
                  </a:cubicBezTo>
                  <a:close/>
                </a:path>
              </a:pathLst>
            </a:custGeom>
            <a:ln w="85725" cap="sq">
              <a:solidFill>
                <a:srgbClr val="014AAB"/>
              </a:solidFill>
              <a:prstDash val="solid"/>
              <a:miter/>
            </a:ln>
          </p:spPr>
        </p:sp>
        <p:sp>
          <p:nvSpPr>
            <p:cNvPr name="TextBox 34" id="3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5" id="35"/>
          <p:cNvGrpSpPr/>
          <p:nvPr/>
        </p:nvGrpSpPr>
        <p:grpSpPr>
          <a:xfrm rot="-10800000">
            <a:off x="1174301" y="-2633068"/>
            <a:ext cx="4073450" cy="3813443"/>
            <a:chOff x="0" y="0"/>
            <a:chExt cx="596900" cy="558800"/>
          </a:xfrm>
        </p:grpSpPr>
        <p:sp>
          <p:nvSpPr>
            <p:cNvPr name="Freeform 36" id="36"/>
            <p:cNvSpPr/>
            <p:nvPr/>
          </p:nvSpPr>
          <p:spPr>
            <a:xfrm flipH="false" flipV="false" rot="0">
              <a:off x="0" y="0"/>
              <a:ext cx="596900" cy="558800"/>
            </a:xfrm>
            <a:custGeom>
              <a:avLst/>
              <a:gdLst/>
              <a:ahLst/>
              <a:cxnLst/>
              <a:rect r="r" b="b" t="t" l="l"/>
              <a:pathLst>
                <a:path h="558800" w="596900">
                  <a:moveTo>
                    <a:pt x="596900" y="22332"/>
                  </a:moveTo>
                  <a:lnTo>
                    <a:pt x="596900" y="282468"/>
                  </a:lnTo>
                  <a:cubicBezTo>
                    <a:pt x="596900" y="296729"/>
                    <a:pt x="591055" y="310366"/>
                    <a:pt x="580729" y="320201"/>
                  </a:cubicBezTo>
                  <a:lnTo>
                    <a:pt x="346371" y="543399"/>
                  </a:lnTo>
                  <a:cubicBezTo>
                    <a:pt x="335990" y="553285"/>
                    <a:pt x="322204" y="558800"/>
                    <a:pt x="307868" y="558800"/>
                  </a:cubicBezTo>
                  <a:lnTo>
                    <a:pt x="22332" y="558800"/>
                  </a:lnTo>
                  <a:cubicBezTo>
                    <a:pt x="16409" y="558800"/>
                    <a:pt x="10729" y="556447"/>
                    <a:pt x="6541" y="552259"/>
                  </a:cubicBezTo>
                  <a:cubicBezTo>
                    <a:pt x="2353" y="548071"/>
                    <a:pt x="0" y="542391"/>
                    <a:pt x="0" y="536468"/>
                  </a:cubicBezTo>
                  <a:lnTo>
                    <a:pt x="0" y="271252"/>
                  </a:lnTo>
                  <a:cubicBezTo>
                    <a:pt x="0" y="256996"/>
                    <a:pt x="5864" y="243367"/>
                    <a:pt x="16216" y="233566"/>
                  </a:cubicBezTo>
                  <a:lnTo>
                    <a:pt x="246674" y="15354"/>
                  </a:lnTo>
                  <a:cubicBezTo>
                    <a:pt x="257087" y="5495"/>
                    <a:pt x="270882" y="0"/>
                    <a:pt x="285222" y="0"/>
                  </a:cubicBezTo>
                  <a:lnTo>
                    <a:pt x="574568" y="0"/>
                  </a:lnTo>
                  <a:cubicBezTo>
                    <a:pt x="580491" y="0"/>
                    <a:pt x="586171" y="2353"/>
                    <a:pt x="590359" y="6541"/>
                  </a:cubicBezTo>
                  <a:cubicBezTo>
                    <a:pt x="594547" y="10729"/>
                    <a:pt x="596900" y="16409"/>
                    <a:pt x="596900" y="22332"/>
                  </a:cubicBezTo>
                  <a:close/>
                </a:path>
              </a:pathLst>
            </a:custGeom>
            <a:solidFill>
              <a:srgbClr val="FE9710"/>
            </a:solidFill>
          </p:spPr>
        </p:sp>
        <p:sp>
          <p:nvSpPr>
            <p:cNvPr name="TextBox 37" id="3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38" id="38"/>
          <p:cNvGrpSpPr/>
          <p:nvPr/>
        </p:nvGrpSpPr>
        <p:grpSpPr>
          <a:xfrm rot="0">
            <a:off x="-1338322" y="845118"/>
            <a:ext cx="4235564" cy="935169"/>
            <a:chOff x="0" y="0"/>
            <a:chExt cx="1115539" cy="246300"/>
          </a:xfrm>
        </p:grpSpPr>
        <p:sp>
          <p:nvSpPr>
            <p:cNvPr name="Freeform 39" id="39"/>
            <p:cNvSpPr/>
            <p:nvPr/>
          </p:nvSpPr>
          <p:spPr>
            <a:xfrm flipH="false" flipV="false" rot="0">
              <a:off x="0" y="0"/>
              <a:ext cx="1115539" cy="246300"/>
            </a:xfrm>
            <a:custGeom>
              <a:avLst/>
              <a:gdLst/>
              <a:ahLst/>
              <a:cxnLst/>
              <a:rect r="r" b="b" t="t" l="l"/>
              <a:pathLst>
                <a:path h="246300" w="1115539">
                  <a:moveTo>
                    <a:pt x="63974" y="0"/>
                  </a:moveTo>
                  <a:lnTo>
                    <a:pt x="1051565" y="0"/>
                  </a:lnTo>
                  <a:cubicBezTo>
                    <a:pt x="1086897" y="0"/>
                    <a:pt x="1115539" y="28642"/>
                    <a:pt x="1115539" y="63974"/>
                  </a:cubicBezTo>
                  <a:lnTo>
                    <a:pt x="1115539" y="182325"/>
                  </a:lnTo>
                  <a:cubicBezTo>
                    <a:pt x="1115539" y="217657"/>
                    <a:pt x="1086897" y="246300"/>
                    <a:pt x="1051565" y="246300"/>
                  </a:cubicBezTo>
                  <a:lnTo>
                    <a:pt x="63974" y="246300"/>
                  </a:lnTo>
                  <a:cubicBezTo>
                    <a:pt x="28642" y="246300"/>
                    <a:pt x="0" y="217657"/>
                    <a:pt x="0" y="182325"/>
                  </a:cubicBezTo>
                  <a:lnTo>
                    <a:pt x="0" y="63974"/>
                  </a:lnTo>
                  <a:cubicBezTo>
                    <a:pt x="0" y="28642"/>
                    <a:pt x="28642" y="0"/>
                    <a:pt x="63974" y="0"/>
                  </a:cubicBezTo>
                  <a:close/>
                </a:path>
              </a:pathLst>
            </a:custGeom>
            <a:solidFill>
              <a:srgbClr val="FFFFFF"/>
            </a:solidFill>
          </p:spPr>
        </p:sp>
        <p:sp>
          <p:nvSpPr>
            <p:cNvPr name="TextBox 40" id="40"/>
            <p:cNvSpPr txBox="true"/>
            <p:nvPr/>
          </p:nvSpPr>
          <p:spPr>
            <a:xfrm>
              <a:off x="0" y="-57150"/>
              <a:ext cx="1115539" cy="303450"/>
            </a:xfrm>
            <a:prstGeom prst="rect">
              <a:avLst/>
            </a:prstGeom>
          </p:spPr>
          <p:txBody>
            <a:bodyPr anchor="ctr" rtlCol="false" tIns="50800" lIns="50800" bIns="50800" rIns="50800"/>
            <a:lstStyle/>
            <a:p>
              <a:pPr algn="ctr" marL="0" indent="0" lvl="0">
                <a:lnSpc>
                  <a:spcPts val="3220"/>
                </a:lnSpc>
              </a:pPr>
            </a:p>
          </p:txBody>
        </p:sp>
      </p:grpSp>
      <p:sp>
        <p:nvSpPr>
          <p:cNvPr name="Freeform 41" id="41"/>
          <p:cNvSpPr/>
          <p:nvPr/>
        </p:nvSpPr>
        <p:spPr>
          <a:xfrm flipH="false" flipV="false" rot="0">
            <a:off x="2703972" y="2195252"/>
            <a:ext cx="867644" cy="695834"/>
          </a:xfrm>
          <a:custGeom>
            <a:avLst/>
            <a:gdLst/>
            <a:ahLst/>
            <a:cxnLst/>
            <a:rect r="r" b="b" t="t" l="l"/>
            <a:pathLst>
              <a:path h="695834" w="867644">
                <a:moveTo>
                  <a:pt x="0" y="0"/>
                </a:moveTo>
                <a:lnTo>
                  <a:pt x="867644" y="0"/>
                </a:lnTo>
                <a:lnTo>
                  <a:pt x="867644" y="695833"/>
                </a:lnTo>
                <a:lnTo>
                  <a:pt x="0" y="695833"/>
                </a:lnTo>
                <a:lnTo>
                  <a:pt x="0" y="0"/>
                </a:lnTo>
                <a:close/>
              </a:path>
            </a:pathLst>
          </a:custGeom>
          <a:blipFill>
            <a:blip r:embed="rId2"/>
            <a:stretch>
              <a:fillRect l="0" t="0" r="0" b="0"/>
            </a:stretch>
          </a:blipFill>
        </p:spPr>
      </p:sp>
      <p:sp>
        <p:nvSpPr>
          <p:cNvPr name="Freeform 42" id="42"/>
          <p:cNvSpPr/>
          <p:nvPr/>
        </p:nvSpPr>
        <p:spPr>
          <a:xfrm flipH="false" flipV="false" rot="0">
            <a:off x="10513443" y="2092357"/>
            <a:ext cx="660724" cy="881437"/>
          </a:xfrm>
          <a:custGeom>
            <a:avLst/>
            <a:gdLst/>
            <a:ahLst/>
            <a:cxnLst/>
            <a:rect r="r" b="b" t="t" l="l"/>
            <a:pathLst>
              <a:path h="881437" w="660724">
                <a:moveTo>
                  <a:pt x="0" y="0"/>
                </a:moveTo>
                <a:lnTo>
                  <a:pt x="660725" y="0"/>
                </a:lnTo>
                <a:lnTo>
                  <a:pt x="660725" y="881437"/>
                </a:lnTo>
                <a:lnTo>
                  <a:pt x="0" y="881437"/>
                </a:lnTo>
                <a:lnTo>
                  <a:pt x="0" y="0"/>
                </a:lnTo>
                <a:close/>
              </a:path>
            </a:pathLst>
          </a:custGeom>
          <a:blipFill>
            <a:blip r:embed="rId3"/>
            <a:stretch>
              <a:fillRect l="0" t="0" r="0" b="0"/>
            </a:stretch>
          </a:blipFill>
        </p:spPr>
      </p:sp>
      <p:sp>
        <p:nvSpPr>
          <p:cNvPr name="TextBox 43" id="43"/>
          <p:cNvSpPr txBox="true"/>
          <p:nvPr/>
        </p:nvSpPr>
        <p:spPr>
          <a:xfrm rot="0">
            <a:off x="5275521" y="799185"/>
            <a:ext cx="12224655" cy="544755"/>
          </a:xfrm>
          <a:prstGeom prst="rect">
            <a:avLst/>
          </a:prstGeom>
        </p:spPr>
        <p:txBody>
          <a:bodyPr anchor="t" rtlCol="false" tIns="0" lIns="0" bIns="0" rIns="0">
            <a:spAutoFit/>
          </a:bodyPr>
          <a:lstStyle/>
          <a:p>
            <a:pPr algn="ctr" marL="0" indent="0" lvl="0">
              <a:lnSpc>
                <a:spcPts val="4197"/>
              </a:lnSpc>
            </a:pPr>
            <a:r>
              <a:rPr lang="en-US" b="true" sz="4197" spc="83">
                <a:solidFill>
                  <a:srgbClr val="011A3C"/>
                </a:solidFill>
                <a:latin typeface="Gotham Bold"/>
                <a:ea typeface="Gotham Bold"/>
                <a:cs typeface="Gotham Bold"/>
                <a:sym typeface="Gotham Bold"/>
              </a:rPr>
              <a:t>Literature Review: Semantic Understanding</a:t>
            </a:r>
          </a:p>
        </p:txBody>
      </p:sp>
      <p:sp>
        <p:nvSpPr>
          <p:cNvPr name="TextBox 44" id="44"/>
          <p:cNvSpPr txBox="true"/>
          <p:nvPr/>
        </p:nvSpPr>
        <p:spPr>
          <a:xfrm rot="0">
            <a:off x="4119778" y="2126742"/>
            <a:ext cx="3723907" cy="683147"/>
          </a:xfrm>
          <a:prstGeom prst="rect">
            <a:avLst/>
          </a:prstGeom>
        </p:spPr>
        <p:txBody>
          <a:bodyPr anchor="t" rtlCol="false" tIns="0" lIns="0" bIns="0" rIns="0">
            <a:spAutoFit/>
          </a:bodyPr>
          <a:lstStyle/>
          <a:p>
            <a:pPr algn="l" marL="0" indent="0" lvl="0">
              <a:lnSpc>
                <a:spcPts val="2771"/>
              </a:lnSpc>
            </a:pPr>
            <a:r>
              <a:rPr lang="en-US" b="true" sz="1979">
                <a:solidFill>
                  <a:srgbClr val="011A3C"/>
                </a:solidFill>
                <a:latin typeface="Nunito Semi-Bold"/>
                <a:ea typeface="Nunito Semi-Bold"/>
                <a:cs typeface="Nunito Semi-Bold"/>
                <a:sym typeface="Nunito Semi-Bold"/>
              </a:rPr>
              <a:t>BERT &amp; Contextual Representations</a:t>
            </a:r>
          </a:p>
        </p:txBody>
      </p:sp>
      <p:sp>
        <p:nvSpPr>
          <p:cNvPr name="TextBox 45" id="45"/>
          <p:cNvSpPr txBox="true"/>
          <p:nvPr/>
        </p:nvSpPr>
        <p:spPr>
          <a:xfrm rot="0">
            <a:off x="11624395" y="2360980"/>
            <a:ext cx="3723907" cy="340247"/>
          </a:xfrm>
          <a:prstGeom prst="rect">
            <a:avLst/>
          </a:prstGeom>
        </p:spPr>
        <p:txBody>
          <a:bodyPr anchor="t" rtlCol="false" tIns="0" lIns="0" bIns="0" rIns="0">
            <a:spAutoFit/>
          </a:bodyPr>
          <a:lstStyle/>
          <a:p>
            <a:pPr algn="l" marL="0" indent="0" lvl="0">
              <a:lnSpc>
                <a:spcPts val="2771"/>
              </a:lnSpc>
            </a:pPr>
            <a:r>
              <a:rPr lang="en-US" b="true" sz="1979">
                <a:solidFill>
                  <a:srgbClr val="011A3C"/>
                </a:solidFill>
                <a:latin typeface="Nunito Semi-Bold"/>
                <a:ea typeface="Nunito Semi-Bold"/>
                <a:cs typeface="Nunito Semi-Bold"/>
                <a:sym typeface="Nunito Semi-Bold"/>
              </a:rPr>
              <a:t>Complexity &amp; Future Scope</a:t>
            </a:r>
          </a:p>
        </p:txBody>
      </p:sp>
      <p:sp>
        <p:nvSpPr>
          <p:cNvPr name="TextBox 46" id="46"/>
          <p:cNvSpPr txBox="true"/>
          <p:nvPr/>
        </p:nvSpPr>
        <p:spPr>
          <a:xfrm rot="0">
            <a:off x="2703972" y="3903940"/>
            <a:ext cx="5419181" cy="12192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BERT (Bidirectional Encoder Representations from Transformers) captures word meaning based on surrounding context, not just the word itself.</a:t>
            </a:r>
          </a:p>
        </p:txBody>
      </p:sp>
      <p:sp>
        <p:nvSpPr>
          <p:cNvPr name="TextBox 47" id="47"/>
          <p:cNvSpPr txBox="true"/>
          <p:nvPr/>
        </p:nvSpPr>
        <p:spPr>
          <a:xfrm rot="0">
            <a:off x="10336752" y="3903940"/>
            <a:ext cx="5419181" cy="12192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BERT requires significant computational resources (GPU, large memory) making it impractical for lightweight Java-based implementations.</a:t>
            </a:r>
          </a:p>
        </p:txBody>
      </p:sp>
      <p:sp>
        <p:nvSpPr>
          <p:cNvPr name="TextBox 48" id="48"/>
          <p:cNvSpPr txBox="true"/>
          <p:nvPr/>
        </p:nvSpPr>
        <p:spPr>
          <a:xfrm rot="0">
            <a:off x="2703972" y="5608915"/>
            <a:ext cx="5419181" cy="6096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"Bank" in "river bank" vs. "bank account" — context changes meaning entirely.</a:t>
            </a:r>
          </a:p>
        </p:txBody>
      </p:sp>
      <p:sp>
        <p:nvSpPr>
          <p:cNvPr name="TextBox 49" id="49"/>
          <p:cNvSpPr txBox="true"/>
          <p:nvPr/>
        </p:nvSpPr>
        <p:spPr>
          <a:xfrm rot="0">
            <a:off x="10337894" y="5608915"/>
            <a:ext cx="5419181" cy="9144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Training and inference are slow; not suitable for small/medium corpora with limited hardware constraints.</a:t>
            </a:r>
          </a:p>
        </p:txBody>
      </p:sp>
      <p:sp>
        <p:nvSpPr>
          <p:cNvPr name="TextBox 50" id="50"/>
          <p:cNvSpPr txBox="true"/>
          <p:nvPr/>
        </p:nvSpPr>
        <p:spPr>
          <a:xfrm rot="0">
            <a:off x="2703972" y="6727489"/>
            <a:ext cx="5419181" cy="6096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Context-aware embeddings improve retrieval accuracy over exact keyword matching.</a:t>
            </a:r>
          </a:p>
        </p:txBody>
      </p:sp>
      <p:sp>
        <p:nvSpPr>
          <p:cNvPr name="TextBox 51" id="51"/>
          <p:cNvSpPr txBox="true"/>
          <p:nvPr/>
        </p:nvSpPr>
        <p:spPr>
          <a:xfrm rot="0">
            <a:off x="10336752" y="6727489"/>
            <a:ext cx="5419181" cy="9144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BERT is identified as future scope — base implementation uses lightweight keyword extraction (TextRank/RAKE).</a:t>
            </a:r>
          </a:p>
        </p:txBody>
      </p:sp>
      <p:sp>
        <p:nvSpPr>
          <p:cNvPr name="TextBox 52" id="52"/>
          <p:cNvSpPr txBox="true"/>
          <p:nvPr/>
        </p:nvSpPr>
        <p:spPr>
          <a:xfrm rot="0">
            <a:off x="2703972" y="7822864"/>
            <a:ext cx="5419181" cy="6096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Ref: Devlin et al., 2019 — BERT: Pre-training of Deep Bidirectional Transformers.</a:t>
            </a:r>
          </a:p>
        </p:txBody>
      </p:sp>
      <p:sp>
        <p:nvSpPr>
          <p:cNvPr name="TextBox 53" id="53"/>
          <p:cNvSpPr txBox="true"/>
          <p:nvPr/>
        </p:nvSpPr>
        <p:spPr>
          <a:xfrm rot="0">
            <a:off x="10337894" y="7822864"/>
            <a:ext cx="5419181" cy="914400"/>
          </a:xfrm>
          <a:prstGeom prst="rect">
            <a:avLst/>
          </a:prstGeom>
        </p:spPr>
        <p:txBody>
          <a:bodyPr anchor="t" rtlCol="false" tIns="0" lIns="0" bIns="0" rIns="0">
            <a:spAutoFit/>
          </a:bodyPr>
          <a:lstStyle/>
          <a:p>
            <a:pPr algn="l" marL="0" indent="0" lvl="0">
              <a:lnSpc>
                <a:spcPts val="2433"/>
              </a:lnSpc>
            </a:pPr>
            <a:r>
              <a:rPr lang="en-US" sz="2027">
                <a:solidFill>
                  <a:srgbClr val="011A3C"/>
                </a:solidFill>
                <a:latin typeface="Nunito"/>
                <a:ea typeface="Nunito"/>
                <a:cs typeface="Nunito"/>
                <a:sym typeface="Nunito"/>
              </a:rPr>
              <a:t>Speaker note: Explain that BERT is powerful but heavy — our project uses simpler methods first, with BERT as a future upgrade path.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516820" y="2789656"/>
            <a:ext cx="7123315" cy="6668635"/>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2770"/>
                  </a:moveTo>
                  <a:lnTo>
                    <a:pt x="596900" y="292030"/>
                  </a:lnTo>
                  <a:cubicBezTo>
                    <a:pt x="596900" y="300185"/>
                    <a:pt x="593558" y="307983"/>
                    <a:pt x="587652" y="313607"/>
                  </a:cubicBezTo>
                  <a:lnTo>
                    <a:pt x="339448" y="549993"/>
                  </a:lnTo>
                  <a:cubicBezTo>
                    <a:pt x="333511" y="555647"/>
                    <a:pt x="325627" y="558800"/>
                    <a:pt x="317430" y="558800"/>
                  </a:cubicBezTo>
                  <a:lnTo>
                    <a:pt x="12770" y="558800"/>
                  </a:lnTo>
                  <a:cubicBezTo>
                    <a:pt x="5718" y="558800"/>
                    <a:pt x="0" y="553083"/>
                    <a:pt x="0" y="546030"/>
                  </a:cubicBezTo>
                  <a:lnTo>
                    <a:pt x="0" y="261690"/>
                  </a:lnTo>
                  <a:cubicBezTo>
                    <a:pt x="0" y="253538"/>
                    <a:pt x="3353" y="245745"/>
                    <a:pt x="9273" y="240140"/>
                  </a:cubicBezTo>
                  <a:lnTo>
                    <a:pt x="253617" y="8780"/>
                  </a:lnTo>
                  <a:cubicBezTo>
                    <a:pt x="259572" y="3142"/>
                    <a:pt x="267460" y="0"/>
                    <a:pt x="275660" y="0"/>
                  </a:cubicBezTo>
                  <a:lnTo>
                    <a:pt x="584130" y="0"/>
                  </a:lnTo>
                  <a:cubicBezTo>
                    <a:pt x="591183" y="0"/>
                    <a:pt x="596900" y="5718"/>
                    <a:pt x="596900" y="12770"/>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10800000">
            <a:off x="11672748" y="-2698351"/>
            <a:ext cx="4732342" cy="4430278"/>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9223"/>
                  </a:moveTo>
                  <a:lnTo>
                    <a:pt x="596900" y="285577"/>
                  </a:lnTo>
                  <a:cubicBezTo>
                    <a:pt x="596900" y="297853"/>
                    <a:pt x="591869" y="309591"/>
                    <a:pt x="582980" y="318057"/>
                  </a:cubicBezTo>
                  <a:lnTo>
                    <a:pt x="344120" y="545543"/>
                  </a:lnTo>
                  <a:cubicBezTo>
                    <a:pt x="335184" y="554053"/>
                    <a:pt x="323317" y="558800"/>
                    <a:pt x="310977" y="558800"/>
                  </a:cubicBezTo>
                  <a:lnTo>
                    <a:pt x="19223" y="558800"/>
                  </a:lnTo>
                  <a:cubicBezTo>
                    <a:pt x="14124" y="558800"/>
                    <a:pt x="9235" y="556775"/>
                    <a:pt x="5630" y="553170"/>
                  </a:cubicBezTo>
                  <a:cubicBezTo>
                    <a:pt x="2025" y="549565"/>
                    <a:pt x="0" y="544676"/>
                    <a:pt x="0" y="539577"/>
                  </a:cubicBezTo>
                  <a:lnTo>
                    <a:pt x="0" y="268143"/>
                  </a:lnTo>
                  <a:cubicBezTo>
                    <a:pt x="0" y="255871"/>
                    <a:pt x="5048" y="244141"/>
                    <a:pt x="13958" y="235704"/>
                  </a:cubicBezTo>
                  <a:lnTo>
                    <a:pt x="248932" y="13216"/>
                  </a:lnTo>
                  <a:cubicBezTo>
                    <a:pt x="257895" y="4730"/>
                    <a:pt x="269769" y="0"/>
                    <a:pt x="282113" y="0"/>
                  </a:cubicBezTo>
                  <a:lnTo>
                    <a:pt x="577677" y="0"/>
                  </a:lnTo>
                  <a:cubicBezTo>
                    <a:pt x="582776" y="0"/>
                    <a:pt x="587665" y="2025"/>
                    <a:pt x="591270" y="5630"/>
                  </a:cubicBezTo>
                  <a:cubicBezTo>
                    <a:pt x="594875" y="9235"/>
                    <a:pt x="596900" y="14124"/>
                    <a:pt x="596900" y="19223"/>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TextBox 8" id="8"/>
          <p:cNvSpPr txBox="true"/>
          <p:nvPr/>
        </p:nvSpPr>
        <p:spPr>
          <a:xfrm rot="0">
            <a:off x="8051245" y="1926021"/>
            <a:ext cx="8787529" cy="1878836"/>
          </a:xfrm>
          <a:prstGeom prst="rect">
            <a:avLst/>
          </a:prstGeom>
        </p:spPr>
        <p:txBody>
          <a:bodyPr anchor="t" rtlCol="false" tIns="0" lIns="0" bIns="0" rIns="0">
            <a:spAutoFit/>
          </a:bodyPr>
          <a:lstStyle/>
          <a:p>
            <a:pPr algn="r" marL="0" indent="0" lvl="0">
              <a:lnSpc>
                <a:spcPts val="7219"/>
              </a:lnSpc>
            </a:pPr>
            <a:r>
              <a:rPr lang="en-US" b="true" sz="7219" spc="144">
                <a:solidFill>
                  <a:srgbClr val="011A3C"/>
                </a:solidFill>
                <a:latin typeface="Gotham Bold"/>
                <a:ea typeface="Gotham Bold"/>
                <a:cs typeface="Gotham Bold"/>
                <a:sym typeface="Gotham Bold"/>
              </a:rPr>
              <a:t>Literature Review: Corpus Indexing</a:t>
            </a:r>
          </a:p>
        </p:txBody>
      </p:sp>
      <p:grpSp>
        <p:nvGrpSpPr>
          <p:cNvPr name="Group 9" id="9"/>
          <p:cNvGrpSpPr/>
          <p:nvPr/>
        </p:nvGrpSpPr>
        <p:grpSpPr>
          <a:xfrm rot="0">
            <a:off x="-8289632" y="-946951"/>
            <a:ext cx="14820677" cy="13874676"/>
            <a:chOff x="0" y="0"/>
            <a:chExt cx="596900" cy="558800"/>
          </a:xfrm>
        </p:grpSpPr>
        <p:sp>
          <p:nvSpPr>
            <p:cNvPr name="Freeform 10" id="10"/>
            <p:cNvSpPr/>
            <p:nvPr/>
          </p:nvSpPr>
          <p:spPr>
            <a:xfrm flipH="false" flipV="false" rot="0">
              <a:off x="0" y="0"/>
              <a:ext cx="596900" cy="558800"/>
            </a:xfrm>
            <a:custGeom>
              <a:avLst/>
              <a:gdLst/>
              <a:ahLst/>
              <a:cxnLst/>
              <a:rect r="r" b="b" t="t" l="l"/>
              <a:pathLst>
                <a:path h="558800" w="596900">
                  <a:moveTo>
                    <a:pt x="596900" y="6138"/>
                  </a:moveTo>
                  <a:lnTo>
                    <a:pt x="596900" y="298662"/>
                  </a:lnTo>
                  <a:cubicBezTo>
                    <a:pt x="596900" y="302582"/>
                    <a:pt x="595294" y="306330"/>
                    <a:pt x="592455" y="309033"/>
                  </a:cubicBezTo>
                  <a:lnTo>
                    <a:pt x="334645" y="554567"/>
                  </a:lnTo>
                  <a:cubicBezTo>
                    <a:pt x="331791" y="557284"/>
                    <a:pt x="328002" y="558800"/>
                    <a:pt x="324062" y="558800"/>
                  </a:cubicBezTo>
                  <a:lnTo>
                    <a:pt x="6138" y="558800"/>
                  </a:lnTo>
                  <a:cubicBezTo>
                    <a:pt x="4510" y="558800"/>
                    <a:pt x="2949" y="558153"/>
                    <a:pt x="1798" y="557002"/>
                  </a:cubicBezTo>
                  <a:cubicBezTo>
                    <a:pt x="647" y="555851"/>
                    <a:pt x="0" y="554290"/>
                    <a:pt x="0" y="552662"/>
                  </a:cubicBezTo>
                  <a:lnTo>
                    <a:pt x="0" y="255058"/>
                  </a:lnTo>
                  <a:cubicBezTo>
                    <a:pt x="0" y="251140"/>
                    <a:pt x="1612" y="247394"/>
                    <a:pt x="4457" y="244700"/>
                  </a:cubicBezTo>
                  <a:lnTo>
                    <a:pt x="258433" y="4220"/>
                  </a:lnTo>
                  <a:cubicBezTo>
                    <a:pt x="261295" y="1510"/>
                    <a:pt x="265087" y="0"/>
                    <a:pt x="269028" y="0"/>
                  </a:cubicBezTo>
                  <a:lnTo>
                    <a:pt x="590762" y="0"/>
                  </a:lnTo>
                  <a:cubicBezTo>
                    <a:pt x="592390" y="0"/>
                    <a:pt x="593951" y="647"/>
                    <a:pt x="595102" y="1798"/>
                  </a:cubicBezTo>
                  <a:cubicBezTo>
                    <a:pt x="596253" y="2949"/>
                    <a:pt x="596900" y="4510"/>
                    <a:pt x="596900" y="6138"/>
                  </a:cubicBezTo>
                  <a:close/>
                </a:path>
              </a:pathLst>
            </a:custGeom>
            <a:ln w="190500" cap="sq">
              <a:solidFill>
                <a:srgbClr val="FE9710"/>
              </a:solidFill>
              <a:prstDash val="solid"/>
              <a:miter/>
            </a:ln>
          </p:spPr>
        </p:sp>
        <p:sp>
          <p:nvSpPr>
            <p:cNvPr name="TextBox 11" id="11"/>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2" id="12"/>
          <p:cNvGrpSpPr/>
          <p:nvPr/>
        </p:nvGrpSpPr>
        <p:grpSpPr>
          <a:xfrm rot="0">
            <a:off x="-7592208" y="-294043"/>
            <a:ext cx="13425829" cy="12568861"/>
            <a:chOff x="0" y="0"/>
            <a:chExt cx="596900" cy="558800"/>
          </a:xfrm>
        </p:grpSpPr>
        <p:sp>
          <p:nvSpPr>
            <p:cNvPr name="Freeform 13" id="13"/>
            <p:cNvSpPr/>
            <p:nvPr/>
          </p:nvSpPr>
          <p:spPr>
            <a:xfrm flipH="false" flipV="false" rot="0">
              <a:off x="0" y="0"/>
              <a:ext cx="596900" cy="558800"/>
            </a:xfrm>
            <a:custGeom>
              <a:avLst/>
              <a:gdLst/>
              <a:ahLst/>
              <a:cxnLst/>
              <a:rect r="r" b="b" t="t" l="l"/>
              <a:pathLst>
                <a:path h="558800" w="596900">
                  <a:moveTo>
                    <a:pt x="596900" y="6776"/>
                  </a:moveTo>
                  <a:lnTo>
                    <a:pt x="596900" y="298024"/>
                  </a:lnTo>
                  <a:cubicBezTo>
                    <a:pt x="596900" y="302351"/>
                    <a:pt x="595127" y="306489"/>
                    <a:pt x="591994" y="309473"/>
                  </a:cubicBezTo>
                  <a:lnTo>
                    <a:pt x="335106" y="554127"/>
                  </a:lnTo>
                  <a:cubicBezTo>
                    <a:pt x="331957" y="557127"/>
                    <a:pt x="327774" y="558800"/>
                    <a:pt x="323424" y="558800"/>
                  </a:cubicBezTo>
                  <a:lnTo>
                    <a:pt x="6776" y="558800"/>
                  </a:lnTo>
                  <a:cubicBezTo>
                    <a:pt x="3034" y="558800"/>
                    <a:pt x="0" y="555766"/>
                    <a:pt x="0" y="552024"/>
                  </a:cubicBezTo>
                  <a:lnTo>
                    <a:pt x="0" y="255696"/>
                  </a:lnTo>
                  <a:cubicBezTo>
                    <a:pt x="0" y="251370"/>
                    <a:pt x="1779" y="247235"/>
                    <a:pt x="4920" y="244261"/>
                  </a:cubicBezTo>
                  <a:lnTo>
                    <a:pt x="257970" y="4659"/>
                  </a:lnTo>
                  <a:cubicBezTo>
                    <a:pt x="261129" y="1667"/>
                    <a:pt x="265315" y="0"/>
                    <a:pt x="269666" y="0"/>
                  </a:cubicBezTo>
                  <a:lnTo>
                    <a:pt x="590124" y="0"/>
                  </a:lnTo>
                  <a:cubicBezTo>
                    <a:pt x="593866" y="0"/>
                    <a:pt x="596900" y="3034"/>
                    <a:pt x="596900" y="6776"/>
                  </a:cubicBezTo>
                  <a:close/>
                </a:path>
              </a:pathLst>
            </a:custGeom>
            <a:solidFill>
              <a:srgbClr val="014AAB"/>
            </a:solidFill>
          </p:spPr>
        </p:sp>
        <p:sp>
          <p:nvSpPr>
            <p:cNvPr name="TextBox 14" id="1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5" id="15"/>
          <p:cNvGrpSpPr/>
          <p:nvPr/>
        </p:nvGrpSpPr>
        <p:grpSpPr>
          <a:xfrm rot="0">
            <a:off x="6640932" y="5562736"/>
            <a:ext cx="2062328" cy="1930690"/>
            <a:chOff x="0" y="0"/>
            <a:chExt cx="596900" cy="558800"/>
          </a:xfrm>
        </p:grpSpPr>
        <p:sp>
          <p:nvSpPr>
            <p:cNvPr name="Freeform 16" id="16"/>
            <p:cNvSpPr/>
            <p:nvPr/>
          </p:nvSpPr>
          <p:spPr>
            <a:xfrm flipH="false" flipV="false" rot="0">
              <a:off x="0" y="0"/>
              <a:ext cx="596900" cy="558800"/>
            </a:xfrm>
            <a:custGeom>
              <a:avLst/>
              <a:gdLst/>
              <a:ahLst/>
              <a:cxnLst/>
              <a:rect r="r" b="b" t="t" l="l"/>
              <a:pathLst>
                <a:path h="558800" w="596900">
                  <a:moveTo>
                    <a:pt x="596900" y="44109"/>
                  </a:moveTo>
                  <a:lnTo>
                    <a:pt x="596900" y="260691"/>
                  </a:lnTo>
                  <a:cubicBezTo>
                    <a:pt x="596900" y="288858"/>
                    <a:pt x="585356" y="315794"/>
                    <a:pt x="564959" y="335220"/>
                  </a:cubicBezTo>
                  <a:lnTo>
                    <a:pt x="362141" y="528380"/>
                  </a:lnTo>
                  <a:cubicBezTo>
                    <a:pt x="341637" y="547908"/>
                    <a:pt x="314406" y="558800"/>
                    <a:pt x="286091" y="558800"/>
                  </a:cubicBezTo>
                  <a:lnTo>
                    <a:pt x="44109" y="558800"/>
                  </a:lnTo>
                  <a:cubicBezTo>
                    <a:pt x="19748" y="558800"/>
                    <a:pt x="0" y="539052"/>
                    <a:pt x="0" y="514691"/>
                  </a:cubicBezTo>
                  <a:lnTo>
                    <a:pt x="0" y="293029"/>
                  </a:lnTo>
                  <a:cubicBezTo>
                    <a:pt x="0" y="264871"/>
                    <a:pt x="11583" y="237953"/>
                    <a:pt x="32029" y="218593"/>
                  </a:cubicBezTo>
                  <a:lnTo>
                    <a:pt x="230861" y="30327"/>
                  </a:lnTo>
                  <a:cubicBezTo>
                    <a:pt x="251428" y="10853"/>
                    <a:pt x="278675" y="0"/>
                    <a:pt x="306999" y="0"/>
                  </a:cubicBezTo>
                  <a:lnTo>
                    <a:pt x="552791" y="0"/>
                  </a:lnTo>
                  <a:cubicBezTo>
                    <a:pt x="577152" y="0"/>
                    <a:pt x="596900" y="19748"/>
                    <a:pt x="596900" y="44109"/>
                  </a:cubicBezTo>
                  <a:close/>
                </a:path>
              </a:pathLst>
            </a:custGeom>
            <a:solidFill>
              <a:srgbClr val="FE9710"/>
            </a:solidFill>
          </p:spPr>
        </p:sp>
        <p:sp>
          <p:nvSpPr>
            <p:cNvPr name="TextBox 17" id="1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8" id="18"/>
          <p:cNvGrpSpPr/>
          <p:nvPr/>
        </p:nvGrpSpPr>
        <p:grpSpPr>
          <a:xfrm rot="-5400000">
            <a:off x="6416415" y="2155631"/>
            <a:ext cx="2297642" cy="2150984"/>
            <a:chOff x="0" y="0"/>
            <a:chExt cx="596900" cy="558800"/>
          </a:xfrm>
        </p:grpSpPr>
        <p:sp>
          <p:nvSpPr>
            <p:cNvPr name="Freeform 19" id="19"/>
            <p:cNvSpPr/>
            <p:nvPr/>
          </p:nvSpPr>
          <p:spPr>
            <a:xfrm flipH="false" flipV="false" rot="0">
              <a:off x="0" y="0"/>
              <a:ext cx="596900" cy="558800"/>
            </a:xfrm>
            <a:custGeom>
              <a:avLst/>
              <a:gdLst/>
              <a:ahLst/>
              <a:cxnLst/>
              <a:rect r="r" b="b" t="t" l="l"/>
              <a:pathLst>
                <a:path h="558800" w="596900">
                  <a:moveTo>
                    <a:pt x="596900" y="39592"/>
                  </a:moveTo>
                  <a:lnTo>
                    <a:pt x="596900" y="265208"/>
                  </a:lnTo>
                  <a:cubicBezTo>
                    <a:pt x="596900" y="290491"/>
                    <a:pt x="586538" y="314668"/>
                    <a:pt x="568230" y="332105"/>
                  </a:cubicBezTo>
                  <a:lnTo>
                    <a:pt x="358870" y="531495"/>
                  </a:lnTo>
                  <a:cubicBezTo>
                    <a:pt x="340465" y="549023"/>
                    <a:pt x="316024" y="558800"/>
                    <a:pt x="290608" y="558800"/>
                  </a:cubicBezTo>
                  <a:lnTo>
                    <a:pt x="39592" y="558800"/>
                  </a:lnTo>
                  <a:cubicBezTo>
                    <a:pt x="29091" y="558800"/>
                    <a:pt x="19021" y="554629"/>
                    <a:pt x="11596" y="547204"/>
                  </a:cubicBezTo>
                  <a:cubicBezTo>
                    <a:pt x="4171" y="539779"/>
                    <a:pt x="0" y="529709"/>
                    <a:pt x="0" y="519208"/>
                  </a:cubicBezTo>
                  <a:lnTo>
                    <a:pt x="0" y="288512"/>
                  </a:lnTo>
                  <a:cubicBezTo>
                    <a:pt x="0" y="263237"/>
                    <a:pt x="10396" y="239076"/>
                    <a:pt x="28749" y="221699"/>
                  </a:cubicBezTo>
                  <a:lnTo>
                    <a:pt x="234141" y="27221"/>
                  </a:lnTo>
                  <a:cubicBezTo>
                    <a:pt x="252602" y="9742"/>
                    <a:pt x="277059" y="0"/>
                    <a:pt x="302482" y="0"/>
                  </a:cubicBezTo>
                  <a:lnTo>
                    <a:pt x="557308" y="0"/>
                  </a:lnTo>
                  <a:cubicBezTo>
                    <a:pt x="567809" y="0"/>
                    <a:pt x="577879" y="4171"/>
                    <a:pt x="585304" y="11596"/>
                  </a:cubicBezTo>
                  <a:cubicBezTo>
                    <a:pt x="592729" y="19021"/>
                    <a:pt x="596900" y="29091"/>
                    <a:pt x="596900" y="39592"/>
                  </a:cubicBezTo>
                  <a:close/>
                </a:path>
              </a:pathLst>
            </a:custGeom>
            <a:solidFill>
              <a:srgbClr val="FE9710"/>
            </a:solidFill>
          </p:spPr>
        </p:sp>
        <p:sp>
          <p:nvSpPr>
            <p:cNvPr name="TextBox 20" id="2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0">
            <a:off x="1633977" y="1028700"/>
            <a:ext cx="6659390" cy="8229600"/>
            <a:chOff x="0" y="0"/>
            <a:chExt cx="1460623" cy="1805022"/>
          </a:xfrm>
        </p:grpSpPr>
        <p:sp>
          <p:nvSpPr>
            <p:cNvPr name="Freeform 22" id="22"/>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60" r="0" b="-260"/>
              </a:stretch>
            </a:blipFill>
            <a:ln w="152400" cap="sq">
              <a:solidFill>
                <a:srgbClr val="FFFFFF"/>
              </a:solidFill>
              <a:prstDash val="solid"/>
              <a:miter/>
            </a:ln>
          </p:spPr>
        </p:sp>
      </p:grpSp>
      <p:sp>
        <p:nvSpPr>
          <p:cNvPr name="Freeform 23" id="23"/>
          <p:cNvSpPr/>
          <p:nvPr/>
        </p:nvSpPr>
        <p:spPr>
          <a:xfrm flipH="true" flipV="true" rot="0">
            <a:off x="839656" y="7316412"/>
            <a:ext cx="1588642" cy="1571311"/>
          </a:xfrm>
          <a:custGeom>
            <a:avLst/>
            <a:gdLst/>
            <a:ahLst/>
            <a:cxnLst/>
            <a:rect r="r" b="b" t="t" l="l"/>
            <a:pathLst>
              <a:path h="1571311" w="1588642">
                <a:moveTo>
                  <a:pt x="1588642" y="1571311"/>
                </a:moveTo>
                <a:lnTo>
                  <a:pt x="0" y="1571311"/>
                </a:lnTo>
                <a:lnTo>
                  <a:pt x="0" y="0"/>
                </a:lnTo>
                <a:lnTo>
                  <a:pt x="1588642" y="0"/>
                </a:lnTo>
                <a:lnTo>
                  <a:pt x="1588642" y="157131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24" id="24"/>
          <p:cNvSpPr/>
          <p:nvPr/>
        </p:nvSpPr>
        <p:spPr>
          <a:xfrm>
            <a:off x="11498540" y="4144722"/>
            <a:ext cx="8461486" cy="0"/>
          </a:xfrm>
          <a:prstGeom prst="line">
            <a:avLst/>
          </a:prstGeom>
          <a:ln cap="rnd" w="38100">
            <a:solidFill>
              <a:srgbClr val="FE9710"/>
            </a:solidFill>
            <a:prstDash val="solid"/>
            <a:headEnd type="none" len="sm" w="sm"/>
            <a:tailEnd type="none" len="sm" w="sm"/>
          </a:ln>
        </p:spPr>
      </p:sp>
      <p:grpSp>
        <p:nvGrpSpPr>
          <p:cNvPr name="Group 25" id="25"/>
          <p:cNvGrpSpPr/>
          <p:nvPr/>
        </p:nvGrpSpPr>
        <p:grpSpPr>
          <a:xfrm rot="0">
            <a:off x="11514393" y="6253229"/>
            <a:ext cx="5324381" cy="924316"/>
            <a:chOff x="0" y="0"/>
            <a:chExt cx="1402306" cy="243441"/>
          </a:xfrm>
        </p:grpSpPr>
        <p:sp>
          <p:nvSpPr>
            <p:cNvPr name="Freeform 26" id="26"/>
            <p:cNvSpPr/>
            <p:nvPr/>
          </p:nvSpPr>
          <p:spPr>
            <a:xfrm flipH="false" flipV="false" rot="0">
              <a:off x="0" y="0"/>
              <a:ext cx="1402306" cy="243441"/>
            </a:xfrm>
            <a:custGeom>
              <a:avLst/>
              <a:gdLst/>
              <a:ahLst/>
              <a:cxnLst/>
              <a:rect r="r" b="b" t="t" l="l"/>
              <a:pathLst>
                <a:path h="243441" w="1402306">
                  <a:moveTo>
                    <a:pt x="121721" y="0"/>
                  </a:moveTo>
                  <a:lnTo>
                    <a:pt x="1280586" y="0"/>
                  </a:lnTo>
                  <a:cubicBezTo>
                    <a:pt x="1347810" y="0"/>
                    <a:pt x="1402306" y="54496"/>
                    <a:pt x="1402306" y="121721"/>
                  </a:cubicBezTo>
                  <a:lnTo>
                    <a:pt x="1402306" y="121721"/>
                  </a:lnTo>
                  <a:cubicBezTo>
                    <a:pt x="1402306" y="154003"/>
                    <a:pt x="1389482" y="184963"/>
                    <a:pt x="1366655" y="207790"/>
                  </a:cubicBezTo>
                  <a:cubicBezTo>
                    <a:pt x="1343828" y="230617"/>
                    <a:pt x="1312868" y="243441"/>
                    <a:pt x="1280586"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7" id="27"/>
            <p:cNvSpPr txBox="true"/>
            <p:nvPr/>
          </p:nvSpPr>
          <p:spPr>
            <a:xfrm>
              <a:off x="0" y="-57150"/>
              <a:ext cx="1402306" cy="300591"/>
            </a:xfrm>
            <a:prstGeom prst="rect">
              <a:avLst/>
            </a:prstGeom>
          </p:spPr>
          <p:txBody>
            <a:bodyPr anchor="ctr" rtlCol="false" tIns="50800" lIns="50800" bIns="50800" rIns="50800"/>
            <a:lstStyle/>
            <a:p>
              <a:pPr algn="ctr" marL="0" indent="0" lvl="0">
                <a:lnSpc>
                  <a:spcPts val="3220"/>
                </a:lnSpc>
              </a:pPr>
            </a:p>
          </p:txBody>
        </p:sp>
      </p:grpSp>
      <p:grpSp>
        <p:nvGrpSpPr>
          <p:cNvPr name="Group 28" id="28"/>
          <p:cNvGrpSpPr/>
          <p:nvPr/>
        </p:nvGrpSpPr>
        <p:grpSpPr>
          <a:xfrm rot="0">
            <a:off x="16507800" y="7523049"/>
            <a:ext cx="166204" cy="16620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30" id="30"/>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31" id="31"/>
          <p:cNvGrpSpPr/>
          <p:nvPr/>
        </p:nvGrpSpPr>
        <p:grpSpPr>
          <a:xfrm rot="0">
            <a:off x="16592646" y="8308378"/>
            <a:ext cx="166204" cy="16620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33" id="33"/>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grpSp>
        <p:nvGrpSpPr>
          <p:cNvPr name="Group 34" id="34"/>
          <p:cNvGrpSpPr/>
          <p:nvPr/>
        </p:nvGrpSpPr>
        <p:grpSpPr>
          <a:xfrm rot="0">
            <a:off x="16590902" y="9019755"/>
            <a:ext cx="166204" cy="16620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36" id="36"/>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TextBox 37" id="37"/>
          <p:cNvSpPr txBox="true"/>
          <p:nvPr/>
        </p:nvSpPr>
        <p:spPr>
          <a:xfrm rot="0">
            <a:off x="9510571" y="4673573"/>
            <a:ext cx="7328203" cy="1804738"/>
          </a:xfrm>
          <a:prstGeom prst="rect">
            <a:avLst/>
          </a:prstGeom>
        </p:spPr>
        <p:txBody>
          <a:bodyPr anchor="t" rtlCol="false" tIns="0" lIns="0" bIns="0" rIns="0">
            <a:spAutoFit/>
          </a:bodyPr>
          <a:lstStyle/>
          <a:p>
            <a:pPr algn="r" marL="0" indent="0" lvl="0">
              <a:lnSpc>
                <a:spcPts val="2901"/>
              </a:lnSpc>
            </a:pPr>
            <a:r>
              <a:rPr lang="en-US" sz="2072">
                <a:solidFill>
                  <a:srgbClr val="011A3C"/>
                </a:solidFill>
                <a:latin typeface="Nunito"/>
                <a:ea typeface="Nunito"/>
                <a:cs typeface="Nunito"/>
                <a:sym typeface="Nunito"/>
              </a:rPr>
              <a:t>An inverted index maps each unique keyword to the list of documents containing it. Instead of scanning every document per query, the system looks up the keyword directly and retrieves only relevant document IDs — dramatically speeding up search.</a:t>
            </a:r>
          </a:p>
        </p:txBody>
      </p:sp>
      <p:sp>
        <p:nvSpPr>
          <p:cNvPr name="TextBox 38" id="38"/>
          <p:cNvSpPr txBox="true"/>
          <p:nvPr/>
        </p:nvSpPr>
        <p:spPr>
          <a:xfrm rot="0">
            <a:off x="13033115" y="885423"/>
            <a:ext cx="3805659" cy="290897"/>
          </a:xfrm>
          <a:prstGeom prst="rect">
            <a:avLst/>
          </a:prstGeom>
        </p:spPr>
        <p:txBody>
          <a:bodyPr anchor="t" rtlCol="false" tIns="0" lIns="0" bIns="0" rIns="0">
            <a:spAutoFit/>
          </a:bodyPr>
          <a:lstStyle/>
          <a:p>
            <a:pPr algn="r" marL="0" indent="0" lvl="0">
              <a:lnSpc>
                <a:spcPts val="2341"/>
              </a:lnSpc>
            </a:pPr>
            <a:r>
              <a:rPr lang="en-US" sz="1672">
                <a:solidFill>
                  <a:srgbClr val="011A3C"/>
                </a:solidFill>
                <a:latin typeface="Nunito"/>
                <a:ea typeface="Nunito"/>
                <a:cs typeface="Nunito"/>
                <a:sym typeface="Nunito"/>
              </a:rPr>
              <a:t>Rimberio University</a:t>
            </a:r>
          </a:p>
        </p:txBody>
      </p:sp>
      <p:sp>
        <p:nvSpPr>
          <p:cNvPr name="TextBox 39" id="39"/>
          <p:cNvSpPr txBox="true"/>
          <p:nvPr/>
        </p:nvSpPr>
        <p:spPr>
          <a:xfrm rot="0">
            <a:off x="11498540" y="6480456"/>
            <a:ext cx="5340234"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Inverted Index Mechanism</a:t>
            </a:r>
          </a:p>
        </p:txBody>
      </p:sp>
      <p:sp>
        <p:nvSpPr>
          <p:cNvPr name="TextBox 40" id="40"/>
          <p:cNvSpPr txBox="true"/>
          <p:nvPr/>
        </p:nvSpPr>
        <p:spPr>
          <a:xfrm rot="0">
            <a:off x="8640728" y="7493426"/>
            <a:ext cx="7723773" cy="628650"/>
          </a:xfrm>
          <a:prstGeom prst="rect">
            <a:avLst/>
          </a:prstGeom>
        </p:spPr>
        <p:txBody>
          <a:bodyPr anchor="t" rtlCol="false" tIns="0" lIns="0" bIns="0" rIns="0">
            <a:spAutoFit/>
          </a:bodyPr>
          <a:lstStyle/>
          <a:p>
            <a:pPr algn="r" marL="0" indent="0" lvl="0">
              <a:lnSpc>
                <a:spcPts val="2486"/>
              </a:lnSpc>
            </a:pPr>
            <a:r>
              <a:rPr lang="en-US" sz="2072">
                <a:solidFill>
                  <a:srgbClr val="011A3C"/>
                </a:solidFill>
                <a:latin typeface="Nunito"/>
                <a:ea typeface="Nunito"/>
                <a:cs typeface="Nunito"/>
                <a:sym typeface="Nunito"/>
              </a:rPr>
              <a:t>Keyword → Document mapping enables O(1) average-case lookup via HashMap.</a:t>
            </a:r>
          </a:p>
        </p:txBody>
      </p:sp>
      <p:sp>
        <p:nvSpPr>
          <p:cNvPr name="TextBox 41" id="41"/>
          <p:cNvSpPr txBox="true"/>
          <p:nvPr/>
        </p:nvSpPr>
        <p:spPr>
          <a:xfrm rot="0">
            <a:off x="8583123" y="8301495"/>
            <a:ext cx="7723773" cy="628650"/>
          </a:xfrm>
          <a:prstGeom prst="rect">
            <a:avLst/>
          </a:prstGeom>
        </p:spPr>
        <p:txBody>
          <a:bodyPr anchor="t" rtlCol="false" tIns="0" lIns="0" bIns="0" rIns="0">
            <a:spAutoFit/>
          </a:bodyPr>
          <a:lstStyle/>
          <a:p>
            <a:pPr algn="r" marL="0" indent="0" lvl="0">
              <a:lnSpc>
                <a:spcPts val="2486"/>
              </a:lnSpc>
            </a:pPr>
            <a:r>
              <a:rPr lang="en-US" sz="2072">
                <a:solidFill>
                  <a:srgbClr val="011A3C"/>
                </a:solidFill>
                <a:latin typeface="Nunito"/>
                <a:ea typeface="Nunito"/>
                <a:cs typeface="Nunito"/>
                <a:sym typeface="Nunito"/>
              </a:rPr>
              <a:t>Avoids full-corpus scanning; retrieval scales to large collections efficiently.</a:t>
            </a:r>
          </a:p>
        </p:txBody>
      </p:sp>
      <p:sp>
        <p:nvSpPr>
          <p:cNvPr name="TextBox 42" id="42"/>
          <p:cNvSpPr txBox="true"/>
          <p:nvPr/>
        </p:nvSpPr>
        <p:spPr>
          <a:xfrm rot="0">
            <a:off x="8703260" y="8878198"/>
            <a:ext cx="7723773" cy="657225"/>
          </a:xfrm>
          <a:prstGeom prst="rect">
            <a:avLst/>
          </a:prstGeom>
        </p:spPr>
        <p:txBody>
          <a:bodyPr anchor="t" rtlCol="false" tIns="0" lIns="0" bIns="0" rIns="0">
            <a:spAutoFit/>
          </a:bodyPr>
          <a:lstStyle/>
          <a:p>
            <a:pPr algn="r" marL="0" indent="0" lvl="0">
              <a:lnSpc>
                <a:spcPts val="2606"/>
              </a:lnSpc>
            </a:pPr>
            <a:r>
              <a:rPr lang="en-US" sz="2172">
                <a:solidFill>
                  <a:srgbClr val="011A3C"/>
                </a:solidFill>
                <a:latin typeface="Nunito"/>
                <a:ea typeface="Nunito"/>
                <a:cs typeface="Nunito"/>
                <a:sym typeface="Nunito"/>
              </a:rPr>
              <a:t>Ref: Manning et al., Introduction to Information Retrieval, Cambridge, 2008.</a:t>
            </a:r>
          </a:p>
        </p:txBody>
      </p:sp>
      <p:grpSp>
        <p:nvGrpSpPr>
          <p:cNvPr name="Group 43" id="43"/>
          <p:cNvGrpSpPr/>
          <p:nvPr/>
        </p:nvGrpSpPr>
        <p:grpSpPr>
          <a:xfrm rot="-5400000">
            <a:off x="14522782" y="10030875"/>
            <a:ext cx="2392343" cy="2239640"/>
            <a:chOff x="0" y="0"/>
            <a:chExt cx="596900" cy="558800"/>
          </a:xfrm>
        </p:grpSpPr>
        <p:sp>
          <p:nvSpPr>
            <p:cNvPr name="Freeform 44" id="44"/>
            <p:cNvSpPr/>
            <p:nvPr/>
          </p:nvSpPr>
          <p:spPr>
            <a:xfrm flipH="false" flipV="false" rot="0">
              <a:off x="0" y="0"/>
              <a:ext cx="596900" cy="558800"/>
            </a:xfrm>
            <a:custGeom>
              <a:avLst/>
              <a:gdLst/>
              <a:ahLst/>
              <a:cxnLst/>
              <a:rect r="r" b="b" t="t" l="l"/>
              <a:pathLst>
                <a:path h="558800" w="596900">
                  <a:moveTo>
                    <a:pt x="596900" y="38024"/>
                  </a:moveTo>
                  <a:lnTo>
                    <a:pt x="596900" y="266776"/>
                  </a:lnTo>
                  <a:cubicBezTo>
                    <a:pt x="596900" y="291057"/>
                    <a:pt x="586948" y="314278"/>
                    <a:pt x="569365" y="331024"/>
                  </a:cubicBezTo>
                  <a:lnTo>
                    <a:pt x="357735" y="532576"/>
                  </a:lnTo>
                  <a:cubicBezTo>
                    <a:pt x="340059" y="549410"/>
                    <a:pt x="316585" y="558800"/>
                    <a:pt x="292176" y="558800"/>
                  </a:cubicBezTo>
                  <a:lnTo>
                    <a:pt x="38024" y="558800"/>
                  </a:lnTo>
                  <a:cubicBezTo>
                    <a:pt x="17024" y="558800"/>
                    <a:pt x="0" y="541776"/>
                    <a:pt x="0" y="520776"/>
                  </a:cubicBezTo>
                  <a:lnTo>
                    <a:pt x="0" y="286944"/>
                  </a:lnTo>
                  <a:cubicBezTo>
                    <a:pt x="0" y="262671"/>
                    <a:pt x="9985" y="239466"/>
                    <a:pt x="27611" y="222776"/>
                  </a:cubicBezTo>
                  <a:lnTo>
                    <a:pt x="235279" y="26144"/>
                  </a:lnTo>
                  <a:cubicBezTo>
                    <a:pt x="253009" y="9356"/>
                    <a:pt x="276498" y="0"/>
                    <a:pt x="300914" y="0"/>
                  </a:cubicBezTo>
                  <a:lnTo>
                    <a:pt x="558876" y="0"/>
                  </a:lnTo>
                  <a:cubicBezTo>
                    <a:pt x="579876" y="0"/>
                    <a:pt x="596900" y="17024"/>
                    <a:pt x="596900" y="38024"/>
                  </a:cubicBezTo>
                  <a:close/>
                </a:path>
              </a:pathLst>
            </a:custGeom>
            <a:solidFill>
              <a:srgbClr val="FE9710"/>
            </a:solidFill>
          </p:spPr>
        </p:sp>
        <p:sp>
          <p:nvSpPr>
            <p:cNvPr name="TextBox 45" id="4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8" id="8"/>
          <p:cNvGrpSpPr/>
          <p:nvPr/>
        </p:nvGrpSpPr>
        <p:grpSpPr>
          <a:xfrm rot="5400000">
            <a:off x="10005635" y="6369713"/>
            <a:ext cx="5129706" cy="4802278"/>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014AAB"/>
              </a:solidFill>
              <a:prstDash val="solid"/>
              <a:miter/>
            </a:ln>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9803743" y="843773"/>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FE9710"/>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1796633" y="1776263"/>
            <a:ext cx="5981727" cy="6994589"/>
            <a:chOff x="0" y="0"/>
            <a:chExt cx="1575434" cy="1842196"/>
          </a:xfrm>
        </p:grpSpPr>
        <p:sp>
          <p:nvSpPr>
            <p:cNvPr name="Freeform 15" id="15"/>
            <p:cNvSpPr/>
            <p:nvPr/>
          </p:nvSpPr>
          <p:spPr>
            <a:xfrm flipH="false" flipV="false" rot="0">
              <a:off x="0" y="0"/>
              <a:ext cx="1575434" cy="1842196"/>
            </a:xfrm>
            <a:custGeom>
              <a:avLst/>
              <a:gdLst/>
              <a:ahLst/>
              <a:cxnLst/>
              <a:rect r="r" b="b" t="t" l="l"/>
              <a:pathLst>
                <a:path h="1842196" w="1575434">
                  <a:moveTo>
                    <a:pt x="38828" y="0"/>
                  </a:moveTo>
                  <a:lnTo>
                    <a:pt x="1536606" y="0"/>
                  </a:lnTo>
                  <a:cubicBezTo>
                    <a:pt x="1546904" y="0"/>
                    <a:pt x="1556780" y="4091"/>
                    <a:pt x="1564062" y="11372"/>
                  </a:cubicBezTo>
                  <a:cubicBezTo>
                    <a:pt x="1571344" y="18654"/>
                    <a:pt x="1575434" y="28530"/>
                    <a:pt x="1575434" y="38828"/>
                  </a:cubicBezTo>
                  <a:lnTo>
                    <a:pt x="1575434" y="1803368"/>
                  </a:lnTo>
                  <a:cubicBezTo>
                    <a:pt x="1575434" y="1824812"/>
                    <a:pt x="1558050" y="1842196"/>
                    <a:pt x="1536606" y="1842196"/>
                  </a:cubicBezTo>
                  <a:lnTo>
                    <a:pt x="38828" y="1842196"/>
                  </a:lnTo>
                  <a:cubicBezTo>
                    <a:pt x="17384" y="1842196"/>
                    <a:pt x="0" y="1824812"/>
                    <a:pt x="0" y="1803368"/>
                  </a:cubicBezTo>
                  <a:lnTo>
                    <a:pt x="0" y="38828"/>
                  </a:lnTo>
                  <a:cubicBezTo>
                    <a:pt x="0" y="17384"/>
                    <a:pt x="17384" y="0"/>
                    <a:pt x="38828" y="0"/>
                  </a:cubicBezTo>
                  <a:close/>
                </a:path>
              </a:pathLst>
            </a:custGeom>
            <a:solidFill>
              <a:srgbClr val="FFFFFF"/>
            </a:solidFill>
          </p:spPr>
        </p:sp>
        <p:sp>
          <p:nvSpPr>
            <p:cNvPr name="TextBox 16" id="16"/>
            <p:cNvSpPr txBox="true"/>
            <p:nvPr/>
          </p:nvSpPr>
          <p:spPr>
            <a:xfrm>
              <a:off x="0" y="-57150"/>
              <a:ext cx="1575434" cy="1899346"/>
            </a:xfrm>
            <a:prstGeom prst="rect">
              <a:avLst/>
            </a:prstGeom>
          </p:spPr>
          <p:txBody>
            <a:bodyPr anchor="ctr" rtlCol="false" tIns="50800" lIns="50800" bIns="50800" rIns="50800"/>
            <a:lstStyle/>
            <a:p>
              <a:pPr algn="ctr" marL="0" indent="0" lvl="0">
                <a:lnSpc>
                  <a:spcPts val="3220"/>
                </a:lnSpc>
              </a:pPr>
            </a:p>
          </p:txBody>
        </p:sp>
      </p:grpSp>
      <p:sp>
        <p:nvSpPr>
          <p:cNvPr name="TextBox 17" id="17"/>
          <p:cNvSpPr txBox="true"/>
          <p:nvPr/>
        </p:nvSpPr>
        <p:spPr>
          <a:xfrm rot="0">
            <a:off x="490924" y="925630"/>
            <a:ext cx="8115300" cy="1000125"/>
          </a:xfrm>
          <a:prstGeom prst="rect">
            <a:avLst/>
          </a:prstGeom>
        </p:spPr>
        <p:txBody>
          <a:bodyPr anchor="t" rtlCol="false" tIns="0" lIns="0" bIns="0" rIns="0">
            <a:spAutoFit/>
          </a:bodyPr>
          <a:lstStyle/>
          <a:p>
            <a:pPr algn="l" marL="0" indent="0" lvl="0">
              <a:lnSpc>
                <a:spcPts val="7499"/>
              </a:lnSpc>
            </a:pPr>
            <a:r>
              <a:rPr lang="en-US" b="true" sz="7499" spc="149">
                <a:solidFill>
                  <a:srgbClr val="011A3C"/>
                </a:solidFill>
                <a:latin typeface="Gotham Bold"/>
                <a:ea typeface="Gotham Bold"/>
                <a:cs typeface="Gotham Bold"/>
                <a:sym typeface="Gotham Bold"/>
              </a:rPr>
              <a:t>Research Gap</a:t>
            </a:r>
          </a:p>
        </p:txBody>
      </p:sp>
      <p:grpSp>
        <p:nvGrpSpPr>
          <p:cNvPr name="Group 18" id="18"/>
          <p:cNvGrpSpPr/>
          <p:nvPr/>
        </p:nvGrpSpPr>
        <p:grpSpPr>
          <a:xfrm rot="0">
            <a:off x="1202761" y="4791082"/>
            <a:ext cx="5602303" cy="924316"/>
            <a:chOff x="0" y="0"/>
            <a:chExt cx="1475504" cy="243441"/>
          </a:xfrm>
        </p:grpSpPr>
        <p:sp>
          <p:nvSpPr>
            <p:cNvPr name="Freeform 19" id="19"/>
            <p:cNvSpPr/>
            <p:nvPr/>
          </p:nvSpPr>
          <p:spPr>
            <a:xfrm flipH="false" flipV="false" rot="0">
              <a:off x="0" y="0"/>
              <a:ext cx="1475504" cy="243441"/>
            </a:xfrm>
            <a:custGeom>
              <a:avLst/>
              <a:gdLst/>
              <a:ahLst/>
              <a:cxnLst/>
              <a:rect r="r" b="b" t="t" l="l"/>
              <a:pathLst>
                <a:path h="243441" w="1475504">
                  <a:moveTo>
                    <a:pt x="121721" y="0"/>
                  </a:moveTo>
                  <a:lnTo>
                    <a:pt x="1353783" y="0"/>
                  </a:lnTo>
                  <a:cubicBezTo>
                    <a:pt x="1421008" y="0"/>
                    <a:pt x="1475504" y="54496"/>
                    <a:pt x="1475504" y="121721"/>
                  </a:cubicBezTo>
                  <a:lnTo>
                    <a:pt x="1475504" y="121721"/>
                  </a:lnTo>
                  <a:cubicBezTo>
                    <a:pt x="1475504" y="154003"/>
                    <a:pt x="1462680" y="184963"/>
                    <a:pt x="1439853" y="207790"/>
                  </a:cubicBezTo>
                  <a:cubicBezTo>
                    <a:pt x="1417026" y="230617"/>
                    <a:pt x="1386065" y="243441"/>
                    <a:pt x="1353783"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0" id="20"/>
            <p:cNvSpPr txBox="true"/>
            <p:nvPr/>
          </p:nvSpPr>
          <p:spPr>
            <a:xfrm>
              <a:off x="0" y="-57150"/>
              <a:ext cx="1475504" cy="300591"/>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0">
            <a:off x="11796633" y="762155"/>
            <a:ext cx="4731056" cy="1014107"/>
            <a:chOff x="0" y="0"/>
            <a:chExt cx="1246040" cy="267090"/>
          </a:xfrm>
        </p:grpSpPr>
        <p:sp>
          <p:nvSpPr>
            <p:cNvPr name="Freeform 22" id="22"/>
            <p:cNvSpPr/>
            <p:nvPr/>
          </p:nvSpPr>
          <p:spPr>
            <a:xfrm flipH="false" flipV="false" rot="0">
              <a:off x="0" y="0"/>
              <a:ext cx="1246040" cy="267090"/>
            </a:xfrm>
            <a:custGeom>
              <a:avLst/>
              <a:gdLst/>
              <a:ahLst/>
              <a:cxnLst/>
              <a:rect r="r" b="b" t="t" l="l"/>
              <a:pathLst>
                <a:path h="267090" w="1246040">
                  <a:moveTo>
                    <a:pt x="133545" y="0"/>
                  </a:moveTo>
                  <a:lnTo>
                    <a:pt x="1112494" y="0"/>
                  </a:lnTo>
                  <a:cubicBezTo>
                    <a:pt x="1186249" y="0"/>
                    <a:pt x="1246040" y="59790"/>
                    <a:pt x="1246040" y="133545"/>
                  </a:cubicBezTo>
                  <a:lnTo>
                    <a:pt x="1246040" y="133545"/>
                  </a:lnTo>
                  <a:cubicBezTo>
                    <a:pt x="1246040" y="168963"/>
                    <a:pt x="1231970" y="202931"/>
                    <a:pt x="1206925" y="227976"/>
                  </a:cubicBezTo>
                  <a:cubicBezTo>
                    <a:pt x="1181881" y="253020"/>
                    <a:pt x="1147913" y="267090"/>
                    <a:pt x="111249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014AAB"/>
              </a:solidFill>
              <a:prstDash val="solid"/>
              <a:round/>
            </a:ln>
          </p:spPr>
        </p:sp>
        <p:sp>
          <p:nvSpPr>
            <p:cNvPr name="TextBox 23" id="23"/>
            <p:cNvSpPr txBox="true"/>
            <p:nvPr/>
          </p:nvSpPr>
          <p:spPr>
            <a:xfrm>
              <a:off x="0" y="-57150"/>
              <a:ext cx="1246040" cy="32424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10761690" y="543989"/>
            <a:ext cx="1209779" cy="120977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AAB"/>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TextBox 27" id="27"/>
          <p:cNvSpPr txBox="true"/>
          <p:nvPr/>
        </p:nvSpPr>
        <p:spPr>
          <a:xfrm rot="0">
            <a:off x="1150290" y="8465578"/>
            <a:ext cx="7723773" cy="676275"/>
          </a:xfrm>
          <a:prstGeom prst="rect">
            <a:avLst/>
          </a:prstGeom>
        </p:spPr>
        <p:txBody>
          <a:bodyPr anchor="t" rtlCol="false" tIns="0" lIns="0" bIns="0" rIns="0">
            <a:spAutoFit/>
          </a:bodyPr>
          <a:lstStyle/>
          <a:p>
            <a:pPr algn="l" marL="0" indent="0" lvl="0">
              <a:lnSpc>
                <a:spcPts val="2759"/>
              </a:lnSpc>
            </a:pPr>
            <a:r>
              <a:rPr lang="en-US" sz="2299">
                <a:solidFill>
                  <a:srgbClr val="011A3C"/>
                </a:solidFill>
                <a:latin typeface="Nunito"/>
                <a:ea typeface="Nunito"/>
                <a:cs typeface="Nunito"/>
                <a:sym typeface="Nunito"/>
              </a:rPr>
              <a:t>Inverted index research optimizes retrieval but assumes pre-processed, well-structured input.</a:t>
            </a:r>
          </a:p>
        </p:txBody>
      </p:sp>
      <p:grpSp>
        <p:nvGrpSpPr>
          <p:cNvPr name="Group 28" id="28"/>
          <p:cNvGrpSpPr/>
          <p:nvPr/>
        </p:nvGrpSpPr>
        <p:grpSpPr>
          <a:xfrm rot="0">
            <a:off x="8000488" y="-1161592"/>
            <a:ext cx="2287024" cy="2141044"/>
            <a:chOff x="0" y="0"/>
            <a:chExt cx="596900" cy="558800"/>
          </a:xfrm>
        </p:grpSpPr>
        <p:sp>
          <p:nvSpPr>
            <p:cNvPr name="Freeform 29" id="29"/>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014AAB"/>
            </a:solidFill>
          </p:spPr>
        </p:sp>
        <p:sp>
          <p:nvSpPr>
            <p:cNvPr name="TextBox 30" id="3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31" id="31"/>
          <p:cNvSpPr/>
          <p:nvPr/>
        </p:nvSpPr>
        <p:spPr>
          <a:xfrm flipH="false" flipV="false" rot="0">
            <a:off x="8973070" y="2480144"/>
            <a:ext cx="689862" cy="752577"/>
          </a:xfrm>
          <a:custGeom>
            <a:avLst/>
            <a:gdLst/>
            <a:ahLst/>
            <a:cxnLst/>
            <a:rect r="r" b="b" t="t" l="l"/>
            <a:pathLst>
              <a:path h="752577" w="689862">
                <a:moveTo>
                  <a:pt x="0" y="0"/>
                </a:moveTo>
                <a:lnTo>
                  <a:pt x="689862" y="0"/>
                </a:lnTo>
                <a:lnTo>
                  <a:pt x="689862" y="752576"/>
                </a:lnTo>
                <a:lnTo>
                  <a:pt x="0" y="752576"/>
                </a:lnTo>
                <a:lnTo>
                  <a:pt x="0" y="0"/>
                </a:lnTo>
                <a:close/>
              </a:path>
            </a:pathLst>
          </a:custGeom>
          <a:blipFill>
            <a:blip r:embed="rId2"/>
            <a:stretch>
              <a:fillRect l="0" t="0" r="0" b="0"/>
            </a:stretch>
          </a:blipFill>
        </p:spPr>
      </p:sp>
      <p:sp>
        <p:nvSpPr>
          <p:cNvPr name="TextBox 32" id="32"/>
          <p:cNvSpPr txBox="true"/>
          <p:nvPr/>
        </p:nvSpPr>
        <p:spPr>
          <a:xfrm rot="0">
            <a:off x="1215085" y="5032358"/>
            <a:ext cx="5615588" cy="455343"/>
          </a:xfrm>
          <a:prstGeom prst="rect">
            <a:avLst/>
          </a:prstGeom>
        </p:spPr>
        <p:txBody>
          <a:bodyPr anchor="t" rtlCol="false" tIns="0" lIns="0" bIns="0" rIns="0">
            <a:spAutoFit/>
          </a:bodyPr>
          <a:lstStyle/>
          <a:p>
            <a:pPr algn="ctr" marL="0" indent="0" lvl="0">
              <a:lnSpc>
                <a:spcPts val="3777"/>
              </a:lnSpc>
            </a:pPr>
            <a:r>
              <a:rPr lang="en-US" b="true" sz="2698">
                <a:solidFill>
                  <a:srgbClr val="FFFFFF"/>
                </a:solidFill>
                <a:latin typeface="Nunito Semi-Bold"/>
                <a:ea typeface="Nunito Semi-Bold"/>
                <a:cs typeface="Nunito Semi-Bold"/>
                <a:sym typeface="Nunito Semi-Bold"/>
              </a:rPr>
              <a:t>What Existing Work Covers</a:t>
            </a:r>
          </a:p>
        </p:txBody>
      </p:sp>
      <p:sp>
        <p:nvSpPr>
          <p:cNvPr name="TextBox 33" id="33"/>
          <p:cNvSpPr txBox="true"/>
          <p:nvPr/>
        </p:nvSpPr>
        <p:spPr>
          <a:xfrm rot="0">
            <a:off x="12466535" y="996946"/>
            <a:ext cx="3723907"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The Missing Link</a:t>
            </a:r>
          </a:p>
        </p:txBody>
      </p:sp>
      <p:sp>
        <p:nvSpPr>
          <p:cNvPr name="TextBox 34" id="34"/>
          <p:cNvSpPr txBox="true"/>
          <p:nvPr/>
        </p:nvSpPr>
        <p:spPr>
          <a:xfrm rot="0">
            <a:off x="672285" y="2718688"/>
            <a:ext cx="7328203" cy="1544321"/>
          </a:xfrm>
          <a:prstGeom prst="rect">
            <a:avLst/>
          </a:prstGeom>
        </p:spPr>
        <p:txBody>
          <a:bodyPr anchor="t" rtlCol="false" tIns="0" lIns="0" bIns="0" rIns="0">
            <a:spAutoFit/>
          </a:bodyPr>
          <a:lstStyle/>
          <a:p>
            <a:pPr algn="l" marL="0" indent="0" lvl="0">
              <a:lnSpc>
                <a:spcPts val="3079"/>
              </a:lnSpc>
            </a:pPr>
            <a:r>
              <a:rPr lang="en-US" sz="2199">
                <a:solidFill>
                  <a:srgbClr val="011A3C"/>
                </a:solidFill>
                <a:latin typeface="Nunito"/>
                <a:ea typeface="Nunito"/>
                <a:cs typeface="Nunito"/>
                <a:sym typeface="Nunito"/>
              </a:rPr>
              <a:t>Prior studies address each component in isolation — keyword extraction, semantic modeling, or document retrieval — but rarely combine them into a single cohesive, lightweight system.</a:t>
            </a:r>
          </a:p>
        </p:txBody>
      </p:sp>
      <p:sp>
        <p:nvSpPr>
          <p:cNvPr name="TextBox 35" id="35"/>
          <p:cNvSpPr txBox="true"/>
          <p:nvPr/>
        </p:nvSpPr>
        <p:spPr>
          <a:xfrm rot="0">
            <a:off x="1150290" y="6589227"/>
            <a:ext cx="7723773" cy="676275"/>
          </a:xfrm>
          <a:prstGeom prst="rect">
            <a:avLst/>
          </a:prstGeom>
        </p:spPr>
        <p:txBody>
          <a:bodyPr anchor="t" rtlCol="false" tIns="0" lIns="0" bIns="0" rIns="0">
            <a:spAutoFit/>
          </a:bodyPr>
          <a:lstStyle/>
          <a:p>
            <a:pPr algn="l" marL="0" indent="0" lvl="0">
              <a:lnSpc>
                <a:spcPts val="2759"/>
              </a:lnSpc>
            </a:pPr>
            <a:r>
              <a:rPr lang="en-US" sz="2299">
                <a:solidFill>
                  <a:srgbClr val="011A3C"/>
                </a:solidFill>
                <a:latin typeface="Nunito"/>
                <a:ea typeface="Nunito"/>
                <a:cs typeface="Nunito"/>
                <a:sym typeface="Nunito"/>
              </a:rPr>
              <a:t>Keyword extraction methods (TextRank, RAKE) focus on ranking terms but lack indexing integration.</a:t>
            </a:r>
          </a:p>
        </p:txBody>
      </p:sp>
      <p:sp>
        <p:nvSpPr>
          <p:cNvPr name="TextBox 36" id="36"/>
          <p:cNvSpPr txBox="true"/>
          <p:nvPr/>
        </p:nvSpPr>
        <p:spPr>
          <a:xfrm rot="0">
            <a:off x="1202761" y="7465453"/>
            <a:ext cx="7723773" cy="676275"/>
          </a:xfrm>
          <a:prstGeom prst="rect">
            <a:avLst/>
          </a:prstGeom>
        </p:spPr>
        <p:txBody>
          <a:bodyPr anchor="t" rtlCol="false" tIns="0" lIns="0" bIns="0" rIns="0">
            <a:spAutoFit/>
          </a:bodyPr>
          <a:lstStyle/>
          <a:p>
            <a:pPr algn="l" marL="0" indent="0" lvl="0">
              <a:lnSpc>
                <a:spcPts val="2759"/>
              </a:lnSpc>
            </a:pPr>
            <a:r>
              <a:rPr lang="en-US" sz="2299">
                <a:solidFill>
                  <a:srgbClr val="011A3C"/>
                </a:solidFill>
                <a:latin typeface="Nunito"/>
                <a:ea typeface="Nunito"/>
                <a:cs typeface="Nunito"/>
                <a:sym typeface="Nunito"/>
              </a:rPr>
              <a:t>Semantic models (BERT) improve understanding but are computationally heavy and complex to implement.</a:t>
            </a:r>
          </a:p>
        </p:txBody>
      </p:sp>
      <p:sp>
        <p:nvSpPr>
          <p:cNvPr name="TextBox 37" id="37"/>
          <p:cNvSpPr txBox="true"/>
          <p:nvPr/>
        </p:nvSpPr>
        <p:spPr>
          <a:xfrm rot="0">
            <a:off x="12333745" y="3422743"/>
            <a:ext cx="4583749" cy="1762125"/>
          </a:xfrm>
          <a:prstGeom prst="rect">
            <a:avLst/>
          </a:prstGeom>
        </p:spPr>
        <p:txBody>
          <a:bodyPr anchor="t" rtlCol="false" tIns="0" lIns="0" bIns="0" rIns="0">
            <a:spAutoFit/>
          </a:bodyPr>
          <a:lstStyle/>
          <a:p>
            <a:pPr algn="l" marL="0" indent="0" lvl="0">
              <a:lnSpc>
                <a:spcPts val="2399"/>
              </a:lnSpc>
            </a:pPr>
            <a:r>
              <a:rPr lang="en-US" sz="1999">
                <a:solidFill>
                  <a:srgbClr val="011A3C"/>
                </a:solidFill>
                <a:latin typeface="Nunito"/>
                <a:ea typeface="Nunito"/>
                <a:cs typeface="Nunito"/>
                <a:sym typeface="Nunito"/>
              </a:rPr>
              <a:t>No lightweight, educationally transparent framework exists that combines meaningful keyword processing with DSA-based inverted indexing, suitable for small/medium corpora under Java constraints.</a:t>
            </a:r>
          </a:p>
        </p:txBody>
      </p:sp>
      <p:sp>
        <p:nvSpPr>
          <p:cNvPr name="TextBox 38" id="38"/>
          <p:cNvSpPr txBox="true"/>
          <p:nvPr/>
        </p:nvSpPr>
        <p:spPr>
          <a:xfrm rot="0">
            <a:off x="12333745" y="5522427"/>
            <a:ext cx="4583749" cy="876300"/>
          </a:xfrm>
          <a:prstGeom prst="rect">
            <a:avLst/>
          </a:prstGeom>
        </p:spPr>
        <p:txBody>
          <a:bodyPr anchor="t" rtlCol="false" tIns="0" lIns="0" bIns="0" rIns="0">
            <a:spAutoFit/>
          </a:bodyPr>
          <a:lstStyle/>
          <a:p>
            <a:pPr algn="l" marL="0" indent="0" lvl="0">
              <a:lnSpc>
                <a:spcPts val="2399"/>
              </a:lnSpc>
            </a:pPr>
            <a:r>
              <a:rPr lang="en-US" sz="1999">
                <a:solidFill>
                  <a:srgbClr val="011A3C"/>
                </a:solidFill>
                <a:latin typeface="Nunito"/>
                <a:ea typeface="Nunito"/>
                <a:cs typeface="Nunito"/>
                <a:sym typeface="Nunito"/>
              </a:rPr>
              <a:t>Gap: No unified pipeline from raw text → keywords → inverted index in a single Java-based DSA framework.</a:t>
            </a:r>
          </a:p>
        </p:txBody>
      </p:sp>
      <p:sp>
        <p:nvSpPr>
          <p:cNvPr name="TextBox 39" id="39"/>
          <p:cNvSpPr txBox="true"/>
          <p:nvPr/>
        </p:nvSpPr>
        <p:spPr>
          <a:xfrm rot="0">
            <a:off x="12333745" y="6541602"/>
            <a:ext cx="4583749" cy="942975"/>
          </a:xfrm>
          <a:prstGeom prst="rect">
            <a:avLst/>
          </a:prstGeom>
        </p:spPr>
        <p:txBody>
          <a:bodyPr anchor="t" rtlCol="false" tIns="0" lIns="0" bIns="0" rIns="0">
            <a:spAutoFit/>
          </a:bodyPr>
          <a:lstStyle/>
          <a:p>
            <a:pPr algn="l" marL="0" indent="0" lvl="0">
              <a:lnSpc>
                <a:spcPts val="2519"/>
              </a:lnSpc>
            </a:pPr>
            <a:r>
              <a:rPr lang="en-US" sz="2099">
                <a:solidFill>
                  <a:srgbClr val="011A3C"/>
                </a:solidFill>
                <a:latin typeface="Nunito"/>
                <a:ea typeface="Nunito"/>
                <a:cs typeface="Nunito"/>
                <a:sym typeface="Nunito"/>
              </a:rPr>
              <a:t>Gap: Existing tools are either too heavy (BERT) or too narrow (RAKE alone) for practical academic use.</a:t>
            </a:r>
          </a:p>
        </p:txBody>
      </p:sp>
      <p:sp>
        <p:nvSpPr>
          <p:cNvPr name="TextBox 40" id="40"/>
          <p:cNvSpPr txBox="true"/>
          <p:nvPr/>
        </p:nvSpPr>
        <p:spPr>
          <a:xfrm rot="0">
            <a:off x="12333745" y="7494102"/>
            <a:ext cx="4583749" cy="876300"/>
          </a:xfrm>
          <a:prstGeom prst="rect">
            <a:avLst/>
          </a:prstGeom>
        </p:spPr>
        <p:txBody>
          <a:bodyPr anchor="t" rtlCol="false" tIns="0" lIns="0" bIns="0" rIns="0">
            <a:spAutoFit/>
          </a:bodyPr>
          <a:lstStyle/>
          <a:p>
            <a:pPr algn="l" marL="0" indent="0" lvl="0">
              <a:lnSpc>
                <a:spcPts val="2399"/>
              </a:lnSpc>
            </a:pPr>
            <a:r>
              <a:rPr lang="en-US" sz="1999">
                <a:solidFill>
                  <a:srgbClr val="011A3C"/>
                </a:solidFill>
                <a:latin typeface="Nunito"/>
                <a:ea typeface="Nunito"/>
                <a:cs typeface="Nunito"/>
                <a:sym typeface="Nunito"/>
              </a:rPr>
              <a:t>Our work bridges this gap with a clean, understandable, and efficient end-to-end solution.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887473" y="-90304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0">
            <a:off x="-2185303" y="4504771"/>
            <a:ext cx="10433951" cy="9767954"/>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014AAB"/>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5400000">
            <a:off x="14333257" y="3352274"/>
            <a:ext cx="10433951" cy="9767954"/>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437"/>
                  </a:moveTo>
                  <a:lnTo>
                    <a:pt x="596900" y="287363"/>
                  </a:lnTo>
                  <a:cubicBezTo>
                    <a:pt x="596900" y="298498"/>
                    <a:pt x="592336" y="309146"/>
                    <a:pt x="584273" y="316825"/>
                  </a:cubicBezTo>
                  <a:lnTo>
                    <a:pt x="342827" y="546775"/>
                  </a:lnTo>
                  <a:cubicBezTo>
                    <a:pt x="334721" y="554494"/>
                    <a:pt x="323957" y="558800"/>
                    <a:pt x="312763" y="558800"/>
                  </a:cubicBezTo>
                  <a:lnTo>
                    <a:pt x="17437" y="558800"/>
                  </a:lnTo>
                  <a:cubicBezTo>
                    <a:pt x="7807" y="558800"/>
                    <a:pt x="0" y="550993"/>
                    <a:pt x="0" y="541363"/>
                  </a:cubicBezTo>
                  <a:lnTo>
                    <a:pt x="0" y="266357"/>
                  </a:lnTo>
                  <a:cubicBezTo>
                    <a:pt x="0" y="255226"/>
                    <a:pt x="4579" y="244585"/>
                    <a:pt x="12662" y="236931"/>
                  </a:cubicBezTo>
                  <a:lnTo>
                    <a:pt x="250228" y="11989"/>
                  </a:lnTo>
                  <a:cubicBezTo>
                    <a:pt x="258359" y="4290"/>
                    <a:pt x="269130" y="0"/>
                    <a:pt x="280327" y="0"/>
                  </a:cubicBezTo>
                  <a:lnTo>
                    <a:pt x="579463" y="0"/>
                  </a:lnTo>
                  <a:cubicBezTo>
                    <a:pt x="589093" y="0"/>
                    <a:pt x="596900" y="7807"/>
                    <a:pt x="596900" y="17437"/>
                  </a:cubicBezTo>
                  <a:close/>
                </a:path>
              </a:pathLst>
            </a:custGeom>
            <a:solidFill>
              <a:srgbClr val="FE9710"/>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0">
            <a:off x="1093562" y="2034639"/>
            <a:ext cx="15921815" cy="7712036"/>
            <a:chOff x="0" y="0"/>
            <a:chExt cx="4193400" cy="2031154"/>
          </a:xfrm>
        </p:grpSpPr>
        <p:sp>
          <p:nvSpPr>
            <p:cNvPr name="Freeform 12" id="12"/>
            <p:cNvSpPr/>
            <p:nvPr/>
          </p:nvSpPr>
          <p:spPr>
            <a:xfrm flipH="false" flipV="false" rot="0">
              <a:off x="0" y="0"/>
              <a:ext cx="4193400" cy="2031154"/>
            </a:xfrm>
            <a:custGeom>
              <a:avLst/>
              <a:gdLst/>
              <a:ahLst/>
              <a:cxnLst/>
              <a:rect r="r" b="b" t="t" l="l"/>
              <a:pathLst>
                <a:path h="2031154" w="4193400">
                  <a:moveTo>
                    <a:pt x="21395" y="0"/>
                  </a:moveTo>
                  <a:lnTo>
                    <a:pt x="4172005" y="0"/>
                  </a:lnTo>
                  <a:cubicBezTo>
                    <a:pt x="4177679" y="0"/>
                    <a:pt x="4183121" y="2254"/>
                    <a:pt x="4187134" y="6266"/>
                  </a:cubicBezTo>
                  <a:cubicBezTo>
                    <a:pt x="4191146" y="10279"/>
                    <a:pt x="4193400" y="15721"/>
                    <a:pt x="4193400" y="21395"/>
                  </a:cubicBezTo>
                  <a:lnTo>
                    <a:pt x="4193400" y="2009759"/>
                  </a:lnTo>
                  <a:cubicBezTo>
                    <a:pt x="4193400" y="2015433"/>
                    <a:pt x="4191146" y="2020875"/>
                    <a:pt x="4187134" y="2024887"/>
                  </a:cubicBezTo>
                  <a:cubicBezTo>
                    <a:pt x="4183121" y="2028899"/>
                    <a:pt x="4177679" y="2031154"/>
                    <a:pt x="4172005" y="2031154"/>
                  </a:cubicBezTo>
                  <a:lnTo>
                    <a:pt x="21395" y="2031154"/>
                  </a:lnTo>
                  <a:cubicBezTo>
                    <a:pt x="15721" y="2031154"/>
                    <a:pt x="10279" y="2028899"/>
                    <a:pt x="6266" y="2024887"/>
                  </a:cubicBezTo>
                  <a:cubicBezTo>
                    <a:pt x="2254" y="2020875"/>
                    <a:pt x="0" y="2015433"/>
                    <a:pt x="0" y="2009759"/>
                  </a:cubicBezTo>
                  <a:lnTo>
                    <a:pt x="0" y="21395"/>
                  </a:lnTo>
                  <a:cubicBezTo>
                    <a:pt x="0" y="15721"/>
                    <a:pt x="2254" y="10279"/>
                    <a:pt x="6266" y="6266"/>
                  </a:cubicBezTo>
                  <a:cubicBezTo>
                    <a:pt x="10279" y="2254"/>
                    <a:pt x="15721" y="0"/>
                    <a:pt x="21395" y="0"/>
                  </a:cubicBezTo>
                  <a:close/>
                </a:path>
              </a:pathLst>
            </a:custGeom>
            <a:solidFill>
              <a:srgbClr val="FFFFFF"/>
            </a:solidFill>
          </p:spPr>
        </p:sp>
        <p:sp>
          <p:nvSpPr>
            <p:cNvPr name="TextBox 13" id="13"/>
            <p:cNvSpPr txBox="true"/>
            <p:nvPr/>
          </p:nvSpPr>
          <p:spPr>
            <a:xfrm>
              <a:off x="0" y="-57150"/>
              <a:ext cx="4193400" cy="2088304"/>
            </a:xfrm>
            <a:prstGeom prst="rect">
              <a:avLst/>
            </a:prstGeom>
          </p:spPr>
          <p:txBody>
            <a:bodyPr anchor="ctr" rtlCol="false" tIns="50800" lIns="50800" bIns="50800" rIns="50800"/>
            <a:lstStyle/>
            <a:p>
              <a:pPr algn="ctr" marL="0" indent="0" lvl="0">
                <a:lnSpc>
                  <a:spcPts val="3220"/>
                </a:lnSpc>
              </a:pPr>
            </a:p>
          </p:txBody>
        </p:sp>
      </p:grpSp>
      <p:pic>
        <p:nvPicPr>
          <p:cNvPr name="Picture 14" id="14"/>
          <p:cNvPicPr>
            <a:picLocks noChangeAspect="true"/>
          </p:cNvPicPr>
          <p:nvPr/>
        </p:nvPicPr>
        <p:blipFill>
          <a:blip r:embed="rId2"/>
          <a:stretch>
            <a:fillRect/>
          </a:stretch>
        </p:blipFill>
        <p:spPr>
          <a:xfrm rot="0">
            <a:off x="535472" y="1794961"/>
            <a:ext cx="5970626" cy="6697078"/>
          </a:xfrm>
          <a:prstGeom prst="rect">
            <a:avLst/>
          </a:prstGeom>
        </p:spPr>
      </p:pic>
      <p:grpSp>
        <p:nvGrpSpPr>
          <p:cNvPr name="Group 15" id="15"/>
          <p:cNvGrpSpPr/>
          <p:nvPr/>
        </p:nvGrpSpPr>
        <p:grpSpPr>
          <a:xfrm rot="0">
            <a:off x="5951397" y="2275405"/>
            <a:ext cx="2799129" cy="1014107"/>
            <a:chOff x="0" y="0"/>
            <a:chExt cx="737219" cy="267090"/>
          </a:xfrm>
        </p:grpSpPr>
        <p:sp>
          <p:nvSpPr>
            <p:cNvPr name="Freeform 16" id="16"/>
            <p:cNvSpPr/>
            <p:nvPr/>
          </p:nvSpPr>
          <p:spPr>
            <a:xfrm flipH="false" flipV="false" rot="0">
              <a:off x="0" y="0"/>
              <a:ext cx="737219" cy="267090"/>
            </a:xfrm>
            <a:custGeom>
              <a:avLst/>
              <a:gdLst/>
              <a:ahLst/>
              <a:cxnLst/>
              <a:rect r="r" b="b" t="t" l="l"/>
              <a:pathLst>
                <a:path h="267090" w="737219">
                  <a:moveTo>
                    <a:pt x="133545" y="0"/>
                  </a:moveTo>
                  <a:lnTo>
                    <a:pt x="603674" y="0"/>
                  </a:lnTo>
                  <a:cubicBezTo>
                    <a:pt x="639092" y="0"/>
                    <a:pt x="673060" y="14070"/>
                    <a:pt x="698105" y="39114"/>
                  </a:cubicBezTo>
                  <a:cubicBezTo>
                    <a:pt x="723149" y="64159"/>
                    <a:pt x="737219" y="98127"/>
                    <a:pt x="737219" y="133545"/>
                  </a:cubicBezTo>
                  <a:lnTo>
                    <a:pt x="737219" y="133545"/>
                  </a:lnTo>
                  <a:cubicBezTo>
                    <a:pt x="737219" y="168963"/>
                    <a:pt x="723149" y="202931"/>
                    <a:pt x="698105" y="227976"/>
                  </a:cubicBezTo>
                  <a:cubicBezTo>
                    <a:pt x="673060" y="253020"/>
                    <a:pt x="639092" y="267090"/>
                    <a:pt x="60367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FE9710"/>
              </a:solidFill>
              <a:prstDash val="solid"/>
              <a:round/>
            </a:ln>
          </p:spPr>
        </p:sp>
        <p:sp>
          <p:nvSpPr>
            <p:cNvPr name="TextBox 17" id="17"/>
            <p:cNvSpPr txBox="true"/>
            <p:nvPr/>
          </p:nvSpPr>
          <p:spPr>
            <a:xfrm>
              <a:off x="0" y="-57150"/>
              <a:ext cx="737219" cy="324240"/>
            </a:xfrm>
            <a:prstGeom prst="rect">
              <a:avLst/>
            </a:prstGeom>
          </p:spPr>
          <p:txBody>
            <a:bodyPr anchor="ctr" rtlCol="false" tIns="50800" lIns="50800" bIns="50800" rIns="50800"/>
            <a:lstStyle/>
            <a:p>
              <a:pPr algn="ctr" marL="0" indent="0" lvl="0">
                <a:lnSpc>
                  <a:spcPts val="3220"/>
                </a:lnSpc>
              </a:pPr>
            </a:p>
          </p:txBody>
        </p:sp>
      </p:grpSp>
      <p:sp>
        <p:nvSpPr>
          <p:cNvPr name="TextBox 18" id="18"/>
          <p:cNvSpPr txBox="true"/>
          <p:nvPr/>
        </p:nvSpPr>
        <p:spPr>
          <a:xfrm rot="0">
            <a:off x="3031672" y="595380"/>
            <a:ext cx="12224655" cy="999991"/>
          </a:xfrm>
          <a:prstGeom prst="rect">
            <a:avLst/>
          </a:prstGeom>
        </p:spPr>
        <p:txBody>
          <a:bodyPr anchor="t" rtlCol="false" tIns="0" lIns="0" bIns="0" rIns="0">
            <a:spAutoFit/>
          </a:bodyPr>
          <a:lstStyle/>
          <a:p>
            <a:pPr algn="ctr" marL="0" indent="0" lvl="0">
              <a:lnSpc>
                <a:spcPts val="7494"/>
              </a:lnSpc>
            </a:pPr>
            <a:r>
              <a:rPr lang="en-US" b="true" sz="7494" spc="149">
                <a:solidFill>
                  <a:srgbClr val="011A3C"/>
                </a:solidFill>
                <a:latin typeface="Gotham Bold"/>
                <a:ea typeface="Gotham Bold"/>
                <a:cs typeface="Gotham Bold"/>
                <a:sym typeface="Gotham Bold"/>
              </a:rPr>
              <a:t>Proposed Methodology</a:t>
            </a:r>
          </a:p>
        </p:txBody>
      </p:sp>
      <p:sp>
        <p:nvSpPr>
          <p:cNvPr name="TextBox 19" id="19"/>
          <p:cNvSpPr txBox="true"/>
          <p:nvPr/>
        </p:nvSpPr>
        <p:spPr>
          <a:xfrm rot="0">
            <a:off x="9021103" y="3051174"/>
            <a:ext cx="7806515" cy="2092326"/>
          </a:xfrm>
          <a:prstGeom prst="rect">
            <a:avLst/>
          </a:prstGeom>
        </p:spPr>
        <p:txBody>
          <a:bodyPr anchor="t" rtlCol="false" tIns="0" lIns="0" bIns="0" rIns="0">
            <a:spAutoFit/>
          </a:bodyPr>
          <a:lstStyle/>
          <a:p>
            <a:pPr algn="l" marL="0" indent="0" lvl="0">
              <a:lnSpc>
                <a:spcPts val="2799"/>
              </a:lnSpc>
            </a:pPr>
            <a:r>
              <a:rPr lang="en-US" sz="1999">
                <a:solidFill>
                  <a:srgbClr val="011A3C"/>
                </a:solidFill>
                <a:latin typeface="Nunito"/>
                <a:ea typeface="Nunito"/>
                <a:cs typeface="Nunito"/>
                <a:sym typeface="Nunito"/>
              </a:rPr>
              <a:t>Processing Pipeline Overview:</a:t>
            </a:r>
          </a:p>
          <a:p>
            <a:pPr algn="l" marL="0" indent="0" lvl="0">
              <a:lnSpc>
                <a:spcPts val="2799"/>
              </a:lnSpc>
            </a:pPr>
            <a:r>
              <a:rPr lang="en-US" sz="1999">
                <a:solidFill>
                  <a:srgbClr val="011A3C"/>
                </a:solidFill>
                <a:latin typeface="Nunito"/>
                <a:ea typeface="Nunito"/>
                <a:cs typeface="Nunito"/>
                <a:sym typeface="Nunito"/>
              </a:rPr>
              <a:t>Documents → Cleaning → Tokenization → Stop-word Removal → Keyword Extraction → Inverted Index → User Query → Relevant Documents</a:t>
            </a:r>
          </a:p>
          <a:p>
            <a:pPr algn="l" marL="0" indent="0" lvl="0">
              <a:lnSpc>
                <a:spcPts val="2799"/>
              </a:lnSpc>
            </a:pPr>
            <a:r>
              <a:rPr lang="en-US" sz="1999">
                <a:solidFill>
                  <a:srgbClr val="011A3C"/>
                </a:solidFill>
                <a:latin typeface="Nunito"/>
                <a:ea typeface="Nunito"/>
                <a:cs typeface="Nunito"/>
                <a:sym typeface="Nunito"/>
              </a:rPr>
              <a:t>Each stage reduces noise and structures data for fast, accurate retrieval.</a:t>
            </a:r>
          </a:p>
        </p:txBody>
      </p:sp>
      <p:sp>
        <p:nvSpPr>
          <p:cNvPr name="TextBox 20" id="20"/>
          <p:cNvSpPr txBox="true"/>
          <p:nvPr/>
        </p:nvSpPr>
        <p:spPr>
          <a:xfrm rot="0">
            <a:off x="9021103" y="5528132"/>
            <a:ext cx="7806515" cy="3233420"/>
          </a:xfrm>
          <a:prstGeom prst="rect">
            <a:avLst/>
          </a:prstGeom>
        </p:spPr>
        <p:txBody>
          <a:bodyPr anchor="t" rtlCol="false" tIns="0" lIns="0" bIns="0" rIns="0">
            <a:spAutoFit/>
          </a:bodyPr>
          <a:lstStyle/>
          <a:p>
            <a:pPr algn="l" marL="0" indent="0" lvl="0">
              <a:lnSpc>
                <a:spcPts val="2379"/>
              </a:lnSpc>
            </a:pPr>
            <a:r>
              <a:rPr lang="en-US" sz="1699">
                <a:solidFill>
                  <a:srgbClr val="011A3C"/>
                </a:solidFill>
                <a:latin typeface="Nunito"/>
                <a:ea typeface="Nunito"/>
                <a:cs typeface="Nunito"/>
                <a:sym typeface="Nunito"/>
              </a:rPr>
              <a:t>Stage Details:</a:t>
            </a:r>
          </a:p>
          <a:p>
            <a:pPr algn="l" marL="0" indent="0" lvl="0">
              <a:lnSpc>
                <a:spcPts val="2379"/>
              </a:lnSpc>
            </a:pPr>
            <a:r>
              <a:rPr lang="en-US" sz="1699">
                <a:solidFill>
                  <a:srgbClr val="011A3C"/>
                </a:solidFill>
                <a:latin typeface="Nunito"/>
                <a:ea typeface="Nunito"/>
                <a:cs typeface="Nunito"/>
                <a:sym typeface="Nunito"/>
              </a:rPr>
              <a:t>• Cleaning: remove punctuation, lowercase text</a:t>
            </a:r>
          </a:p>
          <a:p>
            <a:pPr algn="l" marL="0" indent="0" lvl="0">
              <a:lnSpc>
                <a:spcPts val="2379"/>
              </a:lnSpc>
            </a:pPr>
            <a:r>
              <a:rPr lang="en-US" sz="1699">
                <a:solidFill>
                  <a:srgbClr val="011A3C"/>
                </a:solidFill>
                <a:latin typeface="Nunito"/>
                <a:ea typeface="Nunito"/>
                <a:cs typeface="Nunito"/>
                <a:sym typeface="Nunito"/>
              </a:rPr>
              <a:t>• Tokenization: split text into individual terms</a:t>
            </a:r>
          </a:p>
          <a:p>
            <a:pPr algn="l" marL="0" indent="0" lvl="0">
              <a:lnSpc>
                <a:spcPts val="2379"/>
              </a:lnSpc>
            </a:pPr>
            <a:r>
              <a:rPr lang="en-US" sz="1699">
                <a:solidFill>
                  <a:srgbClr val="011A3C"/>
                </a:solidFill>
                <a:latin typeface="Nunito"/>
                <a:ea typeface="Nunito"/>
                <a:cs typeface="Nunito"/>
                <a:sym typeface="Nunito"/>
              </a:rPr>
              <a:t>• Stop-word Removal: eliminate common words ("the", "is")</a:t>
            </a:r>
          </a:p>
          <a:p>
            <a:pPr algn="l" marL="0" indent="0" lvl="0">
              <a:lnSpc>
                <a:spcPts val="2379"/>
              </a:lnSpc>
            </a:pPr>
            <a:r>
              <a:rPr lang="en-US" sz="1699">
                <a:solidFill>
                  <a:srgbClr val="011A3C"/>
                </a:solidFill>
                <a:latin typeface="Nunito"/>
                <a:ea typeface="Nunito"/>
                <a:cs typeface="Nunito"/>
                <a:sym typeface="Nunito"/>
              </a:rPr>
              <a:t>• Keyword Extraction: retain meaningful terms (RAKE/TextRank)</a:t>
            </a:r>
          </a:p>
          <a:p>
            <a:pPr algn="l" marL="0" indent="0" lvl="0">
              <a:lnSpc>
                <a:spcPts val="2379"/>
              </a:lnSpc>
            </a:pPr>
            <a:r>
              <a:rPr lang="en-US" sz="1699">
                <a:solidFill>
                  <a:srgbClr val="011A3C"/>
                </a:solidFill>
                <a:latin typeface="Nunito"/>
                <a:ea typeface="Nunito"/>
                <a:cs typeface="Nunito"/>
                <a:sym typeface="Nunito"/>
              </a:rPr>
              <a:t>• Inverted Index: map keyword → document list (HashMap)</a:t>
            </a:r>
          </a:p>
          <a:p>
            <a:pPr algn="l" marL="0" indent="0" lvl="0">
              <a:lnSpc>
                <a:spcPts val="2379"/>
              </a:lnSpc>
            </a:pPr>
            <a:r>
              <a:rPr lang="en-US" sz="1699">
                <a:solidFill>
                  <a:srgbClr val="011A3C"/>
                </a:solidFill>
                <a:latin typeface="Nunito"/>
                <a:ea typeface="Nunito"/>
                <a:cs typeface="Nunito"/>
                <a:sym typeface="Nunito"/>
              </a:rPr>
              <a:t>• Query Processing: tokenize &amp; look up in index</a:t>
            </a:r>
          </a:p>
          <a:p>
            <a:pPr algn="l" marL="0" indent="0" lvl="0">
              <a:lnSpc>
                <a:spcPts val="2379"/>
              </a:lnSpc>
            </a:pPr>
            <a:r>
              <a:rPr lang="en-US" sz="1699">
                <a:solidFill>
                  <a:srgbClr val="011A3C"/>
                </a:solidFill>
                <a:latin typeface="Nunito"/>
                <a:ea typeface="Nunito"/>
                <a:cs typeface="Nunito"/>
                <a:sym typeface="Nunito"/>
              </a:rPr>
              <a:t>• Output: ranked list of relevant documents</a:t>
            </a:r>
          </a:p>
          <a:p>
            <a:pPr algn="l" marL="0" indent="0" lvl="0">
              <a:lnSpc>
                <a:spcPts val="2379"/>
              </a:lnSpc>
            </a:pPr>
            <a:r>
              <a:rPr lang="en-US" sz="1699">
                <a:solidFill>
                  <a:srgbClr val="011A3C"/>
                </a:solidFill>
                <a:latin typeface="Nunito"/>
                <a:ea typeface="Nunito"/>
                <a:cs typeface="Nunito"/>
                <a:sym typeface="Nunito"/>
              </a:rPr>
              <a:t>Speaker Note: Walk through each arrow step-by-step. Emphasize that the inverted index is built once offline, making live queries very fast — O(1) lookup with HashMap.</a:t>
            </a:r>
          </a:p>
        </p:txBody>
      </p:sp>
      <p:sp>
        <p:nvSpPr>
          <p:cNvPr name="TextBox 21" id="21"/>
          <p:cNvSpPr txBox="true"/>
          <p:nvPr/>
        </p:nvSpPr>
        <p:spPr>
          <a:xfrm rot="0">
            <a:off x="6256071" y="2530975"/>
            <a:ext cx="2189780" cy="455343"/>
          </a:xfrm>
          <a:prstGeom prst="rect">
            <a:avLst/>
          </a:prstGeom>
        </p:spPr>
        <p:txBody>
          <a:bodyPr anchor="t" rtlCol="false" tIns="0" lIns="0" bIns="0" rIns="0">
            <a:spAutoFit/>
          </a:bodyPr>
          <a:lstStyle/>
          <a:p>
            <a:pPr algn="l" marL="0" indent="0" lvl="0">
              <a:lnSpc>
                <a:spcPts val="3777"/>
              </a:lnSpc>
            </a:pPr>
            <a:r>
              <a:rPr lang="en-US" b="true" sz="2698">
                <a:solidFill>
                  <a:srgbClr val="011A3C"/>
                </a:solidFill>
                <a:latin typeface="Nunito Semi-Bold"/>
                <a:ea typeface="Nunito Semi-Bold"/>
                <a:cs typeface="Nunito Semi-Bold"/>
                <a:sym typeface="Nunito Semi-Bold"/>
              </a:rPr>
              <a:t>Pipeline Flow</a:t>
            </a:r>
          </a:p>
        </p:txBody>
      </p:sp>
      <p:grpSp>
        <p:nvGrpSpPr>
          <p:cNvPr name="Group 22" id="22"/>
          <p:cNvGrpSpPr/>
          <p:nvPr/>
        </p:nvGrpSpPr>
        <p:grpSpPr>
          <a:xfrm rot="0">
            <a:off x="-954618" y="641415"/>
            <a:ext cx="2287024" cy="2141044"/>
            <a:chOff x="0" y="0"/>
            <a:chExt cx="596900" cy="558800"/>
          </a:xfrm>
        </p:grpSpPr>
        <p:sp>
          <p:nvSpPr>
            <p:cNvPr name="Freeform 23" id="23"/>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FE9710"/>
            </a:solidFill>
          </p:spPr>
        </p:sp>
        <p:sp>
          <p:nvSpPr>
            <p:cNvPr name="TextBox 24" id="2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
        <p:nvSpPr>
          <p:cNvPr name="Freeform 25" id="25"/>
          <p:cNvSpPr/>
          <p:nvPr/>
        </p:nvSpPr>
        <p:spPr>
          <a:xfrm flipH="false" flipV="false" rot="0">
            <a:off x="9037229" y="9610199"/>
            <a:ext cx="1014107" cy="167789"/>
          </a:xfrm>
          <a:custGeom>
            <a:avLst/>
            <a:gdLst/>
            <a:ahLst/>
            <a:cxnLst/>
            <a:rect r="r" b="b" t="t" l="l"/>
            <a:pathLst>
              <a:path h="167789" w="1014107">
                <a:moveTo>
                  <a:pt x="0" y="0"/>
                </a:moveTo>
                <a:lnTo>
                  <a:pt x="1014107" y="0"/>
                </a:lnTo>
                <a:lnTo>
                  <a:pt x="1014107" y="167789"/>
                </a:lnTo>
                <a:lnTo>
                  <a:pt x="0" y="1677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true" flipV="false" rot="0">
            <a:off x="1526322" y="660866"/>
            <a:ext cx="963084" cy="952578"/>
          </a:xfrm>
          <a:custGeom>
            <a:avLst/>
            <a:gdLst/>
            <a:ahLst/>
            <a:cxnLst/>
            <a:rect r="r" b="b" t="t" l="l"/>
            <a:pathLst>
              <a:path h="952578" w="963084">
                <a:moveTo>
                  <a:pt x="963084" y="0"/>
                </a:moveTo>
                <a:lnTo>
                  <a:pt x="0" y="0"/>
                </a:lnTo>
                <a:lnTo>
                  <a:pt x="0" y="952578"/>
                </a:lnTo>
                <a:lnTo>
                  <a:pt x="963084" y="952578"/>
                </a:lnTo>
                <a:lnTo>
                  <a:pt x="96308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01911" y="-787414"/>
            <a:ext cx="6005760" cy="562241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5147"/>
                  </a:moveTo>
                  <a:lnTo>
                    <a:pt x="596900" y="289653"/>
                  </a:lnTo>
                  <a:cubicBezTo>
                    <a:pt x="596900" y="299326"/>
                    <a:pt x="592936" y="308575"/>
                    <a:pt x="585932" y="315246"/>
                  </a:cubicBezTo>
                  <a:lnTo>
                    <a:pt x="341168" y="548354"/>
                  </a:lnTo>
                  <a:cubicBezTo>
                    <a:pt x="334127" y="555060"/>
                    <a:pt x="324777" y="558800"/>
                    <a:pt x="315053" y="558800"/>
                  </a:cubicBezTo>
                  <a:lnTo>
                    <a:pt x="15147" y="558800"/>
                  </a:lnTo>
                  <a:cubicBezTo>
                    <a:pt x="6781" y="558800"/>
                    <a:pt x="0" y="552019"/>
                    <a:pt x="0" y="543653"/>
                  </a:cubicBezTo>
                  <a:lnTo>
                    <a:pt x="0" y="264067"/>
                  </a:lnTo>
                  <a:cubicBezTo>
                    <a:pt x="0" y="254397"/>
                    <a:pt x="3977" y="245154"/>
                    <a:pt x="10999" y="238506"/>
                  </a:cubicBezTo>
                  <a:lnTo>
                    <a:pt x="251891" y="10414"/>
                  </a:lnTo>
                  <a:cubicBezTo>
                    <a:pt x="258954" y="3727"/>
                    <a:pt x="268311" y="0"/>
                    <a:pt x="278037" y="0"/>
                  </a:cubicBezTo>
                  <a:lnTo>
                    <a:pt x="581753" y="0"/>
                  </a:lnTo>
                  <a:cubicBezTo>
                    <a:pt x="590119" y="0"/>
                    <a:pt x="596900" y="6781"/>
                    <a:pt x="596900" y="15147"/>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5" id="5"/>
          <p:cNvGrpSpPr/>
          <p:nvPr/>
        </p:nvGrpSpPr>
        <p:grpSpPr>
          <a:xfrm rot="-5400000">
            <a:off x="-875342" y="3892899"/>
            <a:ext cx="1750683" cy="1638937"/>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51961"/>
                  </a:moveTo>
                  <a:lnTo>
                    <a:pt x="596900" y="252839"/>
                  </a:lnTo>
                  <a:cubicBezTo>
                    <a:pt x="596900" y="286020"/>
                    <a:pt x="583301" y="317752"/>
                    <a:pt x="559273" y="340635"/>
                  </a:cubicBezTo>
                  <a:lnTo>
                    <a:pt x="367827" y="522965"/>
                  </a:lnTo>
                  <a:cubicBezTo>
                    <a:pt x="343673" y="545969"/>
                    <a:pt x="311595" y="558800"/>
                    <a:pt x="278239" y="558800"/>
                  </a:cubicBezTo>
                  <a:lnTo>
                    <a:pt x="51961" y="558800"/>
                  </a:lnTo>
                  <a:cubicBezTo>
                    <a:pt x="23264" y="558800"/>
                    <a:pt x="0" y="535536"/>
                    <a:pt x="0" y="506839"/>
                  </a:cubicBezTo>
                  <a:lnTo>
                    <a:pt x="0" y="300881"/>
                  </a:lnTo>
                  <a:cubicBezTo>
                    <a:pt x="0" y="267711"/>
                    <a:pt x="13645" y="236001"/>
                    <a:pt x="37731" y="213194"/>
                  </a:cubicBezTo>
                  <a:lnTo>
                    <a:pt x="225159" y="35726"/>
                  </a:lnTo>
                  <a:cubicBezTo>
                    <a:pt x="249387" y="12785"/>
                    <a:pt x="281485" y="0"/>
                    <a:pt x="314851" y="0"/>
                  </a:cubicBezTo>
                  <a:lnTo>
                    <a:pt x="544939" y="0"/>
                  </a:lnTo>
                  <a:cubicBezTo>
                    <a:pt x="573636" y="0"/>
                    <a:pt x="596900" y="23264"/>
                    <a:pt x="596900" y="51961"/>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l" marL="0" indent="0" lvl="0">
                <a:lnSpc>
                  <a:spcPts val="3220"/>
                </a:lnSpc>
              </a:pPr>
            </a:p>
          </p:txBody>
        </p:sp>
      </p:grpSp>
      <p:grpSp>
        <p:nvGrpSpPr>
          <p:cNvPr name="Group 8" id="8"/>
          <p:cNvGrpSpPr/>
          <p:nvPr/>
        </p:nvGrpSpPr>
        <p:grpSpPr>
          <a:xfrm rot="5400000">
            <a:off x="10005635" y="6369713"/>
            <a:ext cx="5129706" cy="4802278"/>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17733"/>
                  </a:moveTo>
                  <a:lnTo>
                    <a:pt x="596900" y="287067"/>
                  </a:lnTo>
                  <a:cubicBezTo>
                    <a:pt x="596900" y="298391"/>
                    <a:pt x="592259" y="309220"/>
                    <a:pt x="584058" y="317030"/>
                  </a:cubicBezTo>
                  <a:lnTo>
                    <a:pt x="343041" y="546570"/>
                  </a:lnTo>
                  <a:cubicBezTo>
                    <a:pt x="334798" y="554421"/>
                    <a:pt x="323850" y="558800"/>
                    <a:pt x="312467" y="558800"/>
                  </a:cubicBezTo>
                  <a:lnTo>
                    <a:pt x="17733" y="558800"/>
                  </a:lnTo>
                  <a:cubicBezTo>
                    <a:pt x="13030" y="558800"/>
                    <a:pt x="8520" y="556932"/>
                    <a:pt x="5194" y="553606"/>
                  </a:cubicBezTo>
                  <a:cubicBezTo>
                    <a:pt x="1868" y="550280"/>
                    <a:pt x="0" y="545770"/>
                    <a:pt x="0" y="541067"/>
                  </a:cubicBezTo>
                  <a:lnTo>
                    <a:pt x="0" y="266653"/>
                  </a:lnTo>
                  <a:cubicBezTo>
                    <a:pt x="0" y="255333"/>
                    <a:pt x="4657" y="244511"/>
                    <a:pt x="12877" y="236727"/>
                  </a:cubicBezTo>
                  <a:lnTo>
                    <a:pt x="250013" y="12193"/>
                  </a:lnTo>
                  <a:cubicBezTo>
                    <a:pt x="258282" y="4363"/>
                    <a:pt x="269236" y="0"/>
                    <a:pt x="280623" y="0"/>
                  </a:cubicBezTo>
                  <a:lnTo>
                    <a:pt x="579167" y="0"/>
                  </a:lnTo>
                  <a:cubicBezTo>
                    <a:pt x="583870" y="0"/>
                    <a:pt x="588380" y="1868"/>
                    <a:pt x="591706" y="5194"/>
                  </a:cubicBezTo>
                  <a:cubicBezTo>
                    <a:pt x="595032" y="8520"/>
                    <a:pt x="596900" y="13030"/>
                    <a:pt x="596900" y="17733"/>
                  </a:cubicBezTo>
                  <a:close/>
                </a:path>
              </a:pathLst>
            </a:custGeom>
            <a:ln w="190500" cap="sq">
              <a:solidFill>
                <a:srgbClr val="FE9710"/>
              </a:solidFill>
              <a:prstDash val="solid"/>
              <a:miter/>
            </a:ln>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9304440" y="1157886"/>
            <a:ext cx="11455664" cy="10724451"/>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35734"/>
                  </a:moveTo>
                  <a:lnTo>
                    <a:pt x="596900" y="269066"/>
                  </a:lnTo>
                  <a:cubicBezTo>
                    <a:pt x="596900" y="291885"/>
                    <a:pt x="587548" y="313707"/>
                    <a:pt x="571024" y="329444"/>
                  </a:cubicBezTo>
                  <a:lnTo>
                    <a:pt x="356076" y="534156"/>
                  </a:lnTo>
                  <a:cubicBezTo>
                    <a:pt x="339465" y="549976"/>
                    <a:pt x="317405" y="558800"/>
                    <a:pt x="294466" y="558800"/>
                  </a:cubicBezTo>
                  <a:lnTo>
                    <a:pt x="35734" y="558800"/>
                  </a:lnTo>
                  <a:cubicBezTo>
                    <a:pt x="26257" y="558800"/>
                    <a:pt x="17168" y="555035"/>
                    <a:pt x="10466" y="548334"/>
                  </a:cubicBezTo>
                  <a:cubicBezTo>
                    <a:pt x="3765" y="541632"/>
                    <a:pt x="0" y="532543"/>
                    <a:pt x="0" y="523066"/>
                  </a:cubicBezTo>
                  <a:lnTo>
                    <a:pt x="0" y="284654"/>
                  </a:lnTo>
                  <a:cubicBezTo>
                    <a:pt x="0" y="261842"/>
                    <a:pt x="9383" y="240035"/>
                    <a:pt x="25948" y="224351"/>
                  </a:cubicBezTo>
                  <a:lnTo>
                    <a:pt x="236942" y="24569"/>
                  </a:lnTo>
                  <a:cubicBezTo>
                    <a:pt x="253604" y="8792"/>
                    <a:pt x="275678" y="0"/>
                    <a:pt x="298624" y="0"/>
                  </a:cubicBezTo>
                  <a:lnTo>
                    <a:pt x="561166" y="0"/>
                  </a:lnTo>
                  <a:cubicBezTo>
                    <a:pt x="570643" y="0"/>
                    <a:pt x="579732" y="3765"/>
                    <a:pt x="586434" y="10466"/>
                  </a:cubicBezTo>
                  <a:cubicBezTo>
                    <a:pt x="593135" y="17168"/>
                    <a:pt x="596900" y="26257"/>
                    <a:pt x="596900" y="35734"/>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0169349" y="1886002"/>
            <a:ext cx="5981727" cy="6734474"/>
            <a:chOff x="0" y="0"/>
            <a:chExt cx="1575434" cy="1773689"/>
          </a:xfrm>
        </p:grpSpPr>
        <p:sp>
          <p:nvSpPr>
            <p:cNvPr name="Freeform 15" id="15"/>
            <p:cNvSpPr/>
            <p:nvPr/>
          </p:nvSpPr>
          <p:spPr>
            <a:xfrm flipH="false" flipV="false" rot="0">
              <a:off x="0" y="0"/>
              <a:ext cx="1575434" cy="1773689"/>
            </a:xfrm>
            <a:custGeom>
              <a:avLst/>
              <a:gdLst/>
              <a:ahLst/>
              <a:cxnLst/>
              <a:rect r="r" b="b" t="t" l="l"/>
              <a:pathLst>
                <a:path h="1773689" w="1575434">
                  <a:moveTo>
                    <a:pt x="38828" y="0"/>
                  </a:moveTo>
                  <a:lnTo>
                    <a:pt x="1536606" y="0"/>
                  </a:lnTo>
                  <a:cubicBezTo>
                    <a:pt x="1546904" y="0"/>
                    <a:pt x="1556780" y="4091"/>
                    <a:pt x="1564062" y="11372"/>
                  </a:cubicBezTo>
                  <a:cubicBezTo>
                    <a:pt x="1571344" y="18654"/>
                    <a:pt x="1575434" y="28530"/>
                    <a:pt x="1575434" y="38828"/>
                  </a:cubicBezTo>
                  <a:lnTo>
                    <a:pt x="1575434" y="1734861"/>
                  </a:lnTo>
                  <a:cubicBezTo>
                    <a:pt x="1575434" y="1756305"/>
                    <a:pt x="1558050" y="1773689"/>
                    <a:pt x="1536606" y="1773689"/>
                  </a:cubicBezTo>
                  <a:lnTo>
                    <a:pt x="38828" y="1773689"/>
                  </a:lnTo>
                  <a:cubicBezTo>
                    <a:pt x="17384" y="1773689"/>
                    <a:pt x="0" y="1756305"/>
                    <a:pt x="0" y="1734861"/>
                  </a:cubicBezTo>
                  <a:lnTo>
                    <a:pt x="0" y="38828"/>
                  </a:lnTo>
                  <a:cubicBezTo>
                    <a:pt x="0" y="17384"/>
                    <a:pt x="17384" y="0"/>
                    <a:pt x="38828" y="0"/>
                  </a:cubicBezTo>
                  <a:close/>
                </a:path>
              </a:pathLst>
            </a:custGeom>
            <a:solidFill>
              <a:srgbClr val="FFFFFF"/>
            </a:solidFill>
          </p:spPr>
        </p:sp>
        <p:sp>
          <p:nvSpPr>
            <p:cNvPr name="TextBox 16" id="16"/>
            <p:cNvSpPr txBox="true"/>
            <p:nvPr/>
          </p:nvSpPr>
          <p:spPr>
            <a:xfrm>
              <a:off x="0" y="-57150"/>
              <a:ext cx="1575434" cy="1830839"/>
            </a:xfrm>
            <a:prstGeom prst="rect">
              <a:avLst/>
            </a:prstGeom>
          </p:spPr>
          <p:txBody>
            <a:bodyPr anchor="ctr" rtlCol="false" tIns="50800" lIns="50800" bIns="50800" rIns="50800"/>
            <a:lstStyle/>
            <a:p>
              <a:pPr algn="ctr" marL="0" indent="0" lvl="0">
                <a:lnSpc>
                  <a:spcPts val="3220"/>
                </a:lnSpc>
              </a:pPr>
            </a:p>
          </p:txBody>
        </p:sp>
      </p:grpSp>
      <p:sp>
        <p:nvSpPr>
          <p:cNvPr name="TextBox 17" id="17"/>
          <p:cNvSpPr txBox="true"/>
          <p:nvPr/>
        </p:nvSpPr>
        <p:spPr>
          <a:xfrm rot="0">
            <a:off x="606358" y="1387140"/>
            <a:ext cx="8115300" cy="1878836"/>
          </a:xfrm>
          <a:prstGeom prst="rect">
            <a:avLst/>
          </a:prstGeom>
        </p:spPr>
        <p:txBody>
          <a:bodyPr anchor="t" rtlCol="false" tIns="0" lIns="0" bIns="0" rIns="0">
            <a:spAutoFit/>
          </a:bodyPr>
          <a:lstStyle/>
          <a:p>
            <a:pPr algn="l" marL="0" indent="0" lvl="0">
              <a:lnSpc>
                <a:spcPts val="7219"/>
              </a:lnSpc>
            </a:pPr>
            <a:r>
              <a:rPr lang="en-US" b="true" sz="7219" spc="144">
                <a:solidFill>
                  <a:srgbClr val="011A3C"/>
                </a:solidFill>
                <a:latin typeface="Gotham Bold"/>
                <a:ea typeface="Gotham Bold"/>
                <a:cs typeface="Gotham Bold"/>
                <a:sym typeface="Gotham Bold"/>
              </a:rPr>
              <a:t>DSA &amp; Algorithms Used</a:t>
            </a:r>
          </a:p>
        </p:txBody>
      </p:sp>
      <p:grpSp>
        <p:nvGrpSpPr>
          <p:cNvPr name="Group 18" id="18"/>
          <p:cNvGrpSpPr/>
          <p:nvPr/>
        </p:nvGrpSpPr>
        <p:grpSpPr>
          <a:xfrm rot="0">
            <a:off x="1215085" y="5125551"/>
            <a:ext cx="4139340" cy="924316"/>
            <a:chOff x="0" y="0"/>
            <a:chExt cx="1090197" cy="243441"/>
          </a:xfrm>
        </p:grpSpPr>
        <p:sp>
          <p:nvSpPr>
            <p:cNvPr name="Freeform 19" id="19"/>
            <p:cNvSpPr/>
            <p:nvPr/>
          </p:nvSpPr>
          <p:spPr>
            <a:xfrm flipH="false" flipV="false" rot="0">
              <a:off x="0" y="0"/>
              <a:ext cx="1090197" cy="243441"/>
            </a:xfrm>
            <a:custGeom>
              <a:avLst/>
              <a:gdLst/>
              <a:ahLst/>
              <a:cxnLst/>
              <a:rect r="r" b="b" t="t" l="l"/>
              <a:pathLst>
                <a:path h="243441" w="1090197">
                  <a:moveTo>
                    <a:pt x="121721" y="0"/>
                  </a:moveTo>
                  <a:lnTo>
                    <a:pt x="968476" y="0"/>
                  </a:lnTo>
                  <a:cubicBezTo>
                    <a:pt x="1000758" y="0"/>
                    <a:pt x="1031718" y="12824"/>
                    <a:pt x="1054546" y="35651"/>
                  </a:cubicBezTo>
                  <a:cubicBezTo>
                    <a:pt x="1077373" y="58478"/>
                    <a:pt x="1090197" y="89438"/>
                    <a:pt x="1090197" y="121721"/>
                  </a:cubicBezTo>
                  <a:lnTo>
                    <a:pt x="1090197" y="121721"/>
                  </a:lnTo>
                  <a:cubicBezTo>
                    <a:pt x="1090197" y="188945"/>
                    <a:pt x="1035700" y="243441"/>
                    <a:pt x="968476" y="243441"/>
                  </a:cubicBezTo>
                  <a:lnTo>
                    <a:pt x="121721" y="243441"/>
                  </a:lnTo>
                  <a:cubicBezTo>
                    <a:pt x="89438" y="243441"/>
                    <a:pt x="58478" y="230617"/>
                    <a:pt x="35651" y="207790"/>
                  </a:cubicBezTo>
                  <a:cubicBezTo>
                    <a:pt x="12824" y="184963"/>
                    <a:pt x="0" y="154003"/>
                    <a:pt x="0" y="121721"/>
                  </a:cubicBezTo>
                  <a:lnTo>
                    <a:pt x="0" y="121721"/>
                  </a:lnTo>
                  <a:cubicBezTo>
                    <a:pt x="0" y="89438"/>
                    <a:pt x="12824" y="58478"/>
                    <a:pt x="35651" y="35651"/>
                  </a:cubicBezTo>
                  <a:cubicBezTo>
                    <a:pt x="58478" y="12824"/>
                    <a:pt x="89438" y="0"/>
                    <a:pt x="121721" y="0"/>
                  </a:cubicBezTo>
                  <a:close/>
                </a:path>
              </a:pathLst>
            </a:custGeom>
            <a:solidFill>
              <a:srgbClr val="014AAB"/>
            </a:solidFill>
            <a:ln cap="rnd">
              <a:noFill/>
              <a:prstDash val="solid"/>
              <a:round/>
            </a:ln>
          </p:spPr>
        </p:sp>
        <p:sp>
          <p:nvSpPr>
            <p:cNvPr name="TextBox 20" id="20"/>
            <p:cNvSpPr txBox="true"/>
            <p:nvPr/>
          </p:nvSpPr>
          <p:spPr>
            <a:xfrm>
              <a:off x="0" y="-57150"/>
              <a:ext cx="1090197" cy="300591"/>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0">
            <a:off x="9431105" y="2357718"/>
            <a:ext cx="4731056" cy="1014107"/>
            <a:chOff x="0" y="0"/>
            <a:chExt cx="1246040" cy="267090"/>
          </a:xfrm>
        </p:grpSpPr>
        <p:sp>
          <p:nvSpPr>
            <p:cNvPr name="Freeform 22" id="22"/>
            <p:cNvSpPr/>
            <p:nvPr/>
          </p:nvSpPr>
          <p:spPr>
            <a:xfrm flipH="false" flipV="false" rot="0">
              <a:off x="0" y="0"/>
              <a:ext cx="1246040" cy="267090"/>
            </a:xfrm>
            <a:custGeom>
              <a:avLst/>
              <a:gdLst/>
              <a:ahLst/>
              <a:cxnLst/>
              <a:rect r="r" b="b" t="t" l="l"/>
              <a:pathLst>
                <a:path h="267090" w="1246040">
                  <a:moveTo>
                    <a:pt x="133545" y="0"/>
                  </a:moveTo>
                  <a:lnTo>
                    <a:pt x="1112494" y="0"/>
                  </a:lnTo>
                  <a:cubicBezTo>
                    <a:pt x="1186249" y="0"/>
                    <a:pt x="1246040" y="59790"/>
                    <a:pt x="1246040" y="133545"/>
                  </a:cubicBezTo>
                  <a:lnTo>
                    <a:pt x="1246040" y="133545"/>
                  </a:lnTo>
                  <a:cubicBezTo>
                    <a:pt x="1246040" y="168963"/>
                    <a:pt x="1231970" y="202931"/>
                    <a:pt x="1206925" y="227976"/>
                  </a:cubicBezTo>
                  <a:cubicBezTo>
                    <a:pt x="1181881" y="253020"/>
                    <a:pt x="1147913" y="267090"/>
                    <a:pt x="1112494" y="267090"/>
                  </a:cubicBezTo>
                  <a:lnTo>
                    <a:pt x="133545" y="267090"/>
                  </a:lnTo>
                  <a:cubicBezTo>
                    <a:pt x="98127" y="267090"/>
                    <a:pt x="64159" y="253020"/>
                    <a:pt x="39114" y="227976"/>
                  </a:cubicBezTo>
                  <a:cubicBezTo>
                    <a:pt x="14070" y="202931"/>
                    <a:pt x="0" y="168963"/>
                    <a:pt x="0" y="133545"/>
                  </a:cubicBezTo>
                  <a:lnTo>
                    <a:pt x="0" y="133545"/>
                  </a:lnTo>
                  <a:cubicBezTo>
                    <a:pt x="0" y="98127"/>
                    <a:pt x="14070" y="64159"/>
                    <a:pt x="39114" y="39114"/>
                  </a:cubicBezTo>
                  <a:cubicBezTo>
                    <a:pt x="64159" y="14070"/>
                    <a:pt x="98127" y="0"/>
                    <a:pt x="133545" y="0"/>
                  </a:cubicBezTo>
                  <a:close/>
                </a:path>
              </a:pathLst>
            </a:custGeom>
            <a:solidFill>
              <a:srgbClr val="FFFFFF"/>
            </a:solidFill>
            <a:ln w="38100" cap="rnd">
              <a:solidFill>
                <a:srgbClr val="FE9710"/>
              </a:solidFill>
              <a:prstDash val="solid"/>
              <a:round/>
            </a:ln>
          </p:spPr>
        </p:sp>
        <p:sp>
          <p:nvSpPr>
            <p:cNvPr name="TextBox 23" id="23"/>
            <p:cNvSpPr txBox="true"/>
            <p:nvPr/>
          </p:nvSpPr>
          <p:spPr>
            <a:xfrm>
              <a:off x="0" y="-57150"/>
              <a:ext cx="1246040" cy="32424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8721658" y="2259882"/>
            <a:ext cx="1209779" cy="120977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9710"/>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marL="0" indent="0" lvl="0">
                <a:lnSpc>
                  <a:spcPts val="3220"/>
                </a:lnSpc>
              </a:pPr>
            </a:p>
          </p:txBody>
        </p:sp>
      </p:grpSp>
      <p:sp>
        <p:nvSpPr>
          <p:cNvPr name="Freeform 27" id="27"/>
          <p:cNvSpPr/>
          <p:nvPr/>
        </p:nvSpPr>
        <p:spPr>
          <a:xfrm flipH="false" flipV="false" rot="0">
            <a:off x="8906783" y="2388394"/>
            <a:ext cx="846672" cy="773683"/>
          </a:xfrm>
          <a:custGeom>
            <a:avLst/>
            <a:gdLst/>
            <a:ahLst/>
            <a:cxnLst/>
            <a:rect r="r" b="b" t="t" l="l"/>
            <a:pathLst>
              <a:path h="773683" w="846672">
                <a:moveTo>
                  <a:pt x="0" y="0"/>
                </a:moveTo>
                <a:lnTo>
                  <a:pt x="846672" y="0"/>
                </a:lnTo>
                <a:lnTo>
                  <a:pt x="846672" y="773683"/>
                </a:lnTo>
                <a:lnTo>
                  <a:pt x="0" y="773683"/>
                </a:lnTo>
                <a:lnTo>
                  <a:pt x="0" y="0"/>
                </a:lnTo>
                <a:close/>
              </a:path>
            </a:pathLst>
          </a:custGeom>
          <a:blipFill>
            <a:blip r:embed="rId2"/>
            <a:stretch>
              <a:fillRect l="0" t="0" r="0" b="0"/>
            </a:stretch>
          </a:blipFill>
        </p:spPr>
      </p:sp>
      <p:sp>
        <p:nvSpPr>
          <p:cNvPr name="TextBox 28" id="28"/>
          <p:cNvSpPr txBox="true"/>
          <p:nvPr/>
        </p:nvSpPr>
        <p:spPr>
          <a:xfrm rot="0">
            <a:off x="1215085" y="5339013"/>
            <a:ext cx="4151665" cy="440242"/>
          </a:xfrm>
          <a:prstGeom prst="rect">
            <a:avLst/>
          </a:prstGeom>
        </p:spPr>
        <p:txBody>
          <a:bodyPr anchor="t" rtlCol="false" tIns="0" lIns="0" bIns="0" rIns="0">
            <a:spAutoFit/>
          </a:bodyPr>
          <a:lstStyle/>
          <a:p>
            <a:pPr algn="ctr" marL="0" indent="0" lvl="0">
              <a:lnSpc>
                <a:spcPts val="3559"/>
              </a:lnSpc>
            </a:pPr>
            <a:r>
              <a:rPr lang="en-US" b="true" sz="2542">
                <a:solidFill>
                  <a:srgbClr val="FFFFFF"/>
                </a:solidFill>
                <a:latin typeface="Nunito Semi-Bold"/>
                <a:ea typeface="Nunito Semi-Bold"/>
                <a:cs typeface="Nunito Semi-Bold"/>
                <a:sym typeface="Nunito Semi-Bold"/>
              </a:rPr>
              <a:t>Data Structures</a:t>
            </a:r>
          </a:p>
        </p:txBody>
      </p:sp>
      <p:sp>
        <p:nvSpPr>
          <p:cNvPr name="TextBox 29" id="29"/>
          <p:cNvSpPr txBox="true"/>
          <p:nvPr/>
        </p:nvSpPr>
        <p:spPr>
          <a:xfrm rot="0">
            <a:off x="10063655" y="2620315"/>
            <a:ext cx="3723907" cy="440242"/>
          </a:xfrm>
          <a:prstGeom prst="rect">
            <a:avLst/>
          </a:prstGeom>
        </p:spPr>
        <p:txBody>
          <a:bodyPr anchor="t" rtlCol="false" tIns="0" lIns="0" bIns="0" rIns="0">
            <a:spAutoFit/>
          </a:bodyPr>
          <a:lstStyle/>
          <a:p>
            <a:pPr algn="l" marL="0" indent="0" lvl="0">
              <a:lnSpc>
                <a:spcPts val="3559"/>
              </a:lnSpc>
            </a:pPr>
            <a:r>
              <a:rPr lang="en-US" b="true" sz="2542">
                <a:solidFill>
                  <a:srgbClr val="011A3C"/>
                </a:solidFill>
                <a:latin typeface="Nunito Semi-Bold"/>
                <a:ea typeface="Nunito Semi-Bold"/>
                <a:cs typeface="Nunito Semi-Bold"/>
                <a:sym typeface="Nunito Semi-Bold"/>
              </a:rPr>
              <a:t>Algorithms &amp; Complexity</a:t>
            </a:r>
          </a:p>
        </p:txBody>
      </p:sp>
      <p:sp>
        <p:nvSpPr>
          <p:cNvPr name="TextBox 30" id="30"/>
          <p:cNvSpPr txBox="true"/>
          <p:nvPr/>
        </p:nvSpPr>
        <p:spPr>
          <a:xfrm rot="0">
            <a:off x="1215085" y="3724424"/>
            <a:ext cx="7328203" cy="1136084"/>
          </a:xfrm>
          <a:prstGeom prst="rect">
            <a:avLst/>
          </a:prstGeom>
        </p:spPr>
        <p:txBody>
          <a:bodyPr anchor="t" rtlCol="false" tIns="0" lIns="0" bIns="0" rIns="0">
            <a:spAutoFit/>
          </a:bodyPr>
          <a:lstStyle/>
          <a:p>
            <a:pPr algn="l" marL="0" indent="0" lvl="0">
              <a:lnSpc>
                <a:spcPts val="3006"/>
              </a:lnSpc>
            </a:pPr>
            <a:r>
              <a:rPr lang="en-US" sz="2147">
                <a:solidFill>
                  <a:srgbClr val="011A3C"/>
                </a:solidFill>
                <a:latin typeface="Nunito"/>
                <a:ea typeface="Nunito"/>
                <a:cs typeface="Nunito"/>
                <a:sym typeface="Nunito"/>
              </a:rPr>
              <a:t>Core data structures and algorithms power efficient keyword storage and document retrieval. Each component is chosen for clarity, performance, and Java compatibility.</a:t>
            </a:r>
          </a:p>
        </p:txBody>
      </p:sp>
      <p:sp>
        <p:nvSpPr>
          <p:cNvPr name="TextBox 31" id="31"/>
          <p:cNvSpPr txBox="true"/>
          <p:nvPr/>
        </p:nvSpPr>
        <p:spPr>
          <a:xfrm rot="0">
            <a:off x="1028700" y="6354667"/>
            <a:ext cx="7723773" cy="704850"/>
          </a:xfrm>
          <a:prstGeom prst="rect">
            <a:avLst/>
          </a:prstGeom>
        </p:spPr>
        <p:txBody>
          <a:bodyPr anchor="t" rtlCol="false" tIns="0" lIns="0" bIns="0" rIns="0">
            <a:spAutoFit/>
          </a:bodyPr>
          <a:lstStyle/>
          <a:p>
            <a:pPr algn="l" marL="0" indent="0" lvl="0">
              <a:lnSpc>
                <a:spcPts val="2816"/>
              </a:lnSpc>
            </a:pPr>
            <a:r>
              <a:rPr lang="en-US" sz="2347">
                <a:solidFill>
                  <a:srgbClr val="011A3C"/>
                </a:solidFill>
                <a:latin typeface="Nunito"/>
                <a:ea typeface="Nunito"/>
                <a:cs typeface="Nunito"/>
                <a:sym typeface="Nunito"/>
              </a:rPr>
              <a:t>HashMap&lt;String, List&gt;: maps each keyword to its document list — O(1) average lookup.</a:t>
            </a:r>
          </a:p>
        </p:txBody>
      </p:sp>
      <p:sp>
        <p:nvSpPr>
          <p:cNvPr name="TextBox 32" id="32"/>
          <p:cNvSpPr txBox="true"/>
          <p:nvPr/>
        </p:nvSpPr>
        <p:spPr>
          <a:xfrm rot="0">
            <a:off x="1017301" y="7274953"/>
            <a:ext cx="7723773" cy="647700"/>
          </a:xfrm>
          <a:prstGeom prst="rect">
            <a:avLst/>
          </a:prstGeom>
        </p:spPr>
        <p:txBody>
          <a:bodyPr anchor="t" rtlCol="false" tIns="0" lIns="0" bIns="0" rIns="0">
            <a:spAutoFit/>
          </a:bodyPr>
          <a:lstStyle/>
          <a:p>
            <a:pPr algn="l" marL="0" indent="0" lvl="0">
              <a:lnSpc>
                <a:spcPts val="2576"/>
              </a:lnSpc>
            </a:pPr>
            <a:r>
              <a:rPr lang="en-US" sz="2147">
                <a:solidFill>
                  <a:srgbClr val="011A3C"/>
                </a:solidFill>
                <a:latin typeface="Nunito"/>
                <a:ea typeface="Nunito"/>
                <a:cs typeface="Nunito"/>
                <a:sym typeface="Nunito"/>
              </a:rPr>
              <a:t>HashSet: removes duplicate tokens during preprocessing — O(1) add/check.</a:t>
            </a:r>
          </a:p>
        </p:txBody>
      </p:sp>
      <p:sp>
        <p:nvSpPr>
          <p:cNvPr name="TextBox 33" id="33"/>
          <p:cNvSpPr txBox="true"/>
          <p:nvPr/>
        </p:nvSpPr>
        <p:spPr>
          <a:xfrm rot="0">
            <a:off x="997886" y="8284603"/>
            <a:ext cx="7723773" cy="752475"/>
          </a:xfrm>
          <a:prstGeom prst="rect">
            <a:avLst/>
          </a:prstGeom>
        </p:spPr>
        <p:txBody>
          <a:bodyPr anchor="t" rtlCol="false" tIns="0" lIns="0" bIns="0" rIns="0">
            <a:spAutoFit/>
          </a:bodyPr>
          <a:lstStyle/>
          <a:p>
            <a:pPr algn="l" marL="0" indent="0" lvl="0">
              <a:lnSpc>
                <a:spcPts val="2936"/>
              </a:lnSpc>
            </a:pPr>
            <a:r>
              <a:rPr lang="en-US" sz="2447">
                <a:solidFill>
                  <a:srgbClr val="011A3C"/>
                </a:solidFill>
                <a:latin typeface="Nunito"/>
                <a:ea typeface="Nunito"/>
                <a:cs typeface="Nunito"/>
                <a:sym typeface="Nunito"/>
              </a:rPr>
              <a:t>ArrayList: stores ordered document IDs per keyword — O(1) append.</a:t>
            </a:r>
          </a:p>
        </p:txBody>
      </p:sp>
      <p:sp>
        <p:nvSpPr>
          <p:cNvPr name="TextBox 34" id="34"/>
          <p:cNvSpPr txBox="true"/>
          <p:nvPr/>
        </p:nvSpPr>
        <p:spPr>
          <a:xfrm rot="0">
            <a:off x="10640243" y="3460136"/>
            <a:ext cx="4583749" cy="1485900"/>
          </a:xfrm>
          <a:prstGeom prst="rect">
            <a:avLst/>
          </a:prstGeom>
        </p:spPr>
        <p:txBody>
          <a:bodyPr anchor="t" rtlCol="false" tIns="0" lIns="0" bIns="0" rIns="0">
            <a:spAutoFit/>
          </a:bodyPr>
          <a:lstStyle/>
          <a:p>
            <a:pPr algn="l" marL="0" indent="0" lvl="0">
              <a:lnSpc>
                <a:spcPts val="2336"/>
              </a:lnSpc>
            </a:pPr>
            <a:r>
              <a:rPr lang="en-US" sz="1947">
                <a:solidFill>
                  <a:srgbClr val="011A3C"/>
                </a:solidFill>
                <a:latin typeface="Nunito"/>
                <a:ea typeface="Nunito"/>
                <a:cs typeface="Nunito"/>
                <a:sym typeface="Nunito"/>
              </a:rPr>
              <a:t>Tokenization: split text on whitespace/punctuation using String.split() — O(n) per document. Stop-word removal via HashSet lookup — O(1) per token.</a:t>
            </a:r>
          </a:p>
        </p:txBody>
      </p:sp>
      <p:sp>
        <p:nvSpPr>
          <p:cNvPr name="TextBox 35" id="35"/>
          <p:cNvSpPr txBox="true"/>
          <p:nvPr/>
        </p:nvSpPr>
        <p:spPr>
          <a:xfrm rot="0">
            <a:off x="10640243" y="5116026"/>
            <a:ext cx="4583749" cy="895350"/>
          </a:xfrm>
          <a:prstGeom prst="rect">
            <a:avLst/>
          </a:prstGeom>
        </p:spPr>
        <p:txBody>
          <a:bodyPr anchor="t" rtlCol="false" tIns="0" lIns="0" bIns="0" rIns="0">
            <a:spAutoFit/>
          </a:bodyPr>
          <a:lstStyle/>
          <a:p>
            <a:pPr algn="l" marL="0" indent="0" lvl="0">
              <a:lnSpc>
                <a:spcPts val="2336"/>
              </a:lnSpc>
            </a:pPr>
            <a:r>
              <a:rPr lang="en-US" sz="1947">
                <a:solidFill>
                  <a:srgbClr val="011A3C"/>
                </a:solidFill>
                <a:latin typeface="Nunito"/>
                <a:ea typeface="Nunito"/>
                <a:cs typeface="Nunito"/>
                <a:sym typeface="Nunito"/>
              </a:rPr>
              <a:t>Inverted Index Build: iterate all tokens, insert into HashMap — O(N·k) total where N = docs, k = avg tokens.</a:t>
            </a:r>
          </a:p>
        </p:txBody>
      </p:sp>
      <p:sp>
        <p:nvSpPr>
          <p:cNvPr name="TextBox 36" id="36"/>
          <p:cNvSpPr txBox="true"/>
          <p:nvPr/>
        </p:nvSpPr>
        <p:spPr>
          <a:xfrm rot="0">
            <a:off x="10640243" y="6177170"/>
            <a:ext cx="4583749" cy="838200"/>
          </a:xfrm>
          <a:prstGeom prst="rect">
            <a:avLst/>
          </a:prstGeom>
        </p:spPr>
        <p:txBody>
          <a:bodyPr anchor="t" rtlCol="false" tIns="0" lIns="0" bIns="0" rIns="0">
            <a:spAutoFit/>
          </a:bodyPr>
          <a:lstStyle/>
          <a:p>
            <a:pPr algn="l" marL="0" indent="0" lvl="0">
              <a:lnSpc>
                <a:spcPts val="2216"/>
              </a:lnSpc>
            </a:pPr>
            <a:r>
              <a:rPr lang="en-US" sz="1847">
                <a:solidFill>
                  <a:srgbClr val="011A3C"/>
                </a:solidFill>
                <a:latin typeface="Nunito"/>
                <a:ea typeface="Nunito"/>
                <a:cs typeface="Nunito"/>
                <a:sym typeface="Nunito"/>
              </a:rPr>
              <a:t>Query Retrieval: single HashMap.get(keyword) — O(1); multi-keyword: intersect ArrayLists — O(m).</a:t>
            </a:r>
          </a:p>
        </p:txBody>
      </p:sp>
      <p:sp>
        <p:nvSpPr>
          <p:cNvPr name="TextBox 37" id="37"/>
          <p:cNvSpPr txBox="true"/>
          <p:nvPr/>
        </p:nvSpPr>
        <p:spPr>
          <a:xfrm rot="0">
            <a:off x="10640243" y="7265428"/>
            <a:ext cx="4583749" cy="895350"/>
          </a:xfrm>
          <a:prstGeom prst="rect">
            <a:avLst/>
          </a:prstGeom>
        </p:spPr>
        <p:txBody>
          <a:bodyPr anchor="t" rtlCol="false" tIns="0" lIns="0" bIns="0" rIns="0">
            <a:spAutoFit/>
          </a:bodyPr>
          <a:lstStyle/>
          <a:p>
            <a:pPr algn="l" marL="0" indent="0" lvl="0">
              <a:lnSpc>
                <a:spcPts val="2336"/>
              </a:lnSpc>
            </a:pPr>
            <a:r>
              <a:rPr lang="en-US" sz="1947">
                <a:solidFill>
                  <a:srgbClr val="011A3C"/>
                </a:solidFill>
                <a:latin typeface="Nunito"/>
                <a:ea typeface="Nunito"/>
                <a:cs typeface="Nunito"/>
                <a:sym typeface="Nunito"/>
              </a:rPr>
              <a:t>Optional Trie: prefix-based autocomplete for queries — O(L) insert/search where L = keyword length.</a:t>
            </a:r>
          </a:p>
        </p:txBody>
      </p:sp>
      <p:grpSp>
        <p:nvGrpSpPr>
          <p:cNvPr name="Group 38" id="38"/>
          <p:cNvGrpSpPr/>
          <p:nvPr/>
        </p:nvGrpSpPr>
        <p:grpSpPr>
          <a:xfrm rot="0">
            <a:off x="8000488" y="-1161592"/>
            <a:ext cx="2287024" cy="2141044"/>
            <a:chOff x="0" y="0"/>
            <a:chExt cx="596900" cy="558800"/>
          </a:xfrm>
        </p:grpSpPr>
        <p:sp>
          <p:nvSpPr>
            <p:cNvPr name="Freeform 39" id="39"/>
            <p:cNvSpPr/>
            <p:nvPr/>
          </p:nvSpPr>
          <p:spPr>
            <a:xfrm flipH="false" flipV="false" rot="0">
              <a:off x="0" y="0"/>
              <a:ext cx="596900" cy="558800"/>
            </a:xfrm>
            <a:custGeom>
              <a:avLst/>
              <a:gdLst/>
              <a:ahLst/>
              <a:cxnLst/>
              <a:rect r="r" b="b" t="t" l="l"/>
              <a:pathLst>
                <a:path h="558800" w="596900">
                  <a:moveTo>
                    <a:pt x="596900" y="39776"/>
                  </a:moveTo>
                  <a:lnTo>
                    <a:pt x="596900" y="265024"/>
                  </a:lnTo>
                  <a:cubicBezTo>
                    <a:pt x="596900" y="290424"/>
                    <a:pt x="586490" y="314714"/>
                    <a:pt x="568097" y="332231"/>
                  </a:cubicBezTo>
                  <a:lnTo>
                    <a:pt x="359003" y="531369"/>
                  </a:lnTo>
                  <a:cubicBezTo>
                    <a:pt x="340513" y="548978"/>
                    <a:pt x="315958" y="558800"/>
                    <a:pt x="290424" y="558800"/>
                  </a:cubicBezTo>
                  <a:lnTo>
                    <a:pt x="39776" y="558800"/>
                  </a:lnTo>
                  <a:cubicBezTo>
                    <a:pt x="29226" y="558800"/>
                    <a:pt x="19109" y="554609"/>
                    <a:pt x="11650" y="547150"/>
                  </a:cubicBezTo>
                  <a:cubicBezTo>
                    <a:pt x="4191" y="539691"/>
                    <a:pt x="0" y="529574"/>
                    <a:pt x="0" y="519024"/>
                  </a:cubicBezTo>
                  <a:lnTo>
                    <a:pt x="0" y="288696"/>
                  </a:lnTo>
                  <a:cubicBezTo>
                    <a:pt x="0" y="263304"/>
                    <a:pt x="10445" y="239030"/>
                    <a:pt x="28882" y="221572"/>
                  </a:cubicBezTo>
                  <a:lnTo>
                    <a:pt x="234008" y="27348"/>
                  </a:lnTo>
                  <a:cubicBezTo>
                    <a:pt x="252554" y="9787"/>
                    <a:pt x="277124" y="0"/>
                    <a:pt x="302666" y="0"/>
                  </a:cubicBezTo>
                  <a:lnTo>
                    <a:pt x="557124" y="0"/>
                  </a:lnTo>
                  <a:cubicBezTo>
                    <a:pt x="567674" y="0"/>
                    <a:pt x="577791" y="4191"/>
                    <a:pt x="585250" y="11650"/>
                  </a:cubicBezTo>
                  <a:cubicBezTo>
                    <a:pt x="592709" y="19109"/>
                    <a:pt x="596900" y="29226"/>
                    <a:pt x="596900" y="39776"/>
                  </a:cubicBezTo>
                  <a:close/>
                </a:path>
              </a:pathLst>
            </a:custGeom>
            <a:solidFill>
              <a:srgbClr val="FE9710"/>
            </a:solidFill>
          </p:spPr>
        </p:sp>
        <p:sp>
          <p:nvSpPr>
            <p:cNvPr name="TextBox 40" id="4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4372557" y="-522625"/>
            <a:ext cx="5586552" cy="5229964"/>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283"/>
                  </a:moveTo>
                  <a:lnTo>
                    <a:pt x="596900" y="288517"/>
                  </a:lnTo>
                  <a:cubicBezTo>
                    <a:pt x="596900" y="298915"/>
                    <a:pt x="592638" y="308859"/>
                    <a:pt x="585109" y="316030"/>
                  </a:cubicBezTo>
                  <a:lnTo>
                    <a:pt x="341991" y="547570"/>
                  </a:lnTo>
                  <a:cubicBezTo>
                    <a:pt x="334422" y="554779"/>
                    <a:pt x="324370" y="558800"/>
                    <a:pt x="313917" y="558800"/>
                  </a:cubicBezTo>
                  <a:lnTo>
                    <a:pt x="16283" y="558800"/>
                  </a:lnTo>
                  <a:cubicBezTo>
                    <a:pt x="7290" y="558800"/>
                    <a:pt x="0" y="551510"/>
                    <a:pt x="0" y="542517"/>
                  </a:cubicBezTo>
                  <a:lnTo>
                    <a:pt x="0" y="265203"/>
                  </a:lnTo>
                  <a:cubicBezTo>
                    <a:pt x="0" y="254809"/>
                    <a:pt x="4276" y="244871"/>
                    <a:pt x="11824" y="237724"/>
                  </a:cubicBezTo>
                  <a:lnTo>
                    <a:pt x="251066" y="11196"/>
                  </a:lnTo>
                  <a:cubicBezTo>
                    <a:pt x="258659" y="4007"/>
                    <a:pt x="268717" y="0"/>
                    <a:pt x="279173" y="0"/>
                  </a:cubicBezTo>
                  <a:lnTo>
                    <a:pt x="580617" y="0"/>
                  </a:lnTo>
                  <a:cubicBezTo>
                    <a:pt x="589610" y="0"/>
                    <a:pt x="596900" y="7290"/>
                    <a:pt x="596900" y="16283"/>
                  </a:cubicBezTo>
                  <a:close/>
                </a:path>
              </a:pathLst>
            </a:custGeom>
            <a:solidFill>
              <a:srgbClr val="014AAB">
                <a:alpha val="5882"/>
              </a:srgbClr>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5400000">
            <a:off x="-1951372" y="-821553"/>
            <a:ext cx="5308335" cy="4969505"/>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17137"/>
                  </a:moveTo>
                  <a:lnTo>
                    <a:pt x="596900" y="287663"/>
                  </a:lnTo>
                  <a:cubicBezTo>
                    <a:pt x="596900" y="298606"/>
                    <a:pt x="592415" y="309071"/>
                    <a:pt x="584491" y="316618"/>
                  </a:cubicBezTo>
                  <a:lnTo>
                    <a:pt x="342609" y="546982"/>
                  </a:lnTo>
                  <a:cubicBezTo>
                    <a:pt x="334643" y="554568"/>
                    <a:pt x="324064" y="558800"/>
                    <a:pt x="313063" y="558800"/>
                  </a:cubicBezTo>
                  <a:lnTo>
                    <a:pt x="17137" y="558800"/>
                  </a:lnTo>
                  <a:cubicBezTo>
                    <a:pt x="12592" y="558800"/>
                    <a:pt x="8233" y="556995"/>
                    <a:pt x="5019" y="553781"/>
                  </a:cubicBezTo>
                  <a:cubicBezTo>
                    <a:pt x="1805" y="550567"/>
                    <a:pt x="0" y="546208"/>
                    <a:pt x="0" y="541663"/>
                  </a:cubicBezTo>
                  <a:lnTo>
                    <a:pt x="0" y="266057"/>
                  </a:lnTo>
                  <a:cubicBezTo>
                    <a:pt x="0" y="255117"/>
                    <a:pt x="4500" y="244659"/>
                    <a:pt x="12444" y="237138"/>
                  </a:cubicBezTo>
                  <a:lnTo>
                    <a:pt x="250446" y="11782"/>
                  </a:lnTo>
                  <a:cubicBezTo>
                    <a:pt x="258437" y="4217"/>
                    <a:pt x="269023" y="0"/>
                    <a:pt x="280027" y="0"/>
                  </a:cubicBezTo>
                  <a:lnTo>
                    <a:pt x="579763" y="0"/>
                  </a:lnTo>
                  <a:cubicBezTo>
                    <a:pt x="584308" y="0"/>
                    <a:pt x="588667" y="1805"/>
                    <a:pt x="591881" y="5019"/>
                  </a:cubicBezTo>
                  <a:cubicBezTo>
                    <a:pt x="595095" y="8233"/>
                    <a:pt x="596900" y="12592"/>
                    <a:pt x="596900" y="17137"/>
                  </a:cubicBezTo>
                  <a:close/>
                </a:path>
              </a:pathLst>
            </a:custGeom>
            <a:solidFill>
              <a:srgbClr val="014AAB">
                <a:alpha val="5882"/>
              </a:srgbClr>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10987743" y="0"/>
            <a:ext cx="9949049" cy="9314003"/>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9143"/>
                  </a:moveTo>
                  <a:lnTo>
                    <a:pt x="596900" y="295657"/>
                  </a:lnTo>
                  <a:cubicBezTo>
                    <a:pt x="596900" y="301495"/>
                    <a:pt x="594507" y="307079"/>
                    <a:pt x="590279" y="311106"/>
                  </a:cubicBezTo>
                  <a:lnTo>
                    <a:pt x="336821" y="552494"/>
                  </a:lnTo>
                  <a:cubicBezTo>
                    <a:pt x="332571" y="556542"/>
                    <a:pt x="326926" y="558800"/>
                    <a:pt x="321057" y="558800"/>
                  </a:cubicBezTo>
                  <a:lnTo>
                    <a:pt x="9143" y="558800"/>
                  </a:lnTo>
                  <a:cubicBezTo>
                    <a:pt x="4094" y="558800"/>
                    <a:pt x="0" y="554706"/>
                    <a:pt x="0" y="549657"/>
                  </a:cubicBezTo>
                  <a:lnTo>
                    <a:pt x="0" y="258063"/>
                  </a:lnTo>
                  <a:cubicBezTo>
                    <a:pt x="0" y="252226"/>
                    <a:pt x="2401" y="246647"/>
                    <a:pt x="6639" y="242633"/>
                  </a:cubicBezTo>
                  <a:lnTo>
                    <a:pt x="256251" y="6287"/>
                  </a:lnTo>
                  <a:cubicBezTo>
                    <a:pt x="260514" y="2250"/>
                    <a:pt x="266162" y="0"/>
                    <a:pt x="272033" y="0"/>
                  </a:cubicBezTo>
                  <a:lnTo>
                    <a:pt x="587757" y="0"/>
                  </a:lnTo>
                  <a:cubicBezTo>
                    <a:pt x="592806" y="0"/>
                    <a:pt x="596900" y="4094"/>
                    <a:pt x="596900" y="9143"/>
                  </a:cubicBezTo>
                  <a:close/>
                </a:path>
              </a:pathLst>
            </a:custGeom>
            <a:ln w="142875" cap="sq">
              <a:solidFill>
                <a:srgbClr val="FE9710"/>
              </a:solidFill>
              <a:prstDash val="solid"/>
              <a:miter/>
            </a:ln>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0">
            <a:off x="11455920" y="438294"/>
            <a:ext cx="9012694" cy="8437416"/>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0093"/>
                  </a:moveTo>
                  <a:lnTo>
                    <a:pt x="596900" y="294707"/>
                  </a:lnTo>
                  <a:cubicBezTo>
                    <a:pt x="596900" y="301152"/>
                    <a:pt x="594258" y="307316"/>
                    <a:pt x="589591" y="311761"/>
                  </a:cubicBezTo>
                  <a:lnTo>
                    <a:pt x="337509" y="551839"/>
                  </a:lnTo>
                  <a:cubicBezTo>
                    <a:pt x="332817" y="556308"/>
                    <a:pt x="326586" y="558800"/>
                    <a:pt x="320107" y="558800"/>
                  </a:cubicBezTo>
                  <a:lnTo>
                    <a:pt x="10093" y="558800"/>
                  </a:lnTo>
                  <a:cubicBezTo>
                    <a:pt x="7416" y="558800"/>
                    <a:pt x="4849" y="557737"/>
                    <a:pt x="2956" y="555844"/>
                  </a:cubicBezTo>
                  <a:cubicBezTo>
                    <a:pt x="1063" y="553951"/>
                    <a:pt x="0" y="551384"/>
                    <a:pt x="0" y="548707"/>
                  </a:cubicBezTo>
                  <a:lnTo>
                    <a:pt x="0" y="259013"/>
                  </a:lnTo>
                  <a:cubicBezTo>
                    <a:pt x="0" y="252570"/>
                    <a:pt x="2650" y="246410"/>
                    <a:pt x="7329" y="241980"/>
                  </a:cubicBezTo>
                  <a:lnTo>
                    <a:pt x="255561" y="6940"/>
                  </a:lnTo>
                  <a:cubicBezTo>
                    <a:pt x="260267" y="2483"/>
                    <a:pt x="266502" y="0"/>
                    <a:pt x="272983" y="0"/>
                  </a:cubicBezTo>
                  <a:lnTo>
                    <a:pt x="586807" y="0"/>
                  </a:lnTo>
                  <a:cubicBezTo>
                    <a:pt x="589484" y="0"/>
                    <a:pt x="592051" y="1063"/>
                    <a:pt x="593944" y="2956"/>
                  </a:cubicBezTo>
                  <a:cubicBezTo>
                    <a:pt x="595837" y="4849"/>
                    <a:pt x="596900" y="7416"/>
                    <a:pt x="596900" y="10093"/>
                  </a:cubicBezTo>
                  <a:close/>
                </a:path>
              </a:pathLst>
            </a:custGeom>
            <a:solidFill>
              <a:srgbClr val="014AAB"/>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0">
            <a:off x="13028505" y="2747898"/>
            <a:ext cx="4478021" cy="5533888"/>
            <a:chOff x="0" y="0"/>
            <a:chExt cx="1460623" cy="1805022"/>
          </a:xfrm>
        </p:grpSpPr>
        <p:sp>
          <p:nvSpPr>
            <p:cNvPr name="Freeform 15" id="15"/>
            <p:cNvSpPr/>
            <p:nvPr/>
          </p:nvSpPr>
          <p:spPr>
            <a:xfrm flipH="false" flipV="false" rot="0">
              <a:off x="0" y="0"/>
              <a:ext cx="1460627" cy="1805022"/>
            </a:xfrm>
            <a:custGeom>
              <a:avLst/>
              <a:gdLst/>
              <a:ahLst/>
              <a:cxnLst/>
              <a:rect r="r" b="b" t="t" l="l"/>
              <a:pathLst>
                <a:path h="1805022" w="1460627">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2"/>
              <a:stretch>
                <a:fillRect l="0" t="-260" r="0" b="-260"/>
              </a:stretch>
            </a:blipFill>
            <a:ln w="152400" cap="sq">
              <a:solidFill>
                <a:srgbClr val="FFFFFF"/>
              </a:solidFill>
              <a:prstDash val="solid"/>
              <a:miter/>
            </a:ln>
          </p:spPr>
        </p:sp>
      </p:grpSp>
      <p:grpSp>
        <p:nvGrpSpPr>
          <p:cNvPr name="Group 16" id="16"/>
          <p:cNvGrpSpPr/>
          <p:nvPr/>
        </p:nvGrpSpPr>
        <p:grpSpPr>
          <a:xfrm rot="0">
            <a:off x="5561949" y="6750185"/>
            <a:ext cx="6885531" cy="3577552"/>
            <a:chOff x="0" y="0"/>
            <a:chExt cx="1657619" cy="861258"/>
          </a:xfrm>
        </p:grpSpPr>
        <p:sp>
          <p:nvSpPr>
            <p:cNvPr name="Freeform 17" id="17"/>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l="0" t="-762" r="0" b="-762"/>
              </a:stretch>
            </a:blipFill>
            <a:ln w="142875" cap="sq">
              <a:solidFill>
                <a:srgbClr val="FFFFFF"/>
              </a:solidFill>
              <a:prstDash val="solid"/>
              <a:miter/>
            </a:ln>
          </p:spPr>
        </p:sp>
      </p:grpSp>
      <p:grpSp>
        <p:nvGrpSpPr>
          <p:cNvPr name="Group 18" id="18"/>
          <p:cNvGrpSpPr/>
          <p:nvPr/>
        </p:nvGrpSpPr>
        <p:grpSpPr>
          <a:xfrm rot="-5400000">
            <a:off x="694446" y="6758535"/>
            <a:ext cx="4293551" cy="4276852"/>
            <a:chOff x="0" y="0"/>
            <a:chExt cx="560982" cy="558800"/>
          </a:xfrm>
        </p:grpSpPr>
        <p:sp>
          <p:nvSpPr>
            <p:cNvPr name="Freeform 19" id="19"/>
            <p:cNvSpPr/>
            <p:nvPr/>
          </p:nvSpPr>
          <p:spPr>
            <a:xfrm flipH="false" flipV="false" rot="0">
              <a:off x="0" y="0"/>
              <a:ext cx="560982" cy="558800"/>
            </a:xfrm>
            <a:custGeom>
              <a:avLst/>
              <a:gdLst/>
              <a:ahLst/>
              <a:cxnLst/>
              <a:rect r="r" b="b" t="t" l="l"/>
              <a:pathLst>
                <a:path h="558800" w="560982">
                  <a:moveTo>
                    <a:pt x="560982" y="22511"/>
                  </a:moveTo>
                  <a:lnTo>
                    <a:pt x="560982" y="282289"/>
                  </a:lnTo>
                  <a:cubicBezTo>
                    <a:pt x="560982" y="296713"/>
                    <a:pt x="555301" y="310556"/>
                    <a:pt x="545170" y="320823"/>
                  </a:cubicBezTo>
                  <a:lnTo>
                    <a:pt x="326142" y="542777"/>
                  </a:lnTo>
                  <a:cubicBezTo>
                    <a:pt x="316025" y="553029"/>
                    <a:pt x="302223" y="558800"/>
                    <a:pt x="287819" y="558800"/>
                  </a:cubicBezTo>
                  <a:lnTo>
                    <a:pt x="22511" y="558800"/>
                  </a:lnTo>
                  <a:cubicBezTo>
                    <a:pt x="16541" y="558800"/>
                    <a:pt x="10815" y="556428"/>
                    <a:pt x="6593" y="552207"/>
                  </a:cubicBezTo>
                  <a:cubicBezTo>
                    <a:pt x="2372" y="547985"/>
                    <a:pt x="0" y="542259"/>
                    <a:pt x="0" y="536289"/>
                  </a:cubicBezTo>
                  <a:lnTo>
                    <a:pt x="0" y="271431"/>
                  </a:lnTo>
                  <a:cubicBezTo>
                    <a:pt x="0" y="257012"/>
                    <a:pt x="5700" y="243177"/>
                    <a:pt x="15858" y="232943"/>
                  </a:cubicBezTo>
                  <a:lnTo>
                    <a:pt x="231212" y="15977"/>
                  </a:lnTo>
                  <a:cubicBezTo>
                    <a:pt x="241362" y="5751"/>
                    <a:pt x="255174" y="0"/>
                    <a:pt x="269582" y="0"/>
                  </a:cubicBezTo>
                  <a:lnTo>
                    <a:pt x="538471" y="0"/>
                  </a:lnTo>
                  <a:cubicBezTo>
                    <a:pt x="550903" y="0"/>
                    <a:pt x="560982" y="10079"/>
                    <a:pt x="560982" y="22511"/>
                  </a:cubicBezTo>
                  <a:close/>
                </a:path>
              </a:pathLst>
            </a:custGeom>
            <a:solidFill>
              <a:srgbClr val="FE9710"/>
            </a:solidFill>
          </p:spPr>
        </p:sp>
        <p:sp>
          <p:nvSpPr>
            <p:cNvPr name="TextBox 20" id="20"/>
            <p:cNvSpPr txBox="true"/>
            <p:nvPr/>
          </p:nvSpPr>
          <p:spPr>
            <a:xfrm>
              <a:off x="95486" y="76200"/>
              <a:ext cx="370009" cy="350520"/>
            </a:xfrm>
            <a:prstGeom prst="rect">
              <a:avLst/>
            </a:prstGeom>
          </p:spPr>
          <p:txBody>
            <a:bodyPr anchor="ctr" rtlCol="false" tIns="50800" lIns="50800" bIns="50800" rIns="50800"/>
            <a:lstStyle/>
            <a:p>
              <a:pPr algn="ctr" marL="0" indent="0" lvl="0">
                <a:lnSpc>
                  <a:spcPts val="3220"/>
                </a:lnSpc>
              </a:pPr>
            </a:p>
          </p:txBody>
        </p:sp>
      </p:grpSp>
      <p:grpSp>
        <p:nvGrpSpPr>
          <p:cNvPr name="Group 21" id="21"/>
          <p:cNvGrpSpPr/>
          <p:nvPr/>
        </p:nvGrpSpPr>
        <p:grpSpPr>
          <a:xfrm rot="-5400000">
            <a:off x="9035539" y="-3630374"/>
            <a:ext cx="4568455" cy="4276852"/>
            <a:chOff x="0" y="0"/>
            <a:chExt cx="596900" cy="558800"/>
          </a:xfrm>
        </p:grpSpPr>
        <p:sp>
          <p:nvSpPr>
            <p:cNvPr name="Freeform 22" id="22"/>
            <p:cNvSpPr/>
            <p:nvPr/>
          </p:nvSpPr>
          <p:spPr>
            <a:xfrm flipH="false" flipV="false" rot="0">
              <a:off x="0" y="0"/>
              <a:ext cx="596900" cy="558800"/>
            </a:xfrm>
            <a:custGeom>
              <a:avLst/>
              <a:gdLst/>
              <a:ahLst/>
              <a:cxnLst/>
              <a:rect r="r" b="b" t="t" l="l"/>
              <a:pathLst>
                <a:path h="558800" w="596900">
                  <a:moveTo>
                    <a:pt x="596900" y="21157"/>
                  </a:moveTo>
                  <a:lnTo>
                    <a:pt x="596900" y="283643"/>
                  </a:lnTo>
                  <a:cubicBezTo>
                    <a:pt x="596900" y="297154"/>
                    <a:pt x="591363" y="310073"/>
                    <a:pt x="581580" y="319391"/>
                  </a:cubicBezTo>
                  <a:lnTo>
                    <a:pt x="345520" y="544209"/>
                  </a:lnTo>
                  <a:cubicBezTo>
                    <a:pt x="335686" y="553576"/>
                    <a:pt x="322625" y="558800"/>
                    <a:pt x="309043" y="558800"/>
                  </a:cubicBezTo>
                  <a:lnTo>
                    <a:pt x="21157" y="558800"/>
                  </a:lnTo>
                  <a:cubicBezTo>
                    <a:pt x="9472" y="558800"/>
                    <a:pt x="0" y="549328"/>
                    <a:pt x="0" y="537643"/>
                  </a:cubicBezTo>
                  <a:lnTo>
                    <a:pt x="0" y="270077"/>
                  </a:lnTo>
                  <a:cubicBezTo>
                    <a:pt x="0" y="256571"/>
                    <a:pt x="5556" y="243660"/>
                    <a:pt x="15363" y="234374"/>
                  </a:cubicBezTo>
                  <a:lnTo>
                    <a:pt x="247527" y="14546"/>
                  </a:lnTo>
                  <a:cubicBezTo>
                    <a:pt x="257392" y="5206"/>
                    <a:pt x="270461" y="0"/>
                    <a:pt x="284047" y="0"/>
                  </a:cubicBezTo>
                  <a:lnTo>
                    <a:pt x="575743" y="0"/>
                  </a:lnTo>
                  <a:cubicBezTo>
                    <a:pt x="587428" y="0"/>
                    <a:pt x="596900" y="9472"/>
                    <a:pt x="596900" y="21157"/>
                  </a:cubicBezTo>
                  <a:close/>
                </a:path>
              </a:pathLst>
            </a:custGeom>
            <a:solidFill>
              <a:srgbClr val="014AAB"/>
            </a:solidFill>
          </p:spPr>
        </p:sp>
        <p:sp>
          <p:nvSpPr>
            <p:cNvPr name="TextBox 23" id="2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4" id="24"/>
          <p:cNvGrpSpPr/>
          <p:nvPr/>
        </p:nvGrpSpPr>
        <p:grpSpPr>
          <a:xfrm rot="0">
            <a:off x="-893641" y="6493010"/>
            <a:ext cx="6885531" cy="3577552"/>
            <a:chOff x="0" y="0"/>
            <a:chExt cx="1657619" cy="861258"/>
          </a:xfrm>
        </p:grpSpPr>
        <p:sp>
          <p:nvSpPr>
            <p:cNvPr name="Freeform 25" id="25"/>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4"/>
              <a:stretch>
                <a:fillRect l="0" t="-762" r="0" b="-762"/>
              </a:stretch>
            </a:blipFill>
            <a:ln w="142875" cap="sq">
              <a:solidFill>
                <a:srgbClr val="FFFFFF"/>
              </a:solidFill>
              <a:prstDash val="solid"/>
              <a:miter/>
            </a:ln>
          </p:spPr>
        </p:sp>
      </p:grpSp>
      <p:sp>
        <p:nvSpPr>
          <p:cNvPr name="Freeform 26" id="26"/>
          <p:cNvSpPr/>
          <p:nvPr/>
        </p:nvSpPr>
        <p:spPr>
          <a:xfrm flipH="false" flipV="true" rot="0">
            <a:off x="16638425" y="7798931"/>
            <a:ext cx="2177309" cy="2153557"/>
          </a:xfrm>
          <a:custGeom>
            <a:avLst/>
            <a:gdLst/>
            <a:ahLst/>
            <a:cxnLst/>
            <a:rect r="r" b="b" t="t" l="l"/>
            <a:pathLst>
              <a:path h="2153557" w="2177309">
                <a:moveTo>
                  <a:pt x="0" y="2153557"/>
                </a:moveTo>
                <a:lnTo>
                  <a:pt x="2177309" y="2153557"/>
                </a:lnTo>
                <a:lnTo>
                  <a:pt x="2177309" y="0"/>
                </a:lnTo>
                <a:lnTo>
                  <a:pt x="0" y="0"/>
                </a:lnTo>
                <a:lnTo>
                  <a:pt x="0" y="215355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7" id="27"/>
          <p:cNvSpPr txBox="true"/>
          <p:nvPr/>
        </p:nvSpPr>
        <p:spPr>
          <a:xfrm rot="0">
            <a:off x="702796" y="404192"/>
            <a:ext cx="9718307" cy="999991"/>
          </a:xfrm>
          <a:prstGeom prst="rect">
            <a:avLst/>
          </a:prstGeom>
        </p:spPr>
        <p:txBody>
          <a:bodyPr anchor="t" rtlCol="false" tIns="0" lIns="0" bIns="0" rIns="0">
            <a:spAutoFit/>
          </a:bodyPr>
          <a:lstStyle/>
          <a:p>
            <a:pPr algn="l" marL="0" indent="0" lvl="0">
              <a:lnSpc>
                <a:spcPts val="7494"/>
              </a:lnSpc>
            </a:pPr>
            <a:r>
              <a:rPr lang="en-US" b="true" sz="7494" spc="149">
                <a:solidFill>
                  <a:srgbClr val="011A3C"/>
                </a:solidFill>
                <a:latin typeface="Gotham Bold"/>
                <a:ea typeface="Gotham Bold"/>
                <a:cs typeface="Gotham Bold"/>
                <a:sym typeface="Gotham Bold"/>
              </a:rPr>
              <a:t>Expected Outcome</a:t>
            </a:r>
          </a:p>
        </p:txBody>
      </p:sp>
      <p:sp>
        <p:nvSpPr>
          <p:cNvPr name="TextBox 28" id="28"/>
          <p:cNvSpPr txBox="true"/>
          <p:nvPr/>
        </p:nvSpPr>
        <p:spPr>
          <a:xfrm rot="0">
            <a:off x="1028700" y="1625099"/>
            <a:ext cx="9560324" cy="2213611"/>
          </a:xfrm>
          <a:prstGeom prst="rect">
            <a:avLst/>
          </a:prstGeom>
        </p:spPr>
        <p:txBody>
          <a:bodyPr anchor="t" rtlCol="false" tIns="0" lIns="0" bIns="0" rIns="0">
            <a:spAutoFit/>
          </a:bodyPr>
          <a:lstStyle/>
          <a:p>
            <a:pPr algn="l" marL="0" indent="0" lvl="0">
              <a:lnSpc>
                <a:spcPts val="2939"/>
              </a:lnSpc>
            </a:pPr>
            <a:r>
              <a:rPr lang="en-US" sz="2099">
                <a:solidFill>
                  <a:srgbClr val="011A3C"/>
                </a:solidFill>
                <a:latin typeface="Nunito"/>
                <a:ea typeface="Nunito"/>
                <a:cs typeface="Nunito"/>
                <a:sym typeface="Nunito"/>
              </a:rPr>
              <a:t>✔  Faster Search — Inverted index enables sub-linear query resolution; only relevant document lists are scanned instead of the full corpus.</a:t>
            </a:r>
          </a:p>
          <a:p>
            <a:pPr algn="l" marL="0" indent="0" lvl="0">
              <a:lnSpc>
                <a:spcPts val="2939"/>
              </a:lnSpc>
            </a:pPr>
            <a:r>
              <a:rPr lang="en-US" sz="2099">
                <a:solidFill>
                  <a:srgbClr val="011A3C"/>
                </a:solidFill>
                <a:latin typeface="Nunito"/>
                <a:ea typeface="Nunito"/>
                <a:cs typeface="Nunito"/>
                <a:sym typeface="Nunito"/>
              </a:rPr>
              <a:t>✔  Organized Index — A structured HashMap (keyword → document list) provides a clean, queryable knowledge store for any small/medium corpus.</a:t>
            </a:r>
          </a:p>
          <a:p>
            <a:pPr algn="l" marL="0" indent="0" lvl="0">
              <a:lnSpc>
                <a:spcPts val="2939"/>
              </a:lnSpc>
            </a:pPr>
            <a:r>
              <a:rPr lang="en-US" sz="2099">
                <a:solidFill>
                  <a:srgbClr val="011A3C"/>
                </a:solidFill>
                <a:latin typeface="Nunito"/>
                <a:ea typeface="Nunito"/>
                <a:cs typeface="Nunito"/>
                <a:sym typeface="Nunito"/>
              </a:rPr>
              <a:t>✔  Reduced Unnecessary Scanning — Stop-word removal and keyword filtering shrink index size, lowering both memory usage and lookup time.</a:t>
            </a:r>
          </a:p>
        </p:txBody>
      </p:sp>
      <p:sp>
        <p:nvSpPr>
          <p:cNvPr name="TextBox 29" id="29"/>
          <p:cNvSpPr txBox="true"/>
          <p:nvPr/>
        </p:nvSpPr>
        <p:spPr>
          <a:xfrm rot="0">
            <a:off x="1028700" y="4169545"/>
            <a:ext cx="9560324" cy="2585086"/>
          </a:xfrm>
          <a:prstGeom prst="rect">
            <a:avLst/>
          </a:prstGeom>
        </p:spPr>
        <p:txBody>
          <a:bodyPr anchor="t" rtlCol="false" tIns="0" lIns="0" bIns="0" rIns="0">
            <a:spAutoFit/>
          </a:bodyPr>
          <a:lstStyle/>
          <a:p>
            <a:pPr algn="l" marL="0" indent="0" lvl="0">
              <a:lnSpc>
                <a:spcPts val="2939"/>
              </a:lnSpc>
            </a:pPr>
            <a:r>
              <a:rPr lang="en-US" sz="2099">
                <a:solidFill>
                  <a:srgbClr val="011A3C"/>
                </a:solidFill>
                <a:latin typeface="Nunito"/>
                <a:ea typeface="Nunito"/>
                <a:cs typeface="Nunito"/>
                <a:sym typeface="Nunito"/>
              </a:rPr>
              <a:t>✔  Practical DSA Application — HashMap, HashSet, ArrayList, and optional Trie demonstrate core data-structure concepts in a real retrieval context.</a:t>
            </a:r>
          </a:p>
          <a:p>
            <a:pPr algn="l" marL="0" indent="0" lvl="0">
              <a:lnSpc>
                <a:spcPts val="2939"/>
              </a:lnSpc>
            </a:pPr>
            <a:r>
              <a:rPr lang="en-US" sz="2099">
                <a:solidFill>
                  <a:srgbClr val="011A3C"/>
                </a:solidFill>
                <a:latin typeface="Nunito"/>
                <a:ea typeface="Nunito"/>
                <a:cs typeface="Nunito"/>
                <a:sym typeface="Nunito"/>
              </a:rPr>
              <a:t>✔  Java Prototype — A fully functional, readable Java implementation validates the pipeline end-to-end and serves as a foundation for future extensions.</a:t>
            </a:r>
          </a:p>
          <a:p>
            <a:pPr algn="l" marL="0" indent="0" lvl="0">
              <a:lnSpc>
                <a:spcPts val="2939"/>
              </a:lnSpc>
            </a:pPr>
            <a:r>
              <a:rPr lang="en-US" sz="2099">
                <a:solidFill>
                  <a:srgbClr val="011A3C"/>
                </a:solidFill>
                <a:latin typeface="Nunito"/>
                <a:ea typeface="Nunito"/>
                <a:cs typeface="Nunito"/>
                <a:sym typeface="Nunito"/>
              </a:rPr>
              <a:t>Speaker note: Walk through each bullet with a one-sentence example — e.g., "Without an index, searching 10,000 docs takes O(n); with our inverted index it takes O(1) for the lookup step."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30768" y="4646344"/>
            <a:ext cx="5455035" cy="5106842"/>
            <a:chOff x="0" y="0"/>
            <a:chExt cx="596900" cy="558800"/>
          </a:xfrm>
        </p:grpSpPr>
        <p:sp>
          <p:nvSpPr>
            <p:cNvPr name="Freeform 3" id="3"/>
            <p:cNvSpPr/>
            <p:nvPr/>
          </p:nvSpPr>
          <p:spPr>
            <a:xfrm flipH="false" flipV="false" rot="0">
              <a:off x="0" y="0"/>
              <a:ext cx="596900" cy="558800"/>
            </a:xfrm>
            <a:custGeom>
              <a:avLst/>
              <a:gdLst/>
              <a:ahLst/>
              <a:cxnLst/>
              <a:rect r="r" b="b" t="t" l="l"/>
              <a:pathLst>
                <a:path h="558800" w="596900">
                  <a:moveTo>
                    <a:pt x="596900" y="16676"/>
                  </a:moveTo>
                  <a:lnTo>
                    <a:pt x="596900" y="288124"/>
                  </a:lnTo>
                  <a:cubicBezTo>
                    <a:pt x="596900" y="298773"/>
                    <a:pt x="592536" y="308957"/>
                    <a:pt x="584824" y="316301"/>
                  </a:cubicBezTo>
                  <a:lnTo>
                    <a:pt x="342276" y="547299"/>
                  </a:lnTo>
                  <a:cubicBezTo>
                    <a:pt x="334524" y="554682"/>
                    <a:pt x="324229" y="558800"/>
                    <a:pt x="313524" y="558800"/>
                  </a:cubicBezTo>
                  <a:lnTo>
                    <a:pt x="16676" y="558800"/>
                  </a:lnTo>
                  <a:cubicBezTo>
                    <a:pt x="12253" y="558800"/>
                    <a:pt x="8012" y="557043"/>
                    <a:pt x="4884" y="553916"/>
                  </a:cubicBezTo>
                  <a:cubicBezTo>
                    <a:pt x="1757" y="550788"/>
                    <a:pt x="0" y="546547"/>
                    <a:pt x="0" y="542124"/>
                  </a:cubicBezTo>
                  <a:lnTo>
                    <a:pt x="0" y="265596"/>
                  </a:lnTo>
                  <a:cubicBezTo>
                    <a:pt x="0" y="254950"/>
                    <a:pt x="4379" y="244774"/>
                    <a:pt x="12109" y="237454"/>
                  </a:cubicBezTo>
                  <a:lnTo>
                    <a:pt x="250781" y="11466"/>
                  </a:lnTo>
                  <a:cubicBezTo>
                    <a:pt x="258557" y="4103"/>
                    <a:pt x="268858" y="0"/>
                    <a:pt x="279566" y="0"/>
                  </a:cubicBezTo>
                  <a:lnTo>
                    <a:pt x="580224" y="0"/>
                  </a:lnTo>
                  <a:cubicBezTo>
                    <a:pt x="584647" y="0"/>
                    <a:pt x="588888" y="1757"/>
                    <a:pt x="592016" y="4884"/>
                  </a:cubicBezTo>
                  <a:cubicBezTo>
                    <a:pt x="595143" y="8012"/>
                    <a:pt x="596900" y="12253"/>
                    <a:pt x="596900" y="16676"/>
                  </a:cubicBezTo>
                  <a:close/>
                </a:path>
              </a:pathLst>
            </a:custGeom>
            <a:solidFill>
              <a:srgbClr val="014AAB"/>
            </a:solidFill>
          </p:spPr>
        </p:sp>
        <p:sp>
          <p:nvSpPr>
            <p:cNvPr name="TextBox 4" id="4"/>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5" id="5"/>
          <p:cNvGrpSpPr/>
          <p:nvPr/>
        </p:nvGrpSpPr>
        <p:grpSpPr>
          <a:xfrm rot="0">
            <a:off x="14626760" y="5534027"/>
            <a:ext cx="2765738" cy="2589201"/>
            <a:chOff x="0" y="0"/>
            <a:chExt cx="596900" cy="558800"/>
          </a:xfrm>
        </p:grpSpPr>
        <p:sp>
          <p:nvSpPr>
            <p:cNvPr name="Freeform 6" id="6"/>
            <p:cNvSpPr/>
            <p:nvPr/>
          </p:nvSpPr>
          <p:spPr>
            <a:xfrm flipH="false" flipV="false" rot="0">
              <a:off x="0" y="0"/>
              <a:ext cx="596900" cy="558800"/>
            </a:xfrm>
            <a:custGeom>
              <a:avLst/>
              <a:gdLst/>
              <a:ahLst/>
              <a:cxnLst/>
              <a:rect r="r" b="b" t="t" l="l"/>
              <a:pathLst>
                <a:path h="558800" w="596900">
                  <a:moveTo>
                    <a:pt x="596900" y="32891"/>
                  </a:moveTo>
                  <a:lnTo>
                    <a:pt x="596900" y="271909"/>
                  </a:lnTo>
                  <a:cubicBezTo>
                    <a:pt x="596900" y="292913"/>
                    <a:pt x="588292" y="312998"/>
                    <a:pt x="573082" y="327483"/>
                  </a:cubicBezTo>
                  <a:lnTo>
                    <a:pt x="354018" y="536117"/>
                  </a:lnTo>
                  <a:cubicBezTo>
                    <a:pt x="338728" y="550678"/>
                    <a:pt x="318423" y="558800"/>
                    <a:pt x="297309" y="558800"/>
                  </a:cubicBezTo>
                  <a:lnTo>
                    <a:pt x="32891" y="558800"/>
                  </a:lnTo>
                  <a:cubicBezTo>
                    <a:pt x="14726" y="558800"/>
                    <a:pt x="0" y="544074"/>
                    <a:pt x="0" y="525909"/>
                  </a:cubicBezTo>
                  <a:lnTo>
                    <a:pt x="0" y="281811"/>
                  </a:lnTo>
                  <a:cubicBezTo>
                    <a:pt x="0" y="260814"/>
                    <a:pt x="8637" y="240742"/>
                    <a:pt x="23883" y="226306"/>
                  </a:cubicBezTo>
                  <a:lnTo>
                    <a:pt x="239007" y="22614"/>
                  </a:lnTo>
                  <a:cubicBezTo>
                    <a:pt x="254343" y="8093"/>
                    <a:pt x="274661" y="0"/>
                    <a:pt x="295781" y="0"/>
                  </a:cubicBezTo>
                  <a:lnTo>
                    <a:pt x="564009" y="0"/>
                  </a:lnTo>
                  <a:cubicBezTo>
                    <a:pt x="582174" y="0"/>
                    <a:pt x="596900" y="14726"/>
                    <a:pt x="596900" y="32891"/>
                  </a:cubicBezTo>
                  <a:close/>
                </a:path>
              </a:pathLst>
            </a:custGeom>
            <a:solidFill>
              <a:srgbClr val="FFFFFF"/>
            </a:solidFill>
          </p:spPr>
        </p:sp>
        <p:sp>
          <p:nvSpPr>
            <p:cNvPr name="TextBox 7" id="7"/>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8" id="8"/>
          <p:cNvGrpSpPr/>
          <p:nvPr/>
        </p:nvGrpSpPr>
        <p:grpSpPr>
          <a:xfrm rot="0">
            <a:off x="4225979" y="8542449"/>
            <a:ext cx="4218545" cy="3949276"/>
            <a:chOff x="0" y="0"/>
            <a:chExt cx="596900" cy="558800"/>
          </a:xfrm>
        </p:grpSpPr>
        <p:sp>
          <p:nvSpPr>
            <p:cNvPr name="Freeform 9" id="9"/>
            <p:cNvSpPr/>
            <p:nvPr/>
          </p:nvSpPr>
          <p:spPr>
            <a:xfrm flipH="false" flipV="false" rot="0">
              <a:off x="0" y="0"/>
              <a:ext cx="596900" cy="558800"/>
            </a:xfrm>
            <a:custGeom>
              <a:avLst/>
              <a:gdLst/>
              <a:ahLst/>
              <a:cxnLst/>
              <a:rect r="r" b="b" t="t" l="l"/>
              <a:pathLst>
                <a:path h="558800" w="596900">
                  <a:moveTo>
                    <a:pt x="596900" y="21564"/>
                  </a:moveTo>
                  <a:lnTo>
                    <a:pt x="596900" y="283236"/>
                  </a:lnTo>
                  <a:cubicBezTo>
                    <a:pt x="596900" y="297006"/>
                    <a:pt x="591256" y="310175"/>
                    <a:pt x="581285" y="319672"/>
                  </a:cubicBezTo>
                  <a:lnTo>
                    <a:pt x="345815" y="543928"/>
                  </a:lnTo>
                  <a:cubicBezTo>
                    <a:pt x="335791" y="553475"/>
                    <a:pt x="322479" y="558800"/>
                    <a:pt x="308636" y="558800"/>
                  </a:cubicBezTo>
                  <a:lnTo>
                    <a:pt x="21564" y="558800"/>
                  </a:lnTo>
                  <a:cubicBezTo>
                    <a:pt x="9654" y="558800"/>
                    <a:pt x="0" y="549146"/>
                    <a:pt x="0" y="537236"/>
                  </a:cubicBezTo>
                  <a:lnTo>
                    <a:pt x="0" y="270484"/>
                  </a:lnTo>
                  <a:cubicBezTo>
                    <a:pt x="0" y="256718"/>
                    <a:pt x="5662" y="243558"/>
                    <a:pt x="15658" y="234094"/>
                  </a:cubicBezTo>
                  <a:lnTo>
                    <a:pt x="247232" y="14826"/>
                  </a:lnTo>
                  <a:cubicBezTo>
                    <a:pt x="257286" y="5306"/>
                    <a:pt x="270607" y="0"/>
                    <a:pt x="284454" y="0"/>
                  </a:cubicBezTo>
                  <a:lnTo>
                    <a:pt x="575336" y="0"/>
                  </a:lnTo>
                  <a:cubicBezTo>
                    <a:pt x="587246" y="0"/>
                    <a:pt x="596900" y="9654"/>
                    <a:pt x="596900" y="21564"/>
                  </a:cubicBezTo>
                  <a:close/>
                </a:path>
              </a:pathLst>
            </a:custGeom>
            <a:solidFill>
              <a:srgbClr val="014AAB">
                <a:alpha val="5882"/>
              </a:srgbClr>
            </a:solidFill>
          </p:spPr>
        </p:sp>
        <p:sp>
          <p:nvSpPr>
            <p:cNvPr name="TextBox 10" id="10"/>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1" id="11"/>
          <p:cNvGrpSpPr/>
          <p:nvPr/>
        </p:nvGrpSpPr>
        <p:grpSpPr>
          <a:xfrm rot="5400000">
            <a:off x="-536217" y="-2958766"/>
            <a:ext cx="6321001" cy="5917533"/>
            <a:chOff x="0" y="0"/>
            <a:chExt cx="596900" cy="558800"/>
          </a:xfrm>
        </p:grpSpPr>
        <p:sp>
          <p:nvSpPr>
            <p:cNvPr name="Freeform 12" id="12"/>
            <p:cNvSpPr/>
            <p:nvPr/>
          </p:nvSpPr>
          <p:spPr>
            <a:xfrm flipH="false" flipV="false" rot="0">
              <a:off x="0" y="0"/>
              <a:ext cx="596900" cy="558800"/>
            </a:xfrm>
            <a:custGeom>
              <a:avLst/>
              <a:gdLst/>
              <a:ahLst/>
              <a:cxnLst/>
              <a:rect r="r" b="b" t="t" l="l"/>
              <a:pathLst>
                <a:path h="558800" w="596900">
                  <a:moveTo>
                    <a:pt x="596900" y="14391"/>
                  </a:moveTo>
                  <a:lnTo>
                    <a:pt x="596900" y="290409"/>
                  </a:lnTo>
                  <a:cubicBezTo>
                    <a:pt x="596900" y="299599"/>
                    <a:pt x="593134" y="308387"/>
                    <a:pt x="586479" y="314725"/>
                  </a:cubicBezTo>
                  <a:lnTo>
                    <a:pt x="340621" y="548875"/>
                  </a:lnTo>
                  <a:cubicBezTo>
                    <a:pt x="333931" y="555246"/>
                    <a:pt x="325047" y="558800"/>
                    <a:pt x="315809" y="558800"/>
                  </a:cubicBezTo>
                  <a:lnTo>
                    <a:pt x="14391" y="558800"/>
                  </a:lnTo>
                  <a:cubicBezTo>
                    <a:pt x="10575" y="558800"/>
                    <a:pt x="6914" y="557284"/>
                    <a:pt x="4215" y="554585"/>
                  </a:cubicBezTo>
                  <a:cubicBezTo>
                    <a:pt x="1516" y="551886"/>
                    <a:pt x="0" y="548226"/>
                    <a:pt x="0" y="544409"/>
                  </a:cubicBezTo>
                  <a:lnTo>
                    <a:pt x="0" y="263311"/>
                  </a:lnTo>
                  <a:cubicBezTo>
                    <a:pt x="0" y="254124"/>
                    <a:pt x="3779" y="245342"/>
                    <a:pt x="10450" y="239025"/>
                  </a:cubicBezTo>
                  <a:lnTo>
                    <a:pt x="252440" y="9895"/>
                  </a:lnTo>
                  <a:cubicBezTo>
                    <a:pt x="259150" y="3541"/>
                    <a:pt x="268040" y="0"/>
                    <a:pt x="277281" y="0"/>
                  </a:cubicBezTo>
                  <a:lnTo>
                    <a:pt x="582509" y="0"/>
                  </a:lnTo>
                  <a:cubicBezTo>
                    <a:pt x="586326" y="0"/>
                    <a:pt x="589986" y="1516"/>
                    <a:pt x="592685" y="4215"/>
                  </a:cubicBezTo>
                  <a:cubicBezTo>
                    <a:pt x="595384" y="6914"/>
                    <a:pt x="596900" y="10575"/>
                    <a:pt x="596900" y="14391"/>
                  </a:cubicBezTo>
                  <a:close/>
                </a:path>
              </a:pathLst>
            </a:custGeom>
            <a:solidFill>
              <a:srgbClr val="014AAB">
                <a:alpha val="5882"/>
              </a:srgbClr>
            </a:solidFill>
          </p:spPr>
        </p:sp>
        <p:sp>
          <p:nvSpPr>
            <p:cNvPr name="TextBox 13" id="13"/>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4" id="14"/>
          <p:cNvGrpSpPr/>
          <p:nvPr/>
        </p:nvGrpSpPr>
        <p:grpSpPr>
          <a:xfrm rot="-10800000">
            <a:off x="13810359" y="-3147653"/>
            <a:ext cx="4531224" cy="4241997"/>
            <a:chOff x="0" y="0"/>
            <a:chExt cx="596900" cy="558800"/>
          </a:xfrm>
        </p:grpSpPr>
        <p:sp>
          <p:nvSpPr>
            <p:cNvPr name="Freeform 15" id="15"/>
            <p:cNvSpPr/>
            <p:nvPr/>
          </p:nvSpPr>
          <p:spPr>
            <a:xfrm flipH="false" flipV="false" rot="0">
              <a:off x="0" y="0"/>
              <a:ext cx="596900" cy="558800"/>
            </a:xfrm>
            <a:custGeom>
              <a:avLst/>
              <a:gdLst/>
              <a:ahLst/>
              <a:cxnLst/>
              <a:rect r="r" b="b" t="t" l="l"/>
              <a:pathLst>
                <a:path h="558800" w="596900">
                  <a:moveTo>
                    <a:pt x="596900" y="20076"/>
                  </a:moveTo>
                  <a:lnTo>
                    <a:pt x="596900" y="284724"/>
                  </a:lnTo>
                  <a:cubicBezTo>
                    <a:pt x="596900" y="297544"/>
                    <a:pt x="591646" y="309804"/>
                    <a:pt x="582362" y="318645"/>
                  </a:cubicBezTo>
                  <a:lnTo>
                    <a:pt x="344738" y="544955"/>
                  </a:lnTo>
                  <a:cubicBezTo>
                    <a:pt x="335405" y="553843"/>
                    <a:pt x="323012" y="558800"/>
                    <a:pt x="310124" y="558800"/>
                  </a:cubicBezTo>
                  <a:lnTo>
                    <a:pt x="20076" y="558800"/>
                  </a:lnTo>
                  <a:cubicBezTo>
                    <a:pt x="8988" y="558800"/>
                    <a:pt x="0" y="549812"/>
                    <a:pt x="0" y="538724"/>
                  </a:cubicBezTo>
                  <a:lnTo>
                    <a:pt x="0" y="268996"/>
                  </a:lnTo>
                  <a:cubicBezTo>
                    <a:pt x="0" y="256180"/>
                    <a:pt x="5272" y="243928"/>
                    <a:pt x="14578" y="235117"/>
                  </a:cubicBezTo>
                  <a:lnTo>
                    <a:pt x="248312" y="13803"/>
                  </a:lnTo>
                  <a:cubicBezTo>
                    <a:pt x="257673" y="4940"/>
                    <a:pt x="270074" y="0"/>
                    <a:pt x="282966" y="0"/>
                  </a:cubicBezTo>
                  <a:lnTo>
                    <a:pt x="576824" y="0"/>
                  </a:lnTo>
                  <a:cubicBezTo>
                    <a:pt x="587912" y="0"/>
                    <a:pt x="596900" y="8988"/>
                    <a:pt x="596900" y="20076"/>
                  </a:cubicBezTo>
                  <a:close/>
                </a:path>
              </a:pathLst>
            </a:custGeom>
            <a:solidFill>
              <a:srgbClr val="014AAB">
                <a:alpha val="5882"/>
              </a:srgbClr>
            </a:solidFill>
          </p:spPr>
        </p:sp>
        <p:sp>
          <p:nvSpPr>
            <p:cNvPr name="TextBox 16" id="16"/>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17" id="17"/>
          <p:cNvGrpSpPr/>
          <p:nvPr/>
        </p:nvGrpSpPr>
        <p:grpSpPr>
          <a:xfrm rot="0">
            <a:off x="9634197" y="543858"/>
            <a:ext cx="3762996" cy="3522804"/>
            <a:chOff x="0" y="0"/>
            <a:chExt cx="596900" cy="558800"/>
          </a:xfrm>
        </p:grpSpPr>
        <p:sp>
          <p:nvSpPr>
            <p:cNvPr name="Freeform 18" id="18"/>
            <p:cNvSpPr/>
            <p:nvPr/>
          </p:nvSpPr>
          <p:spPr>
            <a:xfrm flipH="false" flipV="false" rot="0">
              <a:off x="0" y="0"/>
              <a:ext cx="596900" cy="558800"/>
            </a:xfrm>
            <a:custGeom>
              <a:avLst/>
              <a:gdLst/>
              <a:ahLst/>
              <a:cxnLst/>
              <a:rect r="r" b="b" t="t" l="l"/>
              <a:pathLst>
                <a:path h="558800" w="596900">
                  <a:moveTo>
                    <a:pt x="596900" y="24174"/>
                  </a:moveTo>
                  <a:lnTo>
                    <a:pt x="596900" y="280626"/>
                  </a:lnTo>
                  <a:cubicBezTo>
                    <a:pt x="596900" y="296063"/>
                    <a:pt x="590573" y="310826"/>
                    <a:pt x="579395" y="321472"/>
                  </a:cubicBezTo>
                  <a:lnTo>
                    <a:pt x="347705" y="542128"/>
                  </a:lnTo>
                  <a:cubicBezTo>
                    <a:pt x="336468" y="552831"/>
                    <a:pt x="321544" y="558800"/>
                    <a:pt x="306026" y="558800"/>
                  </a:cubicBezTo>
                  <a:lnTo>
                    <a:pt x="24174" y="558800"/>
                  </a:lnTo>
                  <a:cubicBezTo>
                    <a:pt x="17763" y="558800"/>
                    <a:pt x="11614" y="556253"/>
                    <a:pt x="7080" y="551720"/>
                  </a:cubicBezTo>
                  <a:cubicBezTo>
                    <a:pt x="2547" y="547186"/>
                    <a:pt x="0" y="541037"/>
                    <a:pt x="0" y="534626"/>
                  </a:cubicBezTo>
                  <a:lnTo>
                    <a:pt x="0" y="273094"/>
                  </a:lnTo>
                  <a:cubicBezTo>
                    <a:pt x="0" y="257662"/>
                    <a:pt x="6348" y="242909"/>
                    <a:pt x="17554" y="232299"/>
                  </a:cubicBezTo>
                  <a:lnTo>
                    <a:pt x="245336" y="16621"/>
                  </a:lnTo>
                  <a:cubicBezTo>
                    <a:pt x="256608" y="5948"/>
                    <a:pt x="271541" y="0"/>
                    <a:pt x="287064" y="0"/>
                  </a:cubicBezTo>
                  <a:lnTo>
                    <a:pt x="572726" y="0"/>
                  </a:lnTo>
                  <a:cubicBezTo>
                    <a:pt x="579137" y="0"/>
                    <a:pt x="585286" y="2547"/>
                    <a:pt x="589820" y="7080"/>
                  </a:cubicBezTo>
                  <a:cubicBezTo>
                    <a:pt x="594353" y="11614"/>
                    <a:pt x="596900" y="17763"/>
                    <a:pt x="596900" y="24174"/>
                  </a:cubicBezTo>
                  <a:close/>
                </a:path>
              </a:pathLst>
            </a:custGeom>
            <a:solidFill>
              <a:srgbClr val="FE9710"/>
            </a:solidFill>
          </p:spPr>
        </p:sp>
        <p:sp>
          <p:nvSpPr>
            <p:cNvPr name="TextBox 19" id="19"/>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0" id="20"/>
          <p:cNvGrpSpPr/>
          <p:nvPr/>
        </p:nvGrpSpPr>
        <p:grpSpPr>
          <a:xfrm rot="0">
            <a:off x="15147937" y="1323502"/>
            <a:ext cx="2737867" cy="2563109"/>
            <a:chOff x="0" y="0"/>
            <a:chExt cx="596900" cy="558800"/>
          </a:xfrm>
        </p:grpSpPr>
        <p:sp>
          <p:nvSpPr>
            <p:cNvPr name="Freeform 21" id="21"/>
            <p:cNvSpPr/>
            <p:nvPr/>
          </p:nvSpPr>
          <p:spPr>
            <a:xfrm flipH="false" flipV="false" rot="0">
              <a:off x="0" y="0"/>
              <a:ext cx="596900" cy="558800"/>
            </a:xfrm>
            <a:custGeom>
              <a:avLst/>
              <a:gdLst/>
              <a:ahLst/>
              <a:cxnLst/>
              <a:rect r="r" b="b" t="t" l="l"/>
              <a:pathLst>
                <a:path h="558800" w="596900">
                  <a:moveTo>
                    <a:pt x="596900" y="33226"/>
                  </a:moveTo>
                  <a:lnTo>
                    <a:pt x="596900" y="271574"/>
                  </a:lnTo>
                  <a:cubicBezTo>
                    <a:pt x="596900" y="292792"/>
                    <a:pt x="588204" y="313082"/>
                    <a:pt x="572840" y="327714"/>
                  </a:cubicBezTo>
                  <a:lnTo>
                    <a:pt x="354260" y="535886"/>
                  </a:lnTo>
                  <a:cubicBezTo>
                    <a:pt x="338815" y="550595"/>
                    <a:pt x="318303" y="558800"/>
                    <a:pt x="296974" y="558800"/>
                  </a:cubicBezTo>
                  <a:lnTo>
                    <a:pt x="33226" y="558800"/>
                  </a:lnTo>
                  <a:cubicBezTo>
                    <a:pt x="14876" y="558800"/>
                    <a:pt x="0" y="543924"/>
                    <a:pt x="0" y="525574"/>
                  </a:cubicBezTo>
                  <a:lnTo>
                    <a:pt x="0" y="282146"/>
                  </a:lnTo>
                  <a:cubicBezTo>
                    <a:pt x="0" y="260935"/>
                    <a:pt x="8725" y="240659"/>
                    <a:pt x="24126" y="226076"/>
                  </a:cubicBezTo>
                  <a:lnTo>
                    <a:pt x="238764" y="22844"/>
                  </a:lnTo>
                  <a:cubicBezTo>
                    <a:pt x="254256" y="8175"/>
                    <a:pt x="274780" y="0"/>
                    <a:pt x="296116" y="0"/>
                  </a:cubicBezTo>
                  <a:lnTo>
                    <a:pt x="563674" y="0"/>
                  </a:lnTo>
                  <a:cubicBezTo>
                    <a:pt x="582024" y="0"/>
                    <a:pt x="596900" y="14876"/>
                    <a:pt x="596900" y="33226"/>
                  </a:cubicBezTo>
                  <a:close/>
                </a:path>
              </a:pathLst>
            </a:custGeom>
            <a:solidFill>
              <a:srgbClr val="014AAB"/>
            </a:solidFill>
          </p:spPr>
        </p:sp>
        <p:sp>
          <p:nvSpPr>
            <p:cNvPr name="TextBox 22" id="22"/>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3" id="23"/>
          <p:cNvGrpSpPr/>
          <p:nvPr/>
        </p:nvGrpSpPr>
        <p:grpSpPr>
          <a:xfrm rot="5400000">
            <a:off x="9551409" y="7241939"/>
            <a:ext cx="2594035" cy="2428459"/>
            <a:chOff x="0" y="0"/>
            <a:chExt cx="596900" cy="558800"/>
          </a:xfrm>
        </p:grpSpPr>
        <p:sp>
          <p:nvSpPr>
            <p:cNvPr name="Freeform 24" id="24"/>
            <p:cNvSpPr/>
            <p:nvPr/>
          </p:nvSpPr>
          <p:spPr>
            <a:xfrm flipH="false" flipV="false" rot="0">
              <a:off x="0" y="0"/>
              <a:ext cx="596900" cy="558800"/>
            </a:xfrm>
            <a:custGeom>
              <a:avLst/>
              <a:gdLst/>
              <a:ahLst/>
              <a:cxnLst/>
              <a:rect r="r" b="b" t="t" l="l"/>
              <a:pathLst>
                <a:path h="558800" w="596900">
                  <a:moveTo>
                    <a:pt x="596900" y="35068"/>
                  </a:moveTo>
                  <a:lnTo>
                    <a:pt x="596900" y="269732"/>
                  </a:lnTo>
                  <a:cubicBezTo>
                    <a:pt x="596900" y="292126"/>
                    <a:pt x="587722" y="313541"/>
                    <a:pt x="571506" y="328985"/>
                  </a:cubicBezTo>
                  <a:lnTo>
                    <a:pt x="355594" y="534615"/>
                  </a:lnTo>
                  <a:cubicBezTo>
                    <a:pt x="339293" y="550140"/>
                    <a:pt x="317644" y="558800"/>
                    <a:pt x="295132" y="558800"/>
                  </a:cubicBezTo>
                  <a:lnTo>
                    <a:pt x="35068" y="558800"/>
                  </a:lnTo>
                  <a:cubicBezTo>
                    <a:pt x="25767" y="558800"/>
                    <a:pt x="16848" y="555105"/>
                    <a:pt x="10271" y="548529"/>
                  </a:cubicBezTo>
                  <a:cubicBezTo>
                    <a:pt x="3695" y="541952"/>
                    <a:pt x="0" y="533033"/>
                    <a:pt x="0" y="523732"/>
                  </a:cubicBezTo>
                  <a:lnTo>
                    <a:pt x="0" y="283988"/>
                  </a:lnTo>
                  <a:cubicBezTo>
                    <a:pt x="0" y="261602"/>
                    <a:pt x="9209" y="240201"/>
                    <a:pt x="25464" y="224809"/>
                  </a:cubicBezTo>
                  <a:lnTo>
                    <a:pt x="237426" y="24111"/>
                  </a:lnTo>
                  <a:cubicBezTo>
                    <a:pt x="253777" y="8628"/>
                    <a:pt x="275440" y="0"/>
                    <a:pt x="297958" y="0"/>
                  </a:cubicBezTo>
                  <a:lnTo>
                    <a:pt x="561832" y="0"/>
                  </a:lnTo>
                  <a:cubicBezTo>
                    <a:pt x="571133" y="0"/>
                    <a:pt x="580052" y="3695"/>
                    <a:pt x="586629" y="10271"/>
                  </a:cubicBezTo>
                  <a:cubicBezTo>
                    <a:pt x="593205" y="16848"/>
                    <a:pt x="596900" y="25767"/>
                    <a:pt x="596900" y="35068"/>
                  </a:cubicBezTo>
                  <a:close/>
                </a:path>
              </a:pathLst>
            </a:custGeom>
            <a:solidFill>
              <a:srgbClr val="FE9710"/>
            </a:solidFill>
          </p:spPr>
        </p:sp>
        <p:sp>
          <p:nvSpPr>
            <p:cNvPr name="TextBox 25" id="25"/>
            <p:cNvSpPr txBox="true"/>
            <p:nvPr/>
          </p:nvSpPr>
          <p:spPr>
            <a:xfrm>
              <a:off x="101600" y="76200"/>
              <a:ext cx="393700" cy="350520"/>
            </a:xfrm>
            <a:prstGeom prst="rect">
              <a:avLst/>
            </a:prstGeom>
          </p:spPr>
          <p:txBody>
            <a:bodyPr anchor="ctr" rtlCol="false" tIns="50800" lIns="50800" bIns="50800" rIns="50800"/>
            <a:lstStyle/>
            <a:p>
              <a:pPr algn="ctr" marL="0" indent="0" lvl="0">
                <a:lnSpc>
                  <a:spcPts val="3220"/>
                </a:lnSpc>
              </a:pPr>
            </a:p>
          </p:txBody>
        </p:sp>
      </p:grpSp>
      <p:grpSp>
        <p:nvGrpSpPr>
          <p:cNvPr name="Group 26" id="26"/>
          <p:cNvGrpSpPr/>
          <p:nvPr/>
        </p:nvGrpSpPr>
        <p:grpSpPr>
          <a:xfrm rot="0">
            <a:off x="10523711" y="1294169"/>
            <a:ext cx="6935129" cy="5905596"/>
            <a:chOff x="0" y="0"/>
            <a:chExt cx="1460623" cy="1243791"/>
          </a:xfrm>
        </p:grpSpPr>
        <p:sp>
          <p:nvSpPr>
            <p:cNvPr name="Freeform 27" id="27"/>
            <p:cNvSpPr/>
            <p:nvPr/>
          </p:nvSpPr>
          <p:spPr>
            <a:xfrm flipH="false" flipV="false" rot="0">
              <a:off x="0" y="0"/>
              <a:ext cx="1460627" cy="1243791"/>
            </a:xfrm>
            <a:custGeom>
              <a:avLst/>
              <a:gdLst/>
              <a:ahLst/>
              <a:cxnLst/>
              <a:rect r="r" b="b" t="t" l="l"/>
              <a:pathLst>
                <a:path h="1243791" w="1460627">
                  <a:moveTo>
                    <a:pt x="1046362" y="38122"/>
                  </a:moveTo>
                  <a:cubicBezTo>
                    <a:pt x="1024662" y="13865"/>
                    <a:pt x="993657" y="0"/>
                    <a:pt x="961111" y="0"/>
                  </a:cubicBezTo>
                  <a:lnTo>
                    <a:pt x="114385" y="0"/>
                  </a:lnTo>
                  <a:cubicBezTo>
                    <a:pt x="51213" y="1"/>
                    <a:pt x="1" y="51211"/>
                    <a:pt x="0" y="114384"/>
                  </a:cubicBezTo>
                  <a:lnTo>
                    <a:pt x="0" y="501214"/>
                  </a:lnTo>
                  <a:lnTo>
                    <a:pt x="0" y="795306"/>
                  </a:lnTo>
                  <a:cubicBezTo>
                    <a:pt x="0" y="858478"/>
                    <a:pt x="51211" y="909690"/>
                    <a:pt x="114384" y="909690"/>
                  </a:cubicBezTo>
                  <a:lnTo>
                    <a:pt x="587586" y="909690"/>
                  </a:lnTo>
                  <a:cubicBezTo>
                    <a:pt x="620132" y="909690"/>
                    <a:pt x="651138" y="923554"/>
                    <a:pt x="672837" y="947811"/>
                  </a:cubicBezTo>
                  <a:lnTo>
                    <a:pt x="903501" y="1205669"/>
                  </a:lnTo>
                  <a:cubicBezTo>
                    <a:pt x="925201" y="1229927"/>
                    <a:pt x="956207" y="1243791"/>
                    <a:pt x="988753" y="1243791"/>
                  </a:cubicBezTo>
                  <a:lnTo>
                    <a:pt x="1346239" y="1243791"/>
                  </a:lnTo>
                  <a:cubicBezTo>
                    <a:pt x="1376576" y="1243792"/>
                    <a:pt x="1405670" y="1231742"/>
                    <a:pt x="1427122" y="1210291"/>
                  </a:cubicBezTo>
                  <a:cubicBezTo>
                    <a:pt x="1448574" y="1188841"/>
                    <a:pt x="1460626" y="1159748"/>
                    <a:pt x="1460627" y="1129411"/>
                  </a:cubicBezTo>
                  <a:lnTo>
                    <a:pt x="1460627" y="562247"/>
                  </a:lnTo>
                  <a:cubicBezTo>
                    <a:pt x="1460627" y="522943"/>
                    <a:pt x="1446140" y="485019"/>
                    <a:pt x="1419935" y="455726"/>
                  </a:cubicBezTo>
                  <a:close/>
                </a:path>
              </a:pathLst>
            </a:custGeom>
            <a:blipFill>
              <a:blip r:embed="rId2"/>
              <a:stretch>
                <a:fillRect l="0" t="-276" r="0" b="-276"/>
              </a:stretch>
            </a:blipFill>
            <a:ln w="142875" cap="sq">
              <a:solidFill>
                <a:srgbClr val="FFFFFF"/>
              </a:solidFill>
              <a:prstDash val="solid"/>
              <a:miter/>
            </a:ln>
          </p:spPr>
        </p:sp>
      </p:grpSp>
      <p:grpSp>
        <p:nvGrpSpPr>
          <p:cNvPr name="Group 28" id="28"/>
          <p:cNvGrpSpPr/>
          <p:nvPr/>
        </p:nvGrpSpPr>
        <p:grpSpPr>
          <a:xfrm rot="0">
            <a:off x="9034205" y="5971469"/>
            <a:ext cx="5257565" cy="2731701"/>
            <a:chOff x="0" y="0"/>
            <a:chExt cx="1657619" cy="861258"/>
          </a:xfrm>
        </p:grpSpPr>
        <p:sp>
          <p:nvSpPr>
            <p:cNvPr name="Freeform 29" id="29"/>
            <p:cNvSpPr/>
            <p:nvPr/>
          </p:nvSpPr>
          <p:spPr>
            <a:xfrm flipH="false" flipV="false" rot="0">
              <a:off x="0" y="0"/>
              <a:ext cx="1657622" cy="861258"/>
            </a:xfrm>
            <a:custGeom>
              <a:avLst/>
              <a:gdLst/>
              <a:ahLst/>
              <a:cxnLst/>
              <a:rect r="r" b="b" t="t" l="l"/>
              <a:pathLst>
                <a:path h="861258" w="1657622">
                  <a:moveTo>
                    <a:pt x="1310663" y="0"/>
                  </a:moveTo>
                  <a:lnTo>
                    <a:pt x="148415" y="0"/>
                  </a:lnTo>
                  <a:cubicBezTo>
                    <a:pt x="66448" y="0"/>
                    <a:pt x="0" y="66448"/>
                    <a:pt x="0" y="148415"/>
                  </a:cubicBezTo>
                  <a:lnTo>
                    <a:pt x="0" y="581866"/>
                  </a:lnTo>
                  <a:cubicBezTo>
                    <a:pt x="0" y="618376"/>
                    <a:pt x="13458" y="653606"/>
                    <a:pt x="37800" y="680818"/>
                  </a:cubicBezTo>
                  <a:lnTo>
                    <a:pt x="154967" y="811794"/>
                  </a:lnTo>
                  <a:cubicBezTo>
                    <a:pt x="183122" y="843269"/>
                    <a:pt x="223353" y="861259"/>
                    <a:pt x="265584" y="861258"/>
                  </a:cubicBezTo>
                  <a:lnTo>
                    <a:pt x="1509206" y="861258"/>
                  </a:lnTo>
                  <a:cubicBezTo>
                    <a:pt x="1548568" y="861258"/>
                    <a:pt x="1586318" y="845622"/>
                    <a:pt x="1614152" y="817789"/>
                  </a:cubicBezTo>
                  <a:cubicBezTo>
                    <a:pt x="1641985" y="789956"/>
                    <a:pt x="1657622" y="752206"/>
                    <a:pt x="1657622" y="712843"/>
                  </a:cubicBezTo>
                  <a:lnTo>
                    <a:pt x="1657622" y="366141"/>
                  </a:lnTo>
                  <a:cubicBezTo>
                    <a:pt x="1657622" y="329143"/>
                    <a:pt x="1643803" y="293478"/>
                    <a:pt x="1618873" y="266140"/>
                  </a:cubicBezTo>
                  <a:lnTo>
                    <a:pt x="1420330" y="48414"/>
                  </a:lnTo>
                  <a:cubicBezTo>
                    <a:pt x="1392207" y="17574"/>
                    <a:pt x="1352400" y="0"/>
                    <a:pt x="1310663" y="0"/>
                  </a:cubicBezTo>
                  <a:close/>
                </a:path>
              </a:pathLst>
            </a:custGeom>
            <a:blipFill>
              <a:blip r:embed="rId3"/>
              <a:stretch>
                <a:fillRect l="0" t="-762" r="0" b="-762"/>
              </a:stretch>
            </a:blipFill>
            <a:ln w="142875" cap="sq">
              <a:solidFill>
                <a:srgbClr val="FE9710"/>
              </a:solidFill>
              <a:prstDash val="solid"/>
              <a:miter/>
            </a:ln>
          </p:spPr>
        </p:sp>
      </p:grpSp>
      <p:grpSp>
        <p:nvGrpSpPr>
          <p:cNvPr name="Group 30" id="30"/>
          <p:cNvGrpSpPr/>
          <p:nvPr/>
        </p:nvGrpSpPr>
        <p:grpSpPr>
          <a:xfrm rot="-10800000">
            <a:off x="1274759" y="6265139"/>
            <a:ext cx="5856018" cy="1078309"/>
            <a:chOff x="0" y="0"/>
            <a:chExt cx="1352556" cy="249055"/>
          </a:xfrm>
        </p:grpSpPr>
        <p:sp>
          <p:nvSpPr>
            <p:cNvPr name="Freeform 31" id="31"/>
            <p:cNvSpPr/>
            <p:nvPr/>
          </p:nvSpPr>
          <p:spPr>
            <a:xfrm flipH="false" flipV="false" rot="0">
              <a:off x="0" y="0"/>
              <a:ext cx="1352556" cy="249055"/>
            </a:xfrm>
            <a:custGeom>
              <a:avLst/>
              <a:gdLst/>
              <a:ahLst/>
              <a:cxnLst/>
              <a:rect r="r" b="b" t="t" l="l"/>
              <a:pathLst>
                <a:path h="249055" w="1352556">
                  <a:moveTo>
                    <a:pt x="124528" y="0"/>
                  </a:moveTo>
                  <a:lnTo>
                    <a:pt x="1228028" y="0"/>
                  </a:lnTo>
                  <a:cubicBezTo>
                    <a:pt x="1296803" y="0"/>
                    <a:pt x="1352556" y="55753"/>
                    <a:pt x="1352556" y="124528"/>
                  </a:cubicBezTo>
                  <a:lnTo>
                    <a:pt x="1352556" y="124528"/>
                  </a:lnTo>
                  <a:cubicBezTo>
                    <a:pt x="1352556" y="157555"/>
                    <a:pt x="1339436" y="189229"/>
                    <a:pt x="1316082" y="212582"/>
                  </a:cubicBezTo>
                  <a:cubicBezTo>
                    <a:pt x="1292729" y="235936"/>
                    <a:pt x="1261055" y="249055"/>
                    <a:pt x="1228028" y="249055"/>
                  </a:cubicBezTo>
                  <a:lnTo>
                    <a:pt x="124528" y="249055"/>
                  </a:lnTo>
                  <a:cubicBezTo>
                    <a:pt x="91501" y="249055"/>
                    <a:pt x="59827" y="235936"/>
                    <a:pt x="36473" y="212582"/>
                  </a:cubicBezTo>
                  <a:cubicBezTo>
                    <a:pt x="13120" y="189229"/>
                    <a:pt x="0" y="157555"/>
                    <a:pt x="0" y="124528"/>
                  </a:cubicBezTo>
                  <a:lnTo>
                    <a:pt x="0" y="124528"/>
                  </a:lnTo>
                  <a:cubicBezTo>
                    <a:pt x="0" y="91501"/>
                    <a:pt x="13120" y="59827"/>
                    <a:pt x="36473" y="36473"/>
                  </a:cubicBezTo>
                  <a:cubicBezTo>
                    <a:pt x="59827" y="13120"/>
                    <a:pt x="91501" y="0"/>
                    <a:pt x="124528" y="0"/>
                  </a:cubicBezTo>
                  <a:close/>
                </a:path>
              </a:pathLst>
            </a:custGeom>
            <a:solidFill>
              <a:srgbClr val="014AAB"/>
            </a:solidFill>
          </p:spPr>
        </p:sp>
        <p:sp>
          <p:nvSpPr>
            <p:cNvPr name="TextBox 32" id="32"/>
            <p:cNvSpPr txBox="true"/>
            <p:nvPr/>
          </p:nvSpPr>
          <p:spPr>
            <a:xfrm>
              <a:off x="0" y="-47625"/>
              <a:ext cx="1352556" cy="296680"/>
            </a:xfrm>
            <a:prstGeom prst="rect">
              <a:avLst/>
            </a:prstGeom>
          </p:spPr>
          <p:txBody>
            <a:bodyPr anchor="ctr" rtlCol="false" tIns="50800" lIns="50800" bIns="50800" rIns="50800"/>
            <a:lstStyle/>
            <a:p>
              <a:pPr algn="ctr" marL="0" indent="0" lvl="0">
                <a:lnSpc>
                  <a:spcPts val="2800"/>
                </a:lnSpc>
              </a:pPr>
            </a:p>
          </p:txBody>
        </p:sp>
      </p:grpSp>
      <p:sp>
        <p:nvSpPr>
          <p:cNvPr name="Freeform 33" id="33"/>
          <p:cNvSpPr/>
          <p:nvPr/>
        </p:nvSpPr>
        <p:spPr>
          <a:xfrm flipH="false" flipV="true" rot="0">
            <a:off x="16114192" y="8000901"/>
            <a:ext cx="1771612" cy="1752285"/>
          </a:xfrm>
          <a:custGeom>
            <a:avLst/>
            <a:gdLst/>
            <a:ahLst/>
            <a:cxnLst/>
            <a:rect r="r" b="b" t="t" l="l"/>
            <a:pathLst>
              <a:path h="1752285" w="1771612">
                <a:moveTo>
                  <a:pt x="0" y="1752285"/>
                </a:moveTo>
                <a:lnTo>
                  <a:pt x="1771611" y="1752285"/>
                </a:lnTo>
                <a:lnTo>
                  <a:pt x="1771611" y="0"/>
                </a:lnTo>
                <a:lnTo>
                  <a:pt x="0" y="0"/>
                </a:lnTo>
                <a:lnTo>
                  <a:pt x="0" y="17522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true" flipV="false" rot="0">
            <a:off x="9634197" y="543858"/>
            <a:ext cx="1113115" cy="1100972"/>
          </a:xfrm>
          <a:custGeom>
            <a:avLst/>
            <a:gdLst/>
            <a:ahLst/>
            <a:cxnLst/>
            <a:rect r="r" b="b" t="t" l="l"/>
            <a:pathLst>
              <a:path h="1100972" w="1113115">
                <a:moveTo>
                  <a:pt x="1113115" y="0"/>
                </a:moveTo>
                <a:lnTo>
                  <a:pt x="0" y="0"/>
                </a:lnTo>
                <a:lnTo>
                  <a:pt x="0" y="1100972"/>
                </a:lnTo>
                <a:lnTo>
                  <a:pt x="1113115" y="1100972"/>
                </a:lnTo>
                <a:lnTo>
                  <a:pt x="11131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679654" y="9654723"/>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14626760" y="693817"/>
            <a:ext cx="1190212" cy="196926"/>
          </a:xfrm>
          <a:custGeom>
            <a:avLst/>
            <a:gdLst/>
            <a:ahLst/>
            <a:cxnLst/>
            <a:rect r="r" b="b" t="t" l="l"/>
            <a:pathLst>
              <a:path h="196926" w="1190212">
                <a:moveTo>
                  <a:pt x="0" y="0"/>
                </a:moveTo>
                <a:lnTo>
                  <a:pt x="1190212" y="0"/>
                </a:lnTo>
                <a:lnTo>
                  <a:pt x="1190212" y="196926"/>
                </a:lnTo>
                <a:lnTo>
                  <a:pt x="0" y="1969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7" id="37"/>
          <p:cNvSpPr/>
          <p:nvPr/>
        </p:nvSpPr>
        <p:spPr>
          <a:xfrm flipH="false" flipV="false" rot="0">
            <a:off x="13696665" y="9159837"/>
            <a:ext cx="1190212" cy="196926"/>
          </a:xfrm>
          <a:custGeom>
            <a:avLst/>
            <a:gdLst/>
            <a:ahLst/>
            <a:cxnLst/>
            <a:rect r="r" b="b" t="t" l="l"/>
            <a:pathLst>
              <a:path h="196926" w="1190212">
                <a:moveTo>
                  <a:pt x="0" y="0"/>
                </a:moveTo>
                <a:lnTo>
                  <a:pt x="1190211" y="0"/>
                </a:lnTo>
                <a:lnTo>
                  <a:pt x="1190211" y="196926"/>
                </a:lnTo>
                <a:lnTo>
                  <a:pt x="0" y="1969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8" id="38"/>
          <p:cNvSpPr txBox="true"/>
          <p:nvPr/>
        </p:nvSpPr>
        <p:spPr>
          <a:xfrm rot="0">
            <a:off x="1274759" y="4352660"/>
            <a:ext cx="6530721" cy="1904619"/>
          </a:xfrm>
          <a:prstGeom prst="rect">
            <a:avLst/>
          </a:prstGeom>
        </p:spPr>
        <p:txBody>
          <a:bodyPr anchor="t" rtlCol="false" tIns="0" lIns="0" bIns="0" rIns="0">
            <a:spAutoFit/>
          </a:bodyPr>
          <a:lstStyle/>
          <a:p>
            <a:pPr algn="l" marL="0" indent="0" lvl="0">
              <a:lnSpc>
                <a:spcPts val="14992"/>
              </a:lnSpc>
            </a:pPr>
            <a:r>
              <a:rPr lang="en-US" b="true" sz="12493" spc="187">
                <a:solidFill>
                  <a:srgbClr val="011A3C"/>
                </a:solidFill>
                <a:latin typeface="Gotham Bold"/>
                <a:ea typeface="Gotham Bold"/>
                <a:cs typeface="Gotham Bold"/>
                <a:sym typeface="Gotham Bold"/>
              </a:rPr>
              <a:t>YOU!</a:t>
            </a:r>
          </a:p>
        </p:txBody>
      </p:sp>
      <p:sp>
        <p:nvSpPr>
          <p:cNvPr name="TextBox 39" id="39"/>
          <p:cNvSpPr txBox="true"/>
          <p:nvPr/>
        </p:nvSpPr>
        <p:spPr>
          <a:xfrm rot="0">
            <a:off x="1274759" y="2934067"/>
            <a:ext cx="6530721" cy="1904619"/>
          </a:xfrm>
          <a:prstGeom prst="rect">
            <a:avLst/>
          </a:prstGeom>
        </p:spPr>
        <p:txBody>
          <a:bodyPr anchor="t" rtlCol="false" tIns="0" lIns="0" bIns="0" rIns="0">
            <a:spAutoFit/>
          </a:bodyPr>
          <a:lstStyle/>
          <a:p>
            <a:pPr algn="l" marL="0" indent="0" lvl="0">
              <a:lnSpc>
                <a:spcPts val="14992"/>
              </a:lnSpc>
            </a:pPr>
            <a:r>
              <a:rPr lang="en-US" b="true" sz="12493" spc="187">
                <a:solidFill>
                  <a:srgbClr val="011A3C"/>
                </a:solidFill>
                <a:latin typeface="Gotham Bold"/>
                <a:ea typeface="Gotham Bold"/>
                <a:cs typeface="Gotham Bold"/>
                <a:sym typeface="Gotham Bold"/>
              </a:rPr>
              <a:t>THANK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DAHSkAG0_Nk</dc:identifier>
  <dcterms:modified xsi:type="dcterms:W3CDTF">2011-08-01T06:04:30Z</dcterms:modified>
  <cp:revision>1</cp:revision>
  <dc:title>Semantic Keyword Extraction Framework</dc:title>
</cp:coreProperties>
</file>